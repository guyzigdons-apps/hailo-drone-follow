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2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33.xml.rels" ContentType="application/vnd.openxmlformats-package.relationships+xml"/>
  <Override PartName="/ppt/slides/_rels/slide5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1" name=""/>
          <p:cNvSpPr txBox="1"/>
          <p:nvPr/>
        </p:nvSpPr>
        <p:spPr>
          <a:xfrm>
            <a:off x="747720" y="2152800"/>
            <a:ext cx="5898600" cy="49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80" spc="-1" strike="noStrike">
                <a:solidFill>
                  <a:srgbClr val="224466"/>
                </a:solidFill>
                <a:latin typeface="Arial"/>
              </a:rPr>
              <a:t>drone-follow → robot-follow</a:t>
            </a:r>
            <a:endParaRPr b="0" lang="en-US" sz="3480" spc="-1" strike="noStrike"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47720" y="3056400"/>
            <a:ext cx="31798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v1.1 design review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47720" y="3798000"/>
            <a:ext cx="6967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From a drone-only app to a robot-generic follow platform.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457280" y="4485960"/>
            <a:ext cx="2362320" cy="267120"/>
          </a:xfrm>
          <a:custGeom>
            <a:avLst/>
            <a:gdLst/>
            <a:ahLst/>
            <a:rect l="0" t="0" r="r" b="b"/>
            <a:pathLst>
              <a:path w="6562" h="742">
                <a:moveTo>
                  <a:pt x="0" y="58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6404" y="0"/>
                </a:lnTo>
                <a:cubicBezTo>
                  <a:pt x="6414" y="0"/>
                  <a:pt x="6424" y="1"/>
                  <a:pt x="6435" y="3"/>
                </a:cubicBezTo>
                <a:cubicBezTo>
                  <a:pt x="6445" y="5"/>
                  <a:pt x="6455" y="8"/>
                  <a:pt x="6464" y="12"/>
                </a:cubicBezTo>
                <a:cubicBezTo>
                  <a:pt x="6474" y="16"/>
                  <a:pt x="6483" y="21"/>
                  <a:pt x="6492" y="27"/>
                </a:cubicBezTo>
                <a:cubicBezTo>
                  <a:pt x="6500" y="33"/>
                  <a:pt x="6508" y="39"/>
                  <a:pt x="6516" y="47"/>
                </a:cubicBezTo>
                <a:cubicBezTo>
                  <a:pt x="6523" y="54"/>
                  <a:pt x="6530" y="62"/>
                  <a:pt x="6536" y="71"/>
                </a:cubicBezTo>
                <a:cubicBezTo>
                  <a:pt x="6541" y="80"/>
                  <a:pt x="6546" y="89"/>
                  <a:pt x="6550" y="98"/>
                </a:cubicBezTo>
                <a:cubicBezTo>
                  <a:pt x="6554" y="108"/>
                  <a:pt x="6557" y="118"/>
                  <a:pt x="6559" y="128"/>
                </a:cubicBezTo>
                <a:cubicBezTo>
                  <a:pt x="6561" y="138"/>
                  <a:pt x="6562" y="149"/>
                  <a:pt x="6562" y="159"/>
                </a:cubicBezTo>
                <a:lnTo>
                  <a:pt x="6562" y="583"/>
                </a:lnTo>
                <a:cubicBezTo>
                  <a:pt x="6562" y="594"/>
                  <a:pt x="6561" y="604"/>
                  <a:pt x="6559" y="614"/>
                </a:cubicBezTo>
                <a:cubicBezTo>
                  <a:pt x="6557" y="625"/>
                  <a:pt x="6554" y="635"/>
                  <a:pt x="6550" y="644"/>
                </a:cubicBezTo>
                <a:cubicBezTo>
                  <a:pt x="6546" y="654"/>
                  <a:pt x="6541" y="663"/>
                  <a:pt x="6536" y="672"/>
                </a:cubicBezTo>
                <a:cubicBezTo>
                  <a:pt x="6530" y="680"/>
                  <a:pt x="6523" y="688"/>
                  <a:pt x="6516" y="696"/>
                </a:cubicBezTo>
                <a:cubicBezTo>
                  <a:pt x="6508" y="703"/>
                  <a:pt x="6500" y="710"/>
                  <a:pt x="6492" y="715"/>
                </a:cubicBezTo>
                <a:cubicBezTo>
                  <a:pt x="6483" y="721"/>
                  <a:pt x="6474" y="726"/>
                  <a:pt x="6464" y="730"/>
                </a:cubicBezTo>
                <a:cubicBezTo>
                  <a:pt x="6455" y="734"/>
                  <a:pt x="6445" y="737"/>
                  <a:pt x="6435" y="739"/>
                </a:cubicBezTo>
                <a:cubicBezTo>
                  <a:pt x="6424" y="741"/>
                  <a:pt x="6414" y="742"/>
                  <a:pt x="6404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7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5"/>
                </a:cubicBezTo>
                <a:cubicBezTo>
                  <a:pt x="62" y="710"/>
                  <a:pt x="53" y="703"/>
                  <a:pt x="46" y="696"/>
                </a:cubicBezTo>
                <a:cubicBezTo>
                  <a:pt x="39" y="688"/>
                  <a:pt x="32" y="680"/>
                  <a:pt x="26" y="672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5"/>
                  <a:pt x="5" y="625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45" name=""/>
          <p:cNvSpPr txBox="1"/>
          <p:nvPr/>
        </p:nvSpPr>
        <p:spPr>
          <a:xfrm>
            <a:off x="747720" y="4479840"/>
            <a:ext cx="71712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9" spc="-1" strike="noStrike">
                <a:solidFill>
                  <a:srgbClr val="1f2328"/>
                </a:solidFill>
                <a:latin typeface="Arial"/>
              </a:rPr>
              <a:t>Branch </a:t>
            </a:r>
            <a:endParaRPr b="0" lang="en-US" sz="1629" spc="-1" strike="noStrike"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532160" y="4517640"/>
            <a:ext cx="2241000" cy="20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90" spc="-1" strike="noStrike">
                <a:solidFill>
                  <a:srgbClr val="1f2328"/>
                </a:solidFill>
                <a:latin typeface="Courier New"/>
              </a:rPr>
              <a:t>feature/rover-support</a:t>
            </a:r>
            <a:endParaRPr b="0" lang="en-US" sz="1390" spc="-1" strike="noStrike"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819600" y="4479840"/>
            <a:ext cx="1253520" cy="23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9" spc="-1" strike="noStrike">
                <a:solidFill>
                  <a:srgbClr val="1f2328"/>
                </a:solidFill>
                <a:latin typeface="Arial"/>
              </a:rPr>
              <a:t> • </a:t>
            </a:r>
            <a:r>
              <a:rPr b="0" lang="en-US" sz="1629" spc="-1" strike="noStrike">
                <a:solidFill>
                  <a:srgbClr val="1f2328"/>
                </a:solidFill>
                <a:latin typeface="Arial"/>
              </a:rPr>
              <a:t>2026-05-13</a:t>
            </a:r>
            <a:endParaRPr b="0" lang="en-US" sz="1629" spc="-1" strike="noStrike"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2" name=""/>
          <p:cNvSpPr/>
          <p:nvPr/>
        </p:nvSpPr>
        <p:spPr>
          <a:xfrm>
            <a:off x="757080" y="1652400"/>
            <a:ext cx="10687320" cy="3696120"/>
          </a:xfrm>
          <a:custGeom>
            <a:avLst/>
            <a:gdLst/>
            <a:ahLst/>
            <a:rect l="0" t="0" r="r" b="b"/>
            <a:pathLst>
              <a:path w="29687" h="10267">
                <a:moveTo>
                  <a:pt x="0" y="1012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0121"/>
                </a:lnTo>
                <a:cubicBezTo>
                  <a:pt x="29687" y="10131"/>
                  <a:pt x="29686" y="10140"/>
                  <a:pt x="29684" y="10150"/>
                </a:cubicBezTo>
                <a:cubicBezTo>
                  <a:pt x="29683" y="10159"/>
                  <a:pt x="29680" y="10168"/>
                  <a:pt x="29676" y="10177"/>
                </a:cubicBezTo>
                <a:cubicBezTo>
                  <a:pt x="29672" y="10186"/>
                  <a:pt x="29668" y="10194"/>
                  <a:pt x="29663" y="10202"/>
                </a:cubicBezTo>
                <a:cubicBezTo>
                  <a:pt x="29657" y="10210"/>
                  <a:pt x="29651" y="10217"/>
                  <a:pt x="29645" y="10224"/>
                </a:cubicBezTo>
                <a:cubicBezTo>
                  <a:pt x="29638" y="10231"/>
                  <a:pt x="29630" y="10237"/>
                  <a:pt x="29623" y="10242"/>
                </a:cubicBezTo>
                <a:cubicBezTo>
                  <a:pt x="29615" y="10248"/>
                  <a:pt x="29606" y="10252"/>
                  <a:pt x="29597" y="10256"/>
                </a:cubicBezTo>
                <a:cubicBezTo>
                  <a:pt x="29589" y="10259"/>
                  <a:pt x="29579" y="10262"/>
                  <a:pt x="29570" y="10264"/>
                </a:cubicBezTo>
                <a:cubicBezTo>
                  <a:pt x="29561" y="10266"/>
                  <a:pt x="29551" y="10267"/>
                  <a:pt x="29542" y="10267"/>
                </a:cubicBezTo>
                <a:lnTo>
                  <a:pt x="145" y="10267"/>
                </a:lnTo>
                <a:cubicBezTo>
                  <a:pt x="136" y="10267"/>
                  <a:pt x="126" y="10266"/>
                  <a:pt x="117" y="10264"/>
                </a:cubicBezTo>
                <a:cubicBezTo>
                  <a:pt x="108" y="10262"/>
                  <a:pt x="99" y="10259"/>
                  <a:pt x="90" y="10256"/>
                </a:cubicBezTo>
                <a:cubicBezTo>
                  <a:pt x="81" y="10252"/>
                  <a:pt x="73" y="10248"/>
                  <a:pt x="65" y="10242"/>
                </a:cubicBezTo>
                <a:cubicBezTo>
                  <a:pt x="57" y="10237"/>
                  <a:pt x="49" y="10231"/>
                  <a:pt x="43" y="10224"/>
                </a:cubicBezTo>
                <a:cubicBezTo>
                  <a:pt x="36" y="10217"/>
                  <a:pt x="30" y="10210"/>
                  <a:pt x="24" y="10202"/>
                </a:cubicBezTo>
                <a:cubicBezTo>
                  <a:pt x="19" y="10194"/>
                  <a:pt x="15" y="10186"/>
                  <a:pt x="11" y="10177"/>
                </a:cubicBezTo>
                <a:cubicBezTo>
                  <a:pt x="7" y="10168"/>
                  <a:pt x="5" y="10159"/>
                  <a:pt x="3" y="10150"/>
                </a:cubicBezTo>
                <a:cubicBezTo>
                  <a:pt x="1" y="10140"/>
                  <a:pt x="0" y="10131"/>
                  <a:pt x="0" y="1012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53" name=""/>
          <p:cNvSpPr/>
          <p:nvPr/>
        </p:nvSpPr>
        <p:spPr>
          <a:xfrm>
            <a:off x="757080" y="1652400"/>
            <a:ext cx="10687320" cy="3696120"/>
          </a:xfrm>
          <a:custGeom>
            <a:avLst/>
            <a:gdLst/>
            <a:ahLst/>
            <a:rect l="0" t="0" r="r" b="b"/>
            <a:pathLst>
              <a:path w="29687" h="10267">
                <a:moveTo>
                  <a:pt x="0" y="1012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0121"/>
                </a:lnTo>
                <a:cubicBezTo>
                  <a:pt x="29687" y="10131"/>
                  <a:pt x="29686" y="10140"/>
                  <a:pt x="29684" y="10150"/>
                </a:cubicBezTo>
                <a:cubicBezTo>
                  <a:pt x="29683" y="10159"/>
                  <a:pt x="29680" y="10168"/>
                  <a:pt x="29676" y="10177"/>
                </a:cubicBezTo>
                <a:cubicBezTo>
                  <a:pt x="29672" y="10186"/>
                  <a:pt x="29668" y="10194"/>
                  <a:pt x="29663" y="10202"/>
                </a:cubicBezTo>
                <a:cubicBezTo>
                  <a:pt x="29657" y="10210"/>
                  <a:pt x="29651" y="10217"/>
                  <a:pt x="29645" y="10224"/>
                </a:cubicBezTo>
                <a:cubicBezTo>
                  <a:pt x="29638" y="10231"/>
                  <a:pt x="29630" y="10237"/>
                  <a:pt x="29623" y="10242"/>
                </a:cubicBezTo>
                <a:cubicBezTo>
                  <a:pt x="29615" y="10248"/>
                  <a:pt x="29606" y="10252"/>
                  <a:pt x="29597" y="10256"/>
                </a:cubicBezTo>
                <a:cubicBezTo>
                  <a:pt x="29589" y="10259"/>
                  <a:pt x="29579" y="10262"/>
                  <a:pt x="29570" y="10264"/>
                </a:cubicBezTo>
                <a:cubicBezTo>
                  <a:pt x="29561" y="10266"/>
                  <a:pt x="29551" y="10267"/>
                  <a:pt x="29542" y="10267"/>
                </a:cubicBezTo>
                <a:lnTo>
                  <a:pt x="145" y="10267"/>
                </a:lnTo>
                <a:cubicBezTo>
                  <a:pt x="136" y="10267"/>
                  <a:pt x="126" y="10266"/>
                  <a:pt x="117" y="10264"/>
                </a:cubicBezTo>
                <a:cubicBezTo>
                  <a:pt x="108" y="10262"/>
                  <a:pt x="99" y="10259"/>
                  <a:pt x="90" y="10256"/>
                </a:cubicBezTo>
                <a:cubicBezTo>
                  <a:pt x="81" y="10252"/>
                  <a:pt x="73" y="10248"/>
                  <a:pt x="65" y="10242"/>
                </a:cubicBezTo>
                <a:cubicBezTo>
                  <a:pt x="57" y="10237"/>
                  <a:pt x="49" y="10231"/>
                  <a:pt x="43" y="10224"/>
                </a:cubicBezTo>
                <a:cubicBezTo>
                  <a:pt x="36" y="10217"/>
                  <a:pt x="30" y="10210"/>
                  <a:pt x="24" y="10202"/>
                </a:cubicBezTo>
                <a:cubicBezTo>
                  <a:pt x="19" y="10194"/>
                  <a:pt x="15" y="10186"/>
                  <a:pt x="11" y="10177"/>
                </a:cubicBezTo>
                <a:cubicBezTo>
                  <a:pt x="7" y="10168"/>
                  <a:pt x="5" y="10159"/>
                  <a:pt x="3" y="10150"/>
                </a:cubicBezTo>
                <a:cubicBezTo>
                  <a:pt x="1" y="10140"/>
                  <a:pt x="0" y="10131"/>
                  <a:pt x="0" y="1012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54" name=""/>
          <p:cNvSpPr txBox="1"/>
          <p:nvPr/>
        </p:nvSpPr>
        <p:spPr>
          <a:xfrm>
            <a:off x="747720" y="960840"/>
            <a:ext cx="40194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The talk in one diagram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14400" y="1812960"/>
            <a:ext cx="634068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TODAY                                    v1.1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914400" y="2189880"/>
            <a:ext cx="829152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Camera ─► Hailo ─► Track ─► ReID ─┐         Camera ─► Hailo ─► Track ─► ReID ─┐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14400" y="2375280"/>
            <a:ext cx="838872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▼                              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14400" y="2560320"/>
            <a:ext cx="926676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follow_api/controller                       follow_api/controller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914400" y="2752200"/>
            <a:ext cx="838872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│                              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14400" y="2937240"/>
            <a:ext cx="838872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▼                              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914400" y="3122640"/>
            <a:ext cx="868140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VelocityCommand                                RobotCommand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914400" y="3314520"/>
            <a:ext cx="838872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│                              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914400" y="3499560"/>
            <a:ext cx="838872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▼                              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14400" y="3684960"/>
            <a:ext cx="955908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MAVSDK ─► PX4 ─► drone                    ┌──── Robot protocol ────┐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14400" y="3876840"/>
            <a:ext cx="955908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          │          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14400" y="4061880"/>
            <a:ext cx="955908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          ▼          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14400" y="4247280"/>
            <a:ext cx="994932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MavsdkDroneAdapter      Ros2RoverAdapter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914400" y="4439160"/>
            <a:ext cx="955908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          │          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914400" y="4624200"/>
            <a:ext cx="955908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          ▼          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914400" y="4816080"/>
            <a:ext cx="1033956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PX4 ─► drone           rclpy ─► /cmd_vel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914400" y="5001480"/>
            <a:ext cx="10242000" cy="1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                            ─►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Gazebo rover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47720" y="5550840"/>
            <a:ext cx="103762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Pipeline / controller / ReID / web UI: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unchanged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. Only the actuator boundary moves.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7" name=""/>
          <p:cNvSpPr/>
          <p:nvPr/>
        </p:nvSpPr>
        <p:spPr>
          <a:xfrm>
            <a:off x="1076040" y="2543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5" y="192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78" name=""/>
          <p:cNvSpPr txBox="1"/>
          <p:nvPr/>
        </p:nvSpPr>
        <p:spPr>
          <a:xfrm>
            <a:off x="747720" y="1675440"/>
            <a:ext cx="558144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Hardware (what runs in the field)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076040" y="3019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80" name=""/>
          <p:cNvSpPr txBox="1"/>
          <p:nvPr/>
        </p:nvSpPr>
        <p:spPr>
          <a:xfrm>
            <a:off x="1300320" y="2417040"/>
            <a:ext cx="5960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Compute: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Raspberry Pi 5 (8 GB) + Hailo-8L M.2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076040" y="3504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82" name=""/>
          <p:cNvSpPr txBox="1"/>
          <p:nvPr/>
        </p:nvSpPr>
        <p:spPr>
          <a:xfrm>
            <a:off x="1300320" y="2893320"/>
            <a:ext cx="6706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Camera: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IMX219 / IMX708 CSI, or USB webcam (dev)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1076040" y="3990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4"/>
                </a:cubicBezTo>
                <a:cubicBezTo>
                  <a:pt x="215" y="46"/>
                  <a:pt x="223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84" name=""/>
          <p:cNvSpPr txBox="1"/>
          <p:nvPr/>
        </p:nvSpPr>
        <p:spPr>
          <a:xfrm>
            <a:off x="1300320" y="3378960"/>
            <a:ext cx="78706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Flight controller: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Cube Orange+ via USB serial @ 57 600 baud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7076880" y="386712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29" y="0"/>
                </a:lnTo>
                <a:cubicBezTo>
                  <a:pt x="2340" y="0"/>
                  <a:pt x="2350" y="1"/>
                  <a:pt x="2360" y="3"/>
                </a:cubicBezTo>
                <a:cubicBezTo>
                  <a:pt x="2371" y="5"/>
                  <a:pt x="2380" y="8"/>
                  <a:pt x="2390" y="12"/>
                </a:cubicBezTo>
                <a:cubicBezTo>
                  <a:pt x="2400" y="16"/>
                  <a:pt x="2409" y="21"/>
                  <a:pt x="2418" y="26"/>
                </a:cubicBezTo>
                <a:cubicBezTo>
                  <a:pt x="2426" y="32"/>
                  <a:pt x="2434" y="39"/>
                  <a:pt x="2442" y="46"/>
                </a:cubicBezTo>
                <a:cubicBezTo>
                  <a:pt x="2449" y="53"/>
                  <a:pt x="2456" y="61"/>
                  <a:pt x="2461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7"/>
                  <a:pt x="2483" y="117"/>
                  <a:pt x="2485" y="127"/>
                </a:cubicBezTo>
                <a:cubicBezTo>
                  <a:pt x="2487" y="138"/>
                  <a:pt x="2488" y="148"/>
                  <a:pt x="2488" y="158"/>
                </a:cubicBezTo>
                <a:lnTo>
                  <a:pt x="2488" y="847"/>
                </a:lnTo>
                <a:cubicBezTo>
                  <a:pt x="2488" y="858"/>
                  <a:pt x="2487" y="868"/>
                  <a:pt x="2485" y="878"/>
                </a:cubicBezTo>
                <a:cubicBezTo>
                  <a:pt x="2483" y="888"/>
                  <a:pt x="2480" y="898"/>
                  <a:pt x="2476" y="908"/>
                </a:cubicBezTo>
                <a:cubicBezTo>
                  <a:pt x="2472" y="918"/>
                  <a:pt x="2467" y="927"/>
                  <a:pt x="2461" y="935"/>
                </a:cubicBezTo>
                <a:cubicBezTo>
                  <a:pt x="2456" y="944"/>
                  <a:pt x="2449" y="952"/>
                  <a:pt x="2442" y="960"/>
                </a:cubicBezTo>
                <a:cubicBezTo>
                  <a:pt x="2434" y="967"/>
                  <a:pt x="2426" y="973"/>
                  <a:pt x="2418" y="979"/>
                </a:cubicBezTo>
                <a:cubicBezTo>
                  <a:pt x="2409" y="985"/>
                  <a:pt x="2400" y="990"/>
                  <a:pt x="2390" y="994"/>
                </a:cubicBezTo>
                <a:cubicBezTo>
                  <a:pt x="2380" y="998"/>
                  <a:pt x="2371" y="1001"/>
                  <a:pt x="2360" y="1003"/>
                </a:cubicBezTo>
                <a:cubicBezTo>
                  <a:pt x="2350" y="1005"/>
                  <a:pt x="2340" y="1006"/>
                  <a:pt x="232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6" name=""/>
          <p:cNvSpPr txBox="1"/>
          <p:nvPr/>
        </p:nvSpPr>
        <p:spPr>
          <a:xfrm>
            <a:off x="1300320" y="3864960"/>
            <a:ext cx="5785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Radio: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OpenHD WFB over TP-Link USB WiFi (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175160" y="3918600"/>
            <a:ext cx="701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wlan1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076040" y="4476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89" name=""/>
          <p:cNvSpPr txBox="1"/>
          <p:nvPr/>
        </p:nvSpPr>
        <p:spPr>
          <a:xfrm>
            <a:off x="7973280" y="386496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076040" y="4952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91" name=""/>
          <p:cNvSpPr txBox="1"/>
          <p:nvPr/>
        </p:nvSpPr>
        <p:spPr>
          <a:xfrm>
            <a:off x="1300320" y="4350600"/>
            <a:ext cx="5151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Ground: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2nd RPi5 + QOpenHD, or phone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3590640" y="482904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848"/>
                </a:moveTo>
                <a:lnTo>
                  <a:pt x="0" y="160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03" y="0"/>
                </a:lnTo>
                <a:cubicBezTo>
                  <a:pt x="2314" y="0"/>
                  <a:pt x="2324" y="1"/>
                  <a:pt x="2334" y="3"/>
                </a:cubicBezTo>
                <a:cubicBezTo>
                  <a:pt x="2344" y="5"/>
                  <a:pt x="2354" y="8"/>
                  <a:pt x="2364" y="12"/>
                </a:cubicBezTo>
                <a:cubicBezTo>
                  <a:pt x="2374" y="16"/>
                  <a:pt x="2383" y="21"/>
                  <a:pt x="2391" y="27"/>
                </a:cubicBezTo>
                <a:cubicBezTo>
                  <a:pt x="2400" y="32"/>
                  <a:pt x="2408" y="39"/>
                  <a:pt x="2415" y="46"/>
                </a:cubicBezTo>
                <a:cubicBezTo>
                  <a:pt x="2423" y="54"/>
                  <a:pt x="2429" y="62"/>
                  <a:pt x="2435" y="70"/>
                </a:cubicBezTo>
                <a:cubicBezTo>
                  <a:pt x="2441" y="79"/>
                  <a:pt x="2446" y="88"/>
                  <a:pt x="2450" y="98"/>
                </a:cubicBezTo>
                <a:cubicBezTo>
                  <a:pt x="2454" y="108"/>
                  <a:pt x="2457" y="117"/>
                  <a:pt x="2459" y="128"/>
                </a:cubicBezTo>
                <a:cubicBezTo>
                  <a:pt x="2461" y="138"/>
                  <a:pt x="2462" y="148"/>
                  <a:pt x="2462" y="160"/>
                </a:cubicBezTo>
                <a:lnTo>
                  <a:pt x="2462" y="848"/>
                </a:lnTo>
                <a:cubicBezTo>
                  <a:pt x="2462" y="858"/>
                  <a:pt x="2461" y="868"/>
                  <a:pt x="2459" y="879"/>
                </a:cubicBezTo>
                <a:cubicBezTo>
                  <a:pt x="2457" y="889"/>
                  <a:pt x="2454" y="899"/>
                  <a:pt x="2450" y="908"/>
                </a:cubicBezTo>
                <a:cubicBezTo>
                  <a:pt x="2446" y="918"/>
                  <a:pt x="2441" y="927"/>
                  <a:pt x="2435" y="936"/>
                </a:cubicBezTo>
                <a:cubicBezTo>
                  <a:pt x="2429" y="944"/>
                  <a:pt x="2423" y="952"/>
                  <a:pt x="2415" y="960"/>
                </a:cubicBezTo>
                <a:cubicBezTo>
                  <a:pt x="2408" y="967"/>
                  <a:pt x="2400" y="974"/>
                  <a:pt x="2391" y="980"/>
                </a:cubicBezTo>
                <a:cubicBezTo>
                  <a:pt x="2383" y="985"/>
                  <a:pt x="2374" y="990"/>
                  <a:pt x="2364" y="994"/>
                </a:cubicBezTo>
                <a:cubicBezTo>
                  <a:pt x="2354" y="998"/>
                  <a:pt x="2344" y="1001"/>
                  <a:pt x="2334" y="1003"/>
                </a:cubicBezTo>
                <a:cubicBezTo>
                  <a:pt x="2324" y="1005"/>
                  <a:pt x="2314" y="1006"/>
                  <a:pt x="2303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93" name=""/>
          <p:cNvSpPr txBox="1"/>
          <p:nvPr/>
        </p:nvSpPr>
        <p:spPr>
          <a:xfrm>
            <a:off x="1300320" y="4826880"/>
            <a:ext cx="2283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Dev: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built-in WiFi (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681000" y="4880520"/>
            <a:ext cx="701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wlan0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479120" y="4826880"/>
            <a:ext cx="4173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) for SSH, simultaneous with WFB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0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01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02" name=""/>
          <p:cNvSpPr txBox="1"/>
          <p:nvPr/>
        </p:nvSpPr>
        <p:spPr>
          <a:xfrm>
            <a:off x="747720" y="770400"/>
            <a:ext cx="36612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The job, in five layers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14400" y="1623600"/>
            <a:ext cx="83217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┌──────────────────────────────────────────────────────────┐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914400" y="188532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1. Camera frames @ 30 fps  (CSI / USB / UDP / SHM)        │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14400" y="215640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└─────────────────────────┬─────────────────────────────────┘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14400" y="2418120"/>
            <a:ext cx="51321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                          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GStreamer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914400" y="267984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┌─────────────────────────▼─────────────────────────────────┐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914400" y="295092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2. Hailo person detection (tiled → unified bboxes)        │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14400" y="321264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└─────────────────────────┬─────────────────────────────────┘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14400" y="3474720"/>
            <a:ext cx="582552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                          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HailoDetection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914400" y="374580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┌─────────────────────────▼─────────────────────────────────┐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914400" y="400752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3. ByteTracker  +  ReID gallery / drift / raw fallback    │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914400" y="426924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└─────────────────────────┬─────────────────────────────────┘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914400" y="4540320"/>
            <a:ext cx="735120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                          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Detection(cx, cy, bbox_h)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914400" y="480204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┌─────────────────────────▼─────────────────────────────────┐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914400" y="506376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4. follow_api/controller  yaw + forward + alt + safety    │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914400" y="533484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└─────────────────────────┬─────────────────────────────────┘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14400" y="5596560"/>
            <a:ext cx="596448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                          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VelocityCommand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914400" y="586764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┌─────────────────────────▼─────────────────────────────────┐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914400" y="612936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│ </a:t>
            </a:r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5. Actuator: MAVSDK ► PX4   (v1.1: also rclpy ► /cmd_vel) │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914400" y="6391080"/>
            <a:ext cx="8460360" cy="2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10" spc="-1" strike="noStrike">
                <a:solidFill>
                  <a:srgbClr val="1f2328"/>
                </a:solidFill>
                <a:latin typeface="Courier New"/>
              </a:rPr>
              <a:t>└───────────────────────────────────────────────────────────┘</a:t>
            </a:r>
            <a:endParaRPr b="0" lang="en-US" sz="1810" spc="-1" strike="noStrike"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4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6" name=""/>
          <p:cNvSpPr/>
          <p:nvPr/>
        </p:nvSpPr>
        <p:spPr>
          <a:xfrm>
            <a:off x="752400" y="1457280"/>
            <a:ext cx="3438720" cy="543240"/>
          </a:xfrm>
          <a:custGeom>
            <a:avLst/>
            <a:gdLst/>
            <a:ahLst/>
            <a:rect l="0" t="0" r="r" b="b"/>
            <a:pathLst>
              <a:path w="9552" h="1509">
                <a:moveTo>
                  <a:pt x="0" y="0"/>
                </a:moveTo>
                <a:lnTo>
                  <a:pt x="9552" y="0"/>
                </a:lnTo>
                <a:lnTo>
                  <a:pt x="955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7" name=""/>
          <p:cNvSpPr/>
          <p:nvPr/>
        </p:nvSpPr>
        <p:spPr>
          <a:xfrm>
            <a:off x="4190760" y="1457280"/>
            <a:ext cx="3619800" cy="543240"/>
          </a:xfrm>
          <a:custGeom>
            <a:avLst/>
            <a:gdLst/>
            <a:ahLst/>
            <a:rect l="0" t="0" r="r" b="b"/>
            <a:pathLst>
              <a:path w="10055" h="1509">
                <a:moveTo>
                  <a:pt x="0" y="0"/>
                </a:moveTo>
                <a:lnTo>
                  <a:pt x="10055" y="0"/>
                </a:lnTo>
                <a:lnTo>
                  <a:pt x="100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8" name=""/>
          <p:cNvSpPr/>
          <p:nvPr/>
        </p:nvSpPr>
        <p:spPr>
          <a:xfrm>
            <a:off x="7810200" y="1457280"/>
            <a:ext cx="3067560" cy="543240"/>
          </a:xfrm>
          <a:custGeom>
            <a:avLst/>
            <a:gdLst/>
            <a:ahLst/>
            <a:rect l="0" t="0" r="r" b="b"/>
            <a:pathLst>
              <a:path w="8521" h="1509">
                <a:moveTo>
                  <a:pt x="0" y="0"/>
                </a:moveTo>
                <a:lnTo>
                  <a:pt x="8521" y="0"/>
                </a:lnTo>
                <a:lnTo>
                  <a:pt x="85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9" name=""/>
          <p:cNvSpPr/>
          <p:nvPr/>
        </p:nvSpPr>
        <p:spPr>
          <a:xfrm>
            <a:off x="752400" y="2000160"/>
            <a:ext cx="3438720" cy="533520"/>
          </a:xfrm>
          <a:custGeom>
            <a:avLst/>
            <a:gdLst/>
            <a:ahLst/>
            <a:rect l="0" t="0" r="r" b="b"/>
            <a:pathLst>
              <a:path w="9552" h="1482">
                <a:moveTo>
                  <a:pt x="0" y="0"/>
                </a:moveTo>
                <a:lnTo>
                  <a:pt x="9552" y="0"/>
                </a:lnTo>
                <a:lnTo>
                  <a:pt x="955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0" name=""/>
          <p:cNvSpPr/>
          <p:nvPr/>
        </p:nvSpPr>
        <p:spPr>
          <a:xfrm>
            <a:off x="4190760" y="2000160"/>
            <a:ext cx="3619800" cy="533520"/>
          </a:xfrm>
          <a:custGeom>
            <a:avLst/>
            <a:gdLst/>
            <a:ahLst/>
            <a:rect l="0" t="0" r="r" b="b"/>
            <a:pathLst>
              <a:path w="10055" h="1482">
                <a:moveTo>
                  <a:pt x="0" y="0"/>
                </a:moveTo>
                <a:lnTo>
                  <a:pt x="10055" y="0"/>
                </a:lnTo>
                <a:lnTo>
                  <a:pt x="1005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1" name=""/>
          <p:cNvSpPr/>
          <p:nvPr/>
        </p:nvSpPr>
        <p:spPr>
          <a:xfrm>
            <a:off x="7810200" y="2000160"/>
            <a:ext cx="3067560" cy="533520"/>
          </a:xfrm>
          <a:custGeom>
            <a:avLst/>
            <a:gdLst/>
            <a:ahLst/>
            <a:rect l="0" t="0" r="r" b="b"/>
            <a:pathLst>
              <a:path w="8521" h="1482">
                <a:moveTo>
                  <a:pt x="0" y="0"/>
                </a:moveTo>
                <a:lnTo>
                  <a:pt x="8521" y="0"/>
                </a:lnTo>
                <a:lnTo>
                  <a:pt x="852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2" name=""/>
          <p:cNvSpPr/>
          <p:nvPr/>
        </p:nvSpPr>
        <p:spPr>
          <a:xfrm>
            <a:off x="752400" y="2533320"/>
            <a:ext cx="3438720" cy="543600"/>
          </a:xfrm>
          <a:custGeom>
            <a:avLst/>
            <a:gdLst/>
            <a:ahLst/>
            <a:rect l="0" t="0" r="r" b="b"/>
            <a:pathLst>
              <a:path w="9552" h="1510">
                <a:moveTo>
                  <a:pt x="0" y="0"/>
                </a:moveTo>
                <a:lnTo>
                  <a:pt x="9552" y="0"/>
                </a:lnTo>
                <a:lnTo>
                  <a:pt x="9552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3" name=""/>
          <p:cNvSpPr/>
          <p:nvPr/>
        </p:nvSpPr>
        <p:spPr>
          <a:xfrm>
            <a:off x="4190760" y="2533320"/>
            <a:ext cx="3619800" cy="543600"/>
          </a:xfrm>
          <a:custGeom>
            <a:avLst/>
            <a:gdLst/>
            <a:ahLst/>
            <a:rect l="0" t="0" r="r" b="b"/>
            <a:pathLst>
              <a:path w="10055" h="1510">
                <a:moveTo>
                  <a:pt x="0" y="0"/>
                </a:moveTo>
                <a:lnTo>
                  <a:pt x="10055" y="0"/>
                </a:lnTo>
                <a:lnTo>
                  <a:pt x="10055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4" name=""/>
          <p:cNvSpPr/>
          <p:nvPr/>
        </p:nvSpPr>
        <p:spPr>
          <a:xfrm>
            <a:off x="7810200" y="2533320"/>
            <a:ext cx="3067560" cy="543600"/>
          </a:xfrm>
          <a:custGeom>
            <a:avLst/>
            <a:gdLst/>
            <a:ahLst/>
            <a:rect l="0" t="0" r="r" b="b"/>
            <a:pathLst>
              <a:path w="8521" h="1510">
                <a:moveTo>
                  <a:pt x="0" y="0"/>
                </a:moveTo>
                <a:lnTo>
                  <a:pt x="8521" y="0"/>
                </a:lnTo>
                <a:lnTo>
                  <a:pt x="8521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5" name=""/>
          <p:cNvSpPr/>
          <p:nvPr/>
        </p:nvSpPr>
        <p:spPr>
          <a:xfrm>
            <a:off x="752400" y="3076560"/>
            <a:ext cx="3438720" cy="533520"/>
          </a:xfrm>
          <a:custGeom>
            <a:avLst/>
            <a:gdLst/>
            <a:ahLst/>
            <a:rect l="0" t="0" r="r" b="b"/>
            <a:pathLst>
              <a:path w="9552" h="1482">
                <a:moveTo>
                  <a:pt x="0" y="0"/>
                </a:moveTo>
                <a:lnTo>
                  <a:pt x="9552" y="0"/>
                </a:lnTo>
                <a:lnTo>
                  <a:pt x="955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6" name=""/>
          <p:cNvSpPr/>
          <p:nvPr/>
        </p:nvSpPr>
        <p:spPr>
          <a:xfrm>
            <a:off x="4190760" y="3076560"/>
            <a:ext cx="3619800" cy="533520"/>
          </a:xfrm>
          <a:custGeom>
            <a:avLst/>
            <a:gdLst/>
            <a:ahLst/>
            <a:rect l="0" t="0" r="r" b="b"/>
            <a:pathLst>
              <a:path w="10055" h="1482">
                <a:moveTo>
                  <a:pt x="0" y="0"/>
                </a:moveTo>
                <a:lnTo>
                  <a:pt x="10055" y="0"/>
                </a:lnTo>
                <a:lnTo>
                  <a:pt x="1005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7" name=""/>
          <p:cNvSpPr/>
          <p:nvPr/>
        </p:nvSpPr>
        <p:spPr>
          <a:xfrm>
            <a:off x="7810200" y="3076560"/>
            <a:ext cx="3067560" cy="533520"/>
          </a:xfrm>
          <a:custGeom>
            <a:avLst/>
            <a:gdLst/>
            <a:ahLst/>
            <a:rect l="0" t="0" r="r" b="b"/>
            <a:pathLst>
              <a:path w="8521" h="1482">
                <a:moveTo>
                  <a:pt x="0" y="0"/>
                </a:moveTo>
                <a:lnTo>
                  <a:pt x="8521" y="0"/>
                </a:lnTo>
                <a:lnTo>
                  <a:pt x="852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8" name=""/>
          <p:cNvSpPr/>
          <p:nvPr/>
        </p:nvSpPr>
        <p:spPr>
          <a:xfrm>
            <a:off x="752400" y="3609720"/>
            <a:ext cx="3438720" cy="543240"/>
          </a:xfrm>
          <a:custGeom>
            <a:avLst/>
            <a:gdLst/>
            <a:ahLst/>
            <a:rect l="0" t="0" r="r" b="b"/>
            <a:pathLst>
              <a:path w="9552" h="1509">
                <a:moveTo>
                  <a:pt x="0" y="0"/>
                </a:moveTo>
                <a:lnTo>
                  <a:pt x="9552" y="0"/>
                </a:lnTo>
                <a:lnTo>
                  <a:pt x="955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9" name=""/>
          <p:cNvSpPr/>
          <p:nvPr/>
        </p:nvSpPr>
        <p:spPr>
          <a:xfrm>
            <a:off x="4190760" y="3609720"/>
            <a:ext cx="3619800" cy="543240"/>
          </a:xfrm>
          <a:custGeom>
            <a:avLst/>
            <a:gdLst/>
            <a:ahLst/>
            <a:rect l="0" t="0" r="r" b="b"/>
            <a:pathLst>
              <a:path w="10055" h="1509">
                <a:moveTo>
                  <a:pt x="0" y="0"/>
                </a:moveTo>
                <a:lnTo>
                  <a:pt x="10055" y="0"/>
                </a:lnTo>
                <a:lnTo>
                  <a:pt x="100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0" name=""/>
          <p:cNvSpPr/>
          <p:nvPr/>
        </p:nvSpPr>
        <p:spPr>
          <a:xfrm>
            <a:off x="7810200" y="3609720"/>
            <a:ext cx="3067560" cy="543240"/>
          </a:xfrm>
          <a:custGeom>
            <a:avLst/>
            <a:gdLst/>
            <a:ahLst/>
            <a:rect l="0" t="0" r="r" b="b"/>
            <a:pathLst>
              <a:path w="8521" h="1509">
                <a:moveTo>
                  <a:pt x="0" y="0"/>
                </a:moveTo>
                <a:lnTo>
                  <a:pt x="8521" y="0"/>
                </a:lnTo>
                <a:lnTo>
                  <a:pt x="85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1" name=""/>
          <p:cNvSpPr/>
          <p:nvPr/>
        </p:nvSpPr>
        <p:spPr>
          <a:xfrm>
            <a:off x="752400" y="4152600"/>
            <a:ext cx="3438720" cy="533880"/>
          </a:xfrm>
          <a:custGeom>
            <a:avLst/>
            <a:gdLst/>
            <a:ahLst/>
            <a:rect l="0" t="0" r="r" b="b"/>
            <a:pathLst>
              <a:path w="9552" h="1483">
                <a:moveTo>
                  <a:pt x="0" y="0"/>
                </a:moveTo>
                <a:lnTo>
                  <a:pt x="9552" y="0"/>
                </a:lnTo>
                <a:lnTo>
                  <a:pt x="955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2" name=""/>
          <p:cNvSpPr/>
          <p:nvPr/>
        </p:nvSpPr>
        <p:spPr>
          <a:xfrm>
            <a:off x="4190760" y="4152600"/>
            <a:ext cx="3619800" cy="533880"/>
          </a:xfrm>
          <a:custGeom>
            <a:avLst/>
            <a:gdLst/>
            <a:ahLst/>
            <a:rect l="0" t="0" r="r" b="b"/>
            <a:pathLst>
              <a:path w="10055" h="1483">
                <a:moveTo>
                  <a:pt x="0" y="0"/>
                </a:moveTo>
                <a:lnTo>
                  <a:pt x="10055" y="0"/>
                </a:lnTo>
                <a:lnTo>
                  <a:pt x="1005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3" name=""/>
          <p:cNvSpPr/>
          <p:nvPr/>
        </p:nvSpPr>
        <p:spPr>
          <a:xfrm>
            <a:off x="7810200" y="4152600"/>
            <a:ext cx="3067560" cy="533880"/>
          </a:xfrm>
          <a:custGeom>
            <a:avLst/>
            <a:gdLst/>
            <a:ahLst/>
            <a:rect l="0" t="0" r="r" b="b"/>
            <a:pathLst>
              <a:path w="8521" h="1483">
                <a:moveTo>
                  <a:pt x="0" y="0"/>
                </a:moveTo>
                <a:lnTo>
                  <a:pt x="8521" y="0"/>
                </a:lnTo>
                <a:lnTo>
                  <a:pt x="85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4" name=""/>
          <p:cNvSpPr/>
          <p:nvPr/>
        </p:nvSpPr>
        <p:spPr>
          <a:xfrm>
            <a:off x="752400" y="4686120"/>
            <a:ext cx="3438720" cy="543240"/>
          </a:xfrm>
          <a:custGeom>
            <a:avLst/>
            <a:gdLst/>
            <a:ahLst/>
            <a:rect l="0" t="0" r="r" b="b"/>
            <a:pathLst>
              <a:path w="9552" h="1509">
                <a:moveTo>
                  <a:pt x="0" y="0"/>
                </a:moveTo>
                <a:lnTo>
                  <a:pt x="9552" y="0"/>
                </a:lnTo>
                <a:lnTo>
                  <a:pt x="955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5" name=""/>
          <p:cNvSpPr/>
          <p:nvPr/>
        </p:nvSpPr>
        <p:spPr>
          <a:xfrm>
            <a:off x="4190760" y="4686120"/>
            <a:ext cx="3619800" cy="543240"/>
          </a:xfrm>
          <a:custGeom>
            <a:avLst/>
            <a:gdLst/>
            <a:ahLst/>
            <a:rect l="0" t="0" r="r" b="b"/>
            <a:pathLst>
              <a:path w="10055" h="1509">
                <a:moveTo>
                  <a:pt x="0" y="0"/>
                </a:moveTo>
                <a:lnTo>
                  <a:pt x="10055" y="0"/>
                </a:lnTo>
                <a:lnTo>
                  <a:pt x="100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6" name=""/>
          <p:cNvSpPr/>
          <p:nvPr/>
        </p:nvSpPr>
        <p:spPr>
          <a:xfrm>
            <a:off x="7810200" y="4686120"/>
            <a:ext cx="3067560" cy="543240"/>
          </a:xfrm>
          <a:custGeom>
            <a:avLst/>
            <a:gdLst/>
            <a:ahLst/>
            <a:rect l="0" t="0" r="r" b="b"/>
            <a:pathLst>
              <a:path w="8521" h="1509">
                <a:moveTo>
                  <a:pt x="0" y="0"/>
                </a:moveTo>
                <a:lnTo>
                  <a:pt x="8521" y="0"/>
                </a:lnTo>
                <a:lnTo>
                  <a:pt x="85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7" name=""/>
          <p:cNvSpPr/>
          <p:nvPr/>
        </p:nvSpPr>
        <p:spPr>
          <a:xfrm>
            <a:off x="752400" y="5229000"/>
            <a:ext cx="3438720" cy="533880"/>
          </a:xfrm>
          <a:custGeom>
            <a:avLst/>
            <a:gdLst/>
            <a:ahLst/>
            <a:rect l="0" t="0" r="r" b="b"/>
            <a:pathLst>
              <a:path w="9552" h="1483">
                <a:moveTo>
                  <a:pt x="0" y="0"/>
                </a:moveTo>
                <a:lnTo>
                  <a:pt x="9552" y="0"/>
                </a:lnTo>
                <a:lnTo>
                  <a:pt x="955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8" name=""/>
          <p:cNvSpPr/>
          <p:nvPr/>
        </p:nvSpPr>
        <p:spPr>
          <a:xfrm>
            <a:off x="4190760" y="5229000"/>
            <a:ext cx="3619800" cy="533880"/>
          </a:xfrm>
          <a:custGeom>
            <a:avLst/>
            <a:gdLst/>
            <a:ahLst/>
            <a:rect l="0" t="0" r="r" b="b"/>
            <a:pathLst>
              <a:path w="10055" h="1483">
                <a:moveTo>
                  <a:pt x="0" y="0"/>
                </a:moveTo>
                <a:lnTo>
                  <a:pt x="10055" y="0"/>
                </a:lnTo>
                <a:lnTo>
                  <a:pt x="1005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9" name=""/>
          <p:cNvSpPr/>
          <p:nvPr/>
        </p:nvSpPr>
        <p:spPr>
          <a:xfrm>
            <a:off x="7810200" y="5229000"/>
            <a:ext cx="3067560" cy="533880"/>
          </a:xfrm>
          <a:custGeom>
            <a:avLst/>
            <a:gdLst/>
            <a:ahLst/>
            <a:rect l="0" t="0" r="r" b="b"/>
            <a:pathLst>
              <a:path w="8521" h="1483">
                <a:moveTo>
                  <a:pt x="0" y="0"/>
                </a:moveTo>
                <a:lnTo>
                  <a:pt x="8521" y="0"/>
                </a:lnTo>
                <a:lnTo>
                  <a:pt x="852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0" name=""/>
          <p:cNvSpPr/>
          <p:nvPr/>
        </p:nvSpPr>
        <p:spPr>
          <a:xfrm>
            <a:off x="752400" y="5762520"/>
            <a:ext cx="3438720" cy="543240"/>
          </a:xfrm>
          <a:custGeom>
            <a:avLst/>
            <a:gdLst/>
            <a:ahLst/>
            <a:rect l="0" t="0" r="r" b="b"/>
            <a:pathLst>
              <a:path w="9552" h="1509">
                <a:moveTo>
                  <a:pt x="0" y="0"/>
                </a:moveTo>
                <a:lnTo>
                  <a:pt x="9552" y="0"/>
                </a:lnTo>
                <a:lnTo>
                  <a:pt x="955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1" name=""/>
          <p:cNvSpPr/>
          <p:nvPr/>
        </p:nvSpPr>
        <p:spPr>
          <a:xfrm>
            <a:off x="4190760" y="5762520"/>
            <a:ext cx="3619800" cy="543240"/>
          </a:xfrm>
          <a:custGeom>
            <a:avLst/>
            <a:gdLst/>
            <a:ahLst/>
            <a:rect l="0" t="0" r="r" b="b"/>
            <a:pathLst>
              <a:path w="10055" h="1509">
                <a:moveTo>
                  <a:pt x="0" y="0"/>
                </a:moveTo>
                <a:lnTo>
                  <a:pt x="10055" y="0"/>
                </a:lnTo>
                <a:lnTo>
                  <a:pt x="100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2" name=""/>
          <p:cNvSpPr/>
          <p:nvPr/>
        </p:nvSpPr>
        <p:spPr>
          <a:xfrm>
            <a:off x="7810200" y="5762520"/>
            <a:ext cx="3067560" cy="543240"/>
          </a:xfrm>
          <a:custGeom>
            <a:avLst/>
            <a:gdLst/>
            <a:ahLst/>
            <a:rect l="0" t="0" r="r" b="b"/>
            <a:pathLst>
              <a:path w="8521" h="1509">
                <a:moveTo>
                  <a:pt x="0" y="0"/>
                </a:moveTo>
                <a:lnTo>
                  <a:pt x="8521" y="0"/>
                </a:lnTo>
                <a:lnTo>
                  <a:pt x="852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3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4" name=""/>
          <p:cNvSpPr/>
          <p:nvPr/>
        </p:nvSpPr>
        <p:spPr>
          <a:xfrm>
            <a:off x="752400" y="1457280"/>
            <a:ext cx="3438720" cy="9720"/>
          </a:xfrm>
          <a:custGeom>
            <a:avLst/>
            <a:gdLst/>
            <a:ah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5" name=""/>
          <p:cNvSpPr/>
          <p:nvPr/>
        </p:nvSpPr>
        <p:spPr>
          <a:xfrm>
            <a:off x="4181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" name=""/>
          <p:cNvSpPr/>
          <p:nvPr/>
        </p:nvSpPr>
        <p:spPr>
          <a:xfrm>
            <a:off x="4190760" y="145728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" name=""/>
          <p:cNvSpPr/>
          <p:nvPr/>
        </p:nvSpPr>
        <p:spPr>
          <a:xfrm>
            <a:off x="780084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" name=""/>
          <p:cNvSpPr/>
          <p:nvPr/>
        </p:nvSpPr>
        <p:spPr>
          <a:xfrm>
            <a:off x="7810200" y="1457280"/>
            <a:ext cx="3076920" cy="9720"/>
          </a:xfrm>
          <a:custGeom>
            <a:avLst/>
            <a:gdLst/>
            <a:ahLst/>
            <a:rect l="0" t="0" r="r" b="b"/>
            <a:pathLst>
              <a:path w="8547" h="27">
                <a:moveTo>
                  <a:pt x="0" y="0"/>
                </a:moveTo>
                <a:lnTo>
                  <a:pt x="8547" y="0"/>
                </a:lnTo>
                <a:lnTo>
                  <a:pt x="8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9" name=""/>
          <p:cNvSpPr/>
          <p:nvPr/>
        </p:nvSpPr>
        <p:spPr>
          <a:xfrm>
            <a:off x="10877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0" name=""/>
          <p:cNvSpPr/>
          <p:nvPr/>
        </p:nvSpPr>
        <p:spPr>
          <a:xfrm>
            <a:off x="752400" y="1990440"/>
            <a:ext cx="3438720" cy="10080"/>
          </a:xfrm>
          <a:custGeom>
            <a:avLst/>
            <a:gdLst/>
            <a:ahLst/>
            <a:rect l="0" t="0" r="r" b="b"/>
            <a:pathLst>
              <a:path w="9552" h="28">
                <a:moveTo>
                  <a:pt x="0" y="0"/>
                </a:moveTo>
                <a:lnTo>
                  <a:pt x="9552" y="0"/>
                </a:lnTo>
                <a:lnTo>
                  <a:pt x="9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1" name=""/>
          <p:cNvSpPr/>
          <p:nvPr/>
        </p:nvSpPr>
        <p:spPr>
          <a:xfrm>
            <a:off x="4190760" y="199044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2" name=""/>
          <p:cNvSpPr/>
          <p:nvPr/>
        </p:nvSpPr>
        <p:spPr>
          <a:xfrm>
            <a:off x="7810200" y="1990440"/>
            <a:ext cx="3076920" cy="10080"/>
          </a:xfrm>
          <a:custGeom>
            <a:avLst/>
            <a:gdLst/>
            <a:ahLst/>
            <a:rect l="0" t="0" r="r" b="b"/>
            <a:pathLst>
              <a:path w="8547" h="28">
                <a:moveTo>
                  <a:pt x="0" y="0"/>
                </a:moveTo>
                <a:lnTo>
                  <a:pt x="8547" y="0"/>
                </a:lnTo>
                <a:lnTo>
                  <a:pt x="8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3" name="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4" name=""/>
          <p:cNvSpPr/>
          <p:nvPr/>
        </p:nvSpPr>
        <p:spPr>
          <a:xfrm>
            <a:off x="4181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5" name=""/>
          <p:cNvSpPr/>
          <p:nvPr/>
        </p:nvSpPr>
        <p:spPr>
          <a:xfrm>
            <a:off x="780084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6" name=""/>
          <p:cNvSpPr/>
          <p:nvPr/>
        </p:nvSpPr>
        <p:spPr>
          <a:xfrm>
            <a:off x="10877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7" name="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8" name=""/>
          <p:cNvSpPr/>
          <p:nvPr/>
        </p:nvSpPr>
        <p:spPr>
          <a:xfrm>
            <a:off x="752400" y="2533320"/>
            <a:ext cx="3438720" cy="10080"/>
          </a:xfrm>
          <a:custGeom>
            <a:avLst/>
            <a:gdLst/>
            <a:ahLst/>
            <a:rect l="0" t="0" r="r" b="b"/>
            <a:pathLst>
              <a:path w="9552" h="28">
                <a:moveTo>
                  <a:pt x="0" y="0"/>
                </a:moveTo>
                <a:lnTo>
                  <a:pt x="9552" y="0"/>
                </a:lnTo>
                <a:lnTo>
                  <a:pt x="9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69" name=""/>
          <p:cNvSpPr/>
          <p:nvPr/>
        </p:nvSpPr>
        <p:spPr>
          <a:xfrm>
            <a:off x="4181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0" name=""/>
          <p:cNvSpPr/>
          <p:nvPr/>
        </p:nvSpPr>
        <p:spPr>
          <a:xfrm>
            <a:off x="4190760" y="253332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1" name=""/>
          <p:cNvSpPr/>
          <p:nvPr/>
        </p:nvSpPr>
        <p:spPr>
          <a:xfrm>
            <a:off x="780084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2" name=""/>
          <p:cNvSpPr/>
          <p:nvPr/>
        </p:nvSpPr>
        <p:spPr>
          <a:xfrm>
            <a:off x="7810200" y="2533320"/>
            <a:ext cx="3076920" cy="10080"/>
          </a:xfrm>
          <a:custGeom>
            <a:avLst/>
            <a:gdLst/>
            <a:ahLst/>
            <a:rect l="0" t="0" r="r" b="b"/>
            <a:pathLst>
              <a:path w="8547" h="28">
                <a:moveTo>
                  <a:pt x="0" y="0"/>
                </a:moveTo>
                <a:lnTo>
                  <a:pt x="8547" y="0"/>
                </a:lnTo>
                <a:lnTo>
                  <a:pt x="8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3" name=""/>
          <p:cNvSpPr/>
          <p:nvPr/>
        </p:nvSpPr>
        <p:spPr>
          <a:xfrm>
            <a:off x="10877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4" name="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5" name=""/>
          <p:cNvSpPr/>
          <p:nvPr/>
        </p:nvSpPr>
        <p:spPr>
          <a:xfrm>
            <a:off x="752400" y="3066840"/>
            <a:ext cx="3438720" cy="10080"/>
          </a:xfrm>
          <a:custGeom>
            <a:avLst/>
            <a:gdLst/>
            <a:ahLst/>
            <a:rect l="0" t="0" r="r" b="b"/>
            <a:pathLst>
              <a:path w="9552" h="28">
                <a:moveTo>
                  <a:pt x="0" y="0"/>
                </a:moveTo>
                <a:lnTo>
                  <a:pt x="9552" y="0"/>
                </a:lnTo>
                <a:lnTo>
                  <a:pt x="9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6" name=""/>
          <p:cNvSpPr/>
          <p:nvPr/>
        </p:nvSpPr>
        <p:spPr>
          <a:xfrm>
            <a:off x="4181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7" name=""/>
          <p:cNvSpPr/>
          <p:nvPr/>
        </p:nvSpPr>
        <p:spPr>
          <a:xfrm>
            <a:off x="4190760" y="306684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8" name=""/>
          <p:cNvSpPr/>
          <p:nvPr/>
        </p:nvSpPr>
        <p:spPr>
          <a:xfrm>
            <a:off x="780084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79" name=""/>
          <p:cNvSpPr/>
          <p:nvPr/>
        </p:nvSpPr>
        <p:spPr>
          <a:xfrm>
            <a:off x="7810200" y="3066840"/>
            <a:ext cx="3076920" cy="10080"/>
          </a:xfrm>
          <a:custGeom>
            <a:avLst/>
            <a:gdLst/>
            <a:ahLst/>
            <a:rect l="0" t="0" r="r" b="b"/>
            <a:pathLst>
              <a:path w="8547" h="28">
                <a:moveTo>
                  <a:pt x="0" y="0"/>
                </a:moveTo>
                <a:lnTo>
                  <a:pt x="8547" y="0"/>
                </a:lnTo>
                <a:lnTo>
                  <a:pt x="8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0" name=""/>
          <p:cNvSpPr/>
          <p:nvPr/>
        </p:nvSpPr>
        <p:spPr>
          <a:xfrm>
            <a:off x="10877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1" name=""/>
          <p:cNvSpPr/>
          <p:nvPr/>
        </p:nvSpPr>
        <p:spPr>
          <a:xfrm>
            <a:off x="7524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2" name=""/>
          <p:cNvSpPr/>
          <p:nvPr/>
        </p:nvSpPr>
        <p:spPr>
          <a:xfrm>
            <a:off x="752400" y="3609720"/>
            <a:ext cx="3438720" cy="10080"/>
          </a:xfrm>
          <a:custGeom>
            <a:avLst/>
            <a:gdLst/>
            <a:ahLst/>
            <a:rect l="0" t="0" r="r" b="b"/>
            <a:pathLst>
              <a:path w="9552" h="28">
                <a:moveTo>
                  <a:pt x="0" y="0"/>
                </a:moveTo>
                <a:lnTo>
                  <a:pt x="9552" y="0"/>
                </a:lnTo>
                <a:lnTo>
                  <a:pt x="9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3" name=""/>
          <p:cNvSpPr/>
          <p:nvPr/>
        </p:nvSpPr>
        <p:spPr>
          <a:xfrm>
            <a:off x="41814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4" name=""/>
          <p:cNvSpPr/>
          <p:nvPr/>
        </p:nvSpPr>
        <p:spPr>
          <a:xfrm>
            <a:off x="4190760" y="360972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5" name=""/>
          <p:cNvSpPr/>
          <p:nvPr/>
        </p:nvSpPr>
        <p:spPr>
          <a:xfrm>
            <a:off x="780084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6" name=""/>
          <p:cNvSpPr/>
          <p:nvPr/>
        </p:nvSpPr>
        <p:spPr>
          <a:xfrm>
            <a:off x="7810200" y="3609720"/>
            <a:ext cx="3076920" cy="10080"/>
          </a:xfrm>
          <a:custGeom>
            <a:avLst/>
            <a:gdLst/>
            <a:ahLst/>
            <a:rect l="0" t="0" r="r" b="b"/>
            <a:pathLst>
              <a:path w="8547" h="28">
                <a:moveTo>
                  <a:pt x="0" y="0"/>
                </a:moveTo>
                <a:lnTo>
                  <a:pt x="8547" y="0"/>
                </a:lnTo>
                <a:lnTo>
                  <a:pt x="8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7" name=""/>
          <p:cNvSpPr/>
          <p:nvPr/>
        </p:nvSpPr>
        <p:spPr>
          <a:xfrm>
            <a:off x="10877400" y="3619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8" name=""/>
          <p:cNvSpPr/>
          <p:nvPr/>
        </p:nvSpPr>
        <p:spPr>
          <a:xfrm>
            <a:off x="7524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89" name=""/>
          <p:cNvSpPr/>
          <p:nvPr/>
        </p:nvSpPr>
        <p:spPr>
          <a:xfrm>
            <a:off x="752400" y="4143240"/>
            <a:ext cx="3438720" cy="9720"/>
          </a:xfrm>
          <a:custGeom>
            <a:avLst/>
            <a:gdLst/>
            <a:ah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0" name=""/>
          <p:cNvSpPr/>
          <p:nvPr/>
        </p:nvSpPr>
        <p:spPr>
          <a:xfrm>
            <a:off x="41814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1" name=""/>
          <p:cNvSpPr/>
          <p:nvPr/>
        </p:nvSpPr>
        <p:spPr>
          <a:xfrm>
            <a:off x="4190760" y="414324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2" name=""/>
          <p:cNvSpPr/>
          <p:nvPr/>
        </p:nvSpPr>
        <p:spPr>
          <a:xfrm>
            <a:off x="780084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3" name=""/>
          <p:cNvSpPr/>
          <p:nvPr/>
        </p:nvSpPr>
        <p:spPr>
          <a:xfrm>
            <a:off x="7810200" y="4143240"/>
            <a:ext cx="3076920" cy="9720"/>
          </a:xfrm>
          <a:custGeom>
            <a:avLst/>
            <a:gdLst/>
            <a:ahLst/>
            <a:rect l="0" t="0" r="r" b="b"/>
            <a:pathLst>
              <a:path w="8547" h="27">
                <a:moveTo>
                  <a:pt x="0" y="0"/>
                </a:moveTo>
                <a:lnTo>
                  <a:pt x="8547" y="0"/>
                </a:lnTo>
                <a:lnTo>
                  <a:pt x="8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4" name=""/>
          <p:cNvSpPr/>
          <p:nvPr/>
        </p:nvSpPr>
        <p:spPr>
          <a:xfrm>
            <a:off x="10877400" y="415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5" name=""/>
          <p:cNvSpPr/>
          <p:nvPr/>
        </p:nvSpPr>
        <p:spPr>
          <a:xfrm>
            <a:off x="75240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6" name=""/>
          <p:cNvSpPr/>
          <p:nvPr/>
        </p:nvSpPr>
        <p:spPr>
          <a:xfrm>
            <a:off x="752400" y="4686120"/>
            <a:ext cx="3438720" cy="9720"/>
          </a:xfrm>
          <a:custGeom>
            <a:avLst/>
            <a:gdLst/>
            <a:ah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7" name=""/>
          <p:cNvSpPr/>
          <p:nvPr/>
        </p:nvSpPr>
        <p:spPr>
          <a:xfrm>
            <a:off x="418140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8" name=""/>
          <p:cNvSpPr/>
          <p:nvPr/>
        </p:nvSpPr>
        <p:spPr>
          <a:xfrm>
            <a:off x="4190760" y="468612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99" name=""/>
          <p:cNvSpPr/>
          <p:nvPr/>
        </p:nvSpPr>
        <p:spPr>
          <a:xfrm>
            <a:off x="780084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0" name=""/>
          <p:cNvSpPr/>
          <p:nvPr/>
        </p:nvSpPr>
        <p:spPr>
          <a:xfrm>
            <a:off x="7810200" y="4686120"/>
            <a:ext cx="3076920" cy="9720"/>
          </a:xfrm>
          <a:custGeom>
            <a:avLst/>
            <a:gdLst/>
            <a:ahLst/>
            <a:rect l="0" t="0" r="r" b="b"/>
            <a:pathLst>
              <a:path w="8547" h="27">
                <a:moveTo>
                  <a:pt x="0" y="0"/>
                </a:moveTo>
                <a:lnTo>
                  <a:pt x="8547" y="0"/>
                </a:lnTo>
                <a:lnTo>
                  <a:pt x="8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1" name=""/>
          <p:cNvSpPr/>
          <p:nvPr/>
        </p:nvSpPr>
        <p:spPr>
          <a:xfrm>
            <a:off x="10877400" y="46954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2" name=""/>
          <p:cNvSpPr/>
          <p:nvPr/>
        </p:nvSpPr>
        <p:spPr>
          <a:xfrm>
            <a:off x="75240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3" name=""/>
          <p:cNvSpPr/>
          <p:nvPr/>
        </p:nvSpPr>
        <p:spPr>
          <a:xfrm>
            <a:off x="752400" y="5219640"/>
            <a:ext cx="3438720" cy="9720"/>
          </a:xfrm>
          <a:custGeom>
            <a:avLst/>
            <a:gdLst/>
            <a:ah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4" name=""/>
          <p:cNvSpPr/>
          <p:nvPr/>
        </p:nvSpPr>
        <p:spPr>
          <a:xfrm>
            <a:off x="418140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5" name=""/>
          <p:cNvSpPr/>
          <p:nvPr/>
        </p:nvSpPr>
        <p:spPr>
          <a:xfrm>
            <a:off x="4190760" y="521964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6" name=""/>
          <p:cNvSpPr/>
          <p:nvPr/>
        </p:nvSpPr>
        <p:spPr>
          <a:xfrm>
            <a:off x="780084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7" name=""/>
          <p:cNvSpPr/>
          <p:nvPr/>
        </p:nvSpPr>
        <p:spPr>
          <a:xfrm>
            <a:off x="7810200" y="5219640"/>
            <a:ext cx="3076920" cy="9720"/>
          </a:xfrm>
          <a:custGeom>
            <a:avLst/>
            <a:gdLst/>
            <a:ahLst/>
            <a:rect l="0" t="0" r="r" b="b"/>
            <a:pathLst>
              <a:path w="8547" h="27">
                <a:moveTo>
                  <a:pt x="0" y="0"/>
                </a:moveTo>
                <a:lnTo>
                  <a:pt x="8547" y="0"/>
                </a:lnTo>
                <a:lnTo>
                  <a:pt x="8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8" name=""/>
          <p:cNvSpPr/>
          <p:nvPr/>
        </p:nvSpPr>
        <p:spPr>
          <a:xfrm>
            <a:off x="10877400" y="5229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09" name=""/>
          <p:cNvSpPr/>
          <p:nvPr/>
        </p:nvSpPr>
        <p:spPr>
          <a:xfrm>
            <a:off x="75240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0" name=""/>
          <p:cNvSpPr/>
          <p:nvPr/>
        </p:nvSpPr>
        <p:spPr>
          <a:xfrm>
            <a:off x="752400" y="5762520"/>
            <a:ext cx="3438720" cy="9720"/>
          </a:xfrm>
          <a:custGeom>
            <a:avLst/>
            <a:gdLst/>
            <a:ahLst/>
            <a:rect l="0" t="0" r="r" b="b"/>
            <a:pathLst>
              <a:path w="9552" h="27">
                <a:moveTo>
                  <a:pt x="0" y="0"/>
                </a:moveTo>
                <a:lnTo>
                  <a:pt x="9552" y="0"/>
                </a:lnTo>
                <a:lnTo>
                  <a:pt x="9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1" name=""/>
          <p:cNvSpPr/>
          <p:nvPr/>
        </p:nvSpPr>
        <p:spPr>
          <a:xfrm>
            <a:off x="418140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2" name=""/>
          <p:cNvSpPr/>
          <p:nvPr/>
        </p:nvSpPr>
        <p:spPr>
          <a:xfrm>
            <a:off x="4190760" y="5762520"/>
            <a:ext cx="3619800" cy="9720"/>
          </a:xfrm>
          <a:custGeom>
            <a:avLst/>
            <a:gdLst/>
            <a:ahLst/>
            <a:rect l="0" t="0" r="r" b="b"/>
            <a:pathLst>
              <a:path w="10055" h="27">
                <a:moveTo>
                  <a:pt x="0" y="0"/>
                </a:moveTo>
                <a:lnTo>
                  <a:pt x="10055" y="0"/>
                </a:lnTo>
                <a:lnTo>
                  <a:pt x="100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3" name=""/>
          <p:cNvSpPr/>
          <p:nvPr/>
        </p:nvSpPr>
        <p:spPr>
          <a:xfrm>
            <a:off x="780084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4" name=""/>
          <p:cNvSpPr/>
          <p:nvPr/>
        </p:nvSpPr>
        <p:spPr>
          <a:xfrm>
            <a:off x="7810200" y="5762520"/>
            <a:ext cx="3076920" cy="9720"/>
          </a:xfrm>
          <a:custGeom>
            <a:avLst/>
            <a:gdLst/>
            <a:ahLst/>
            <a:rect l="0" t="0" r="r" b="b"/>
            <a:pathLst>
              <a:path w="8547" h="27">
                <a:moveTo>
                  <a:pt x="0" y="0"/>
                </a:moveTo>
                <a:lnTo>
                  <a:pt x="8547" y="0"/>
                </a:lnTo>
                <a:lnTo>
                  <a:pt x="8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5" name=""/>
          <p:cNvSpPr/>
          <p:nvPr/>
        </p:nvSpPr>
        <p:spPr>
          <a:xfrm>
            <a:off x="10877400" y="57718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6" name=""/>
          <p:cNvSpPr/>
          <p:nvPr/>
        </p:nvSpPr>
        <p:spPr>
          <a:xfrm>
            <a:off x="752400" y="6295680"/>
            <a:ext cx="3438720" cy="10080"/>
          </a:xfrm>
          <a:custGeom>
            <a:avLst/>
            <a:gdLst/>
            <a:ahLst/>
            <a:rect l="0" t="0" r="r" b="b"/>
            <a:pathLst>
              <a:path w="9552" h="28">
                <a:moveTo>
                  <a:pt x="0" y="0"/>
                </a:moveTo>
                <a:lnTo>
                  <a:pt x="9552" y="0"/>
                </a:lnTo>
                <a:lnTo>
                  <a:pt x="9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7" name=""/>
          <p:cNvSpPr/>
          <p:nvPr/>
        </p:nvSpPr>
        <p:spPr>
          <a:xfrm>
            <a:off x="4190760" y="6295680"/>
            <a:ext cx="3619800" cy="10080"/>
          </a:xfrm>
          <a:custGeom>
            <a:avLst/>
            <a:gdLst/>
            <a:ahLst/>
            <a:rect l="0" t="0" r="r" b="b"/>
            <a:pathLst>
              <a:path w="10055" h="28">
                <a:moveTo>
                  <a:pt x="0" y="0"/>
                </a:moveTo>
                <a:lnTo>
                  <a:pt x="10055" y="0"/>
                </a:lnTo>
                <a:lnTo>
                  <a:pt x="10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8" name=""/>
          <p:cNvSpPr/>
          <p:nvPr/>
        </p:nvSpPr>
        <p:spPr>
          <a:xfrm>
            <a:off x="7810200" y="6295680"/>
            <a:ext cx="3076920" cy="10080"/>
          </a:xfrm>
          <a:custGeom>
            <a:avLst/>
            <a:gdLst/>
            <a:ahLst/>
            <a:rect l="0" t="0" r="r" b="b"/>
            <a:pathLst>
              <a:path w="8547" h="28">
                <a:moveTo>
                  <a:pt x="0" y="0"/>
                </a:moveTo>
                <a:lnTo>
                  <a:pt x="8547" y="0"/>
                </a:lnTo>
                <a:lnTo>
                  <a:pt x="8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219" name=""/>
          <p:cNvSpPr txBox="1"/>
          <p:nvPr/>
        </p:nvSpPr>
        <p:spPr>
          <a:xfrm>
            <a:off x="747720" y="770400"/>
            <a:ext cx="593964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Drone vs rover — capability matrix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810080" y="1569240"/>
            <a:ext cx="1320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Capability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099760" y="1569240"/>
            <a:ext cx="17960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Drone (today)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8553960" y="1569240"/>
            <a:ext cx="15811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Rover (v1.1)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80920" y="2102760"/>
            <a:ext cx="25063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Offboard handshake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4316400" y="2102760"/>
            <a:ext cx="1887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required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(PX4)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7935840" y="2102760"/>
            <a:ext cx="6163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none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880920" y="2645640"/>
            <a:ext cx="23155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Arm / takeoff / land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4316400" y="2645640"/>
            <a:ext cx="9684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optional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7935840" y="2645640"/>
            <a:ext cx="384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n/a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880920" y="3179160"/>
            <a:ext cx="18266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Altitude control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316400" y="3179160"/>
            <a:ext cx="1643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active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P loop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935840" y="3179160"/>
            <a:ext cx="384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n/a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880920" y="3722040"/>
            <a:ext cx="1198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Yaw units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316400" y="3722040"/>
            <a:ext cx="15051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deg/s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(PX4)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762760" y="372420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29" y="0"/>
                </a:lnTo>
                <a:cubicBezTo>
                  <a:pt x="2340" y="0"/>
                  <a:pt x="2350" y="1"/>
                  <a:pt x="2360" y="3"/>
                </a:cubicBezTo>
                <a:cubicBezTo>
                  <a:pt x="2371" y="5"/>
                  <a:pt x="2381" y="8"/>
                  <a:pt x="2390" y="12"/>
                </a:cubicBezTo>
                <a:cubicBezTo>
                  <a:pt x="2400" y="16"/>
                  <a:pt x="2409" y="21"/>
                  <a:pt x="2418" y="26"/>
                </a:cubicBezTo>
                <a:cubicBezTo>
                  <a:pt x="2426" y="32"/>
                  <a:pt x="2434" y="39"/>
                  <a:pt x="2442" y="46"/>
                </a:cubicBezTo>
                <a:cubicBezTo>
                  <a:pt x="2449" y="54"/>
                  <a:pt x="2456" y="62"/>
                  <a:pt x="2461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7"/>
                  <a:pt x="2483" y="117"/>
                  <a:pt x="2485" y="127"/>
                </a:cubicBezTo>
                <a:cubicBezTo>
                  <a:pt x="2487" y="138"/>
                  <a:pt x="2488" y="148"/>
                  <a:pt x="2488" y="158"/>
                </a:cubicBezTo>
                <a:lnTo>
                  <a:pt x="2488" y="847"/>
                </a:lnTo>
                <a:cubicBezTo>
                  <a:pt x="2488" y="858"/>
                  <a:pt x="2487" y="868"/>
                  <a:pt x="2485" y="878"/>
                </a:cubicBezTo>
                <a:cubicBezTo>
                  <a:pt x="2483" y="889"/>
                  <a:pt x="2480" y="898"/>
                  <a:pt x="2476" y="908"/>
                </a:cubicBezTo>
                <a:cubicBezTo>
                  <a:pt x="2472" y="918"/>
                  <a:pt x="2467" y="927"/>
                  <a:pt x="2461" y="936"/>
                </a:cubicBezTo>
                <a:cubicBezTo>
                  <a:pt x="2456" y="944"/>
                  <a:pt x="2449" y="952"/>
                  <a:pt x="2442" y="960"/>
                </a:cubicBezTo>
                <a:cubicBezTo>
                  <a:pt x="2434" y="967"/>
                  <a:pt x="2426" y="974"/>
                  <a:pt x="2418" y="979"/>
                </a:cubicBezTo>
                <a:cubicBezTo>
                  <a:pt x="2409" y="985"/>
                  <a:pt x="2400" y="990"/>
                  <a:pt x="2390" y="994"/>
                </a:cubicBezTo>
                <a:cubicBezTo>
                  <a:pt x="2381" y="998"/>
                  <a:pt x="2371" y="1001"/>
                  <a:pt x="2360" y="1003"/>
                </a:cubicBezTo>
                <a:cubicBezTo>
                  <a:pt x="2350" y="1005"/>
                  <a:pt x="2340" y="1006"/>
                  <a:pt x="2329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235" name=""/>
          <p:cNvSpPr txBox="1"/>
          <p:nvPr/>
        </p:nvSpPr>
        <p:spPr>
          <a:xfrm>
            <a:off x="7935840" y="3722040"/>
            <a:ext cx="828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rad/s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(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8858880" y="3775680"/>
            <a:ext cx="701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Twist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9657000" y="37220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880920" y="4255200"/>
            <a:ext cx="1626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Wire protocol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4316400" y="4255200"/>
            <a:ext cx="27806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MAVLink via MAVSDK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8839080" y="4267080"/>
            <a:ext cx="895680" cy="352800"/>
          </a:xfrm>
          <a:custGeom>
            <a:avLst/>
            <a:gdLst/>
            <a:ahLst/>
            <a:rect l="0" t="0" r="r" b="b"/>
            <a:pathLst>
              <a:path w="2488" h="98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29" y="0"/>
                </a:lnTo>
                <a:cubicBezTo>
                  <a:pt x="2340" y="0"/>
                  <a:pt x="2350" y="1"/>
                  <a:pt x="2360" y="3"/>
                </a:cubicBezTo>
                <a:cubicBezTo>
                  <a:pt x="2370" y="5"/>
                  <a:pt x="2380" y="8"/>
                  <a:pt x="2390" y="12"/>
                </a:cubicBezTo>
                <a:cubicBezTo>
                  <a:pt x="2400" y="16"/>
                  <a:pt x="2409" y="21"/>
                  <a:pt x="2417" y="27"/>
                </a:cubicBezTo>
                <a:cubicBezTo>
                  <a:pt x="2426" y="32"/>
                  <a:pt x="2434" y="39"/>
                  <a:pt x="2441" y="46"/>
                </a:cubicBezTo>
                <a:cubicBezTo>
                  <a:pt x="2449" y="54"/>
                  <a:pt x="2455" y="62"/>
                  <a:pt x="2461" y="70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7"/>
                  <a:pt x="2483" y="117"/>
                  <a:pt x="2485" y="128"/>
                </a:cubicBezTo>
                <a:cubicBezTo>
                  <a:pt x="2487" y="138"/>
                  <a:pt x="2488" y="148"/>
                  <a:pt x="2488" y="159"/>
                </a:cubicBezTo>
                <a:lnTo>
                  <a:pt x="2488" y="821"/>
                </a:lnTo>
                <a:cubicBezTo>
                  <a:pt x="2488" y="831"/>
                  <a:pt x="2487" y="842"/>
                  <a:pt x="2485" y="852"/>
                </a:cubicBezTo>
                <a:cubicBezTo>
                  <a:pt x="2483" y="862"/>
                  <a:pt x="2480" y="872"/>
                  <a:pt x="2476" y="882"/>
                </a:cubicBezTo>
                <a:cubicBezTo>
                  <a:pt x="2472" y="891"/>
                  <a:pt x="2467" y="901"/>
                  <a:pt x="2461" y="909"/>
                </a:cubicBezTo>
                <a:cubicBezTo>
                  <a:pt x="2455" y="918"/>
                  <a:pt x="2449" y="926"/>
                  <a:pt x="2441" y="933"/>
                </a:cubicBezTo>
                <a:cubicBezTo>
                  <a:pt x="2434" y="941"/>
                  <a:pt x="2426" y="947"/>
                  <a:pt x="2417" y="953"/>
                </a:cubicBezTo>
                <a:cubicBezTo>
                  <a:pt x="2409" y="959"/>
                  <a:pt x="2400" y="964"/>
                  <a:pt x="2390" y="968"/>
                </a:cubicBezTo>
                <a:cubicBezTo>
                  <a:pt x="2380" y="972"/>
                  <a:pt x="2370" y="975"/>
                  <a:pt x="2360" y="977"/>
                </a:cubicBezTo>
                <a:cubicBezTo>
                  <a:pt x="2350" y="979"/>
                  <a:pt x="2340" y="980"/>
                  <a:pt x="2329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1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241" name=""/>
          <p:cNvSpPr txBox="1"/>
          <p:nvPr/>
        </p:nvSpPr>
        <p:spPr>
          <a:xfrm>
            <a:off x="7935840" y="4255200"/>
            <a:ext cx="9061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ROS 2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8935560" y="4318560"/>
            <a:ext cx="701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Twist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880920" y="4798440"/>
            <a:ext cx="1751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Actuator stack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316400" y="4798440"/>
            <a:ext cx="3368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mavsdk_server subprocess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935840" y="4798440"/>
            <a:ext cx="2818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rclpy + executor thread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80920" y="5331600"/>
            <a:ext cx="3179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Bottom-edge safety policy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316400" y="5331600"/>
            <a:ext cx="2652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retreat (tilt headroom)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935840" y="5331600"/>
            <a:ext cx="1305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slow / stop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80920" y="5874480"/>
            <a:ext cx="29970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Yaw-spin search on loss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316400" y="5874480"/>
            <a:ext cx="9381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allowed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935840" y="5874480"/>
            <a:ext cx="1890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typically denied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104840" y="6514920"/>
            <a:ext cx="1876680" cy="352800"/>
          </a:xfrm>
          <a:custGeom>
            <a:avLst/>
            <a:gdLst/>
            <a:ahLst/>
            <a:rect l="0" t="0" r="r" b="b"/>
            <a:pathLst>
              <a:path w="5213" h="980">
                <a:moveTo>
                  <a:pt x="0" y="82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054" y="0"/>
                </a:lnTo>
                <a:cubicBezTo>
                  <a:pt x="5065" y="0"/>
                  <a:pt x="5075" y="1"/>
                  <a:pt x="5085" y="3"/>
                </a:cubicBezTo>
                <a:cubicBezTo>
                  <a:pt x="5095" y="5"/>
                  <a:pt x="5105" y="8"/>
                  <a:pt x="5115" y="12"/>
                </a:cubicBezTo>
                <a:cubicBezTo>
                  <a:pt x="5125" y="16"/>
                  <a:pt x="5134" y="21"/>
                  <a:pt x="5142" y="27"/>
                </a:cubicBezTo>
                <a:cubicBezTo>
                  <a:pt x="5151" y="33"/>
                  <a:pt x="5159" y="39"/>
                  <a:pt x="5166" y="46"/>
                </a:cubicBezTo>
                <a:cubicBezTo>
                  <a:pt x="5174" y="54"/>
                  <a:pt x="5180" y="62"/>
                  <a:pt x="5186" y="71"/>
                </a:cubicBezTo>
                <a:cubicBezTo>
                  <a:pt x="5192" y="79"/>
                  <a:pt x="5197" y="88"/>
                  <a:pt x="5201" y="98"/>
                </a:cubicBezTo>
                <a:cubicBezTo>
                  <a:pt x="5205" y="108"/>
                  <a:pt x="5208" y="118"/>
                  <a:pt x="5210" y="128"/>
                </a:cubicBezTo>
                <a:cubicBezTo>
                  <a:pt x="5212" y="138"/>
                  <a:pt x="5213" y="148"/>
                  <a:pt x="5213" y="159"/>
                </a:cubicBezTo>
                <a:lnTo>
                  <a:pt x="5213" y="820"/>
                </a:lnTo>
                <a:cubicBezTo>
                  <a:pt x="5213" y="831"/>
                  <a:pt x="5212" y="841"/>
                  <a:pt x="5210" y="851"/>
                </a:cubicBezTo>
                <a:cubicBezTo>
                  <a:pt x="5208" y="861"/>
                  <a:pt x="5205" y="871"/>
                  <a:pt x="5201" y="881"/>
                </a:cubicBezTo>
                <a:cubicBezTo>
                  <a:pt x="5197" y="891"/>
                  <a:pt x="5192" y="900"/>
                  <a:pt x="5186" y="908"/>
                </a:cubicBezTo>
                <a:cubicBezTo>
                  <a:pt x="5180" y="917"/>
                  <a:pt x="5174" y="925"/>
                  <a:pt x="5166" y="932"/>
                </a:cubicBezTo>
                <a:cubicBezTo>
                  <a:pt x="5159" y="940"/>
                  <a:pt x="5151" y="946"/>
                  <a:pt x="5142" y="952"/>
                </a:cubicBezTo>
                <a:cubicBezTo>
                  <a:pt x="5134" y="958"/>
                  <a:pt x="5125" y="963"/>
                  <a:pt x="5115" y="967"/>
                </a:cubicBezTo>
                <a:cubicBezTo>
                  <a:pt x="5105" y="971"/>
                  <a:pt x="5095" y="975"/>
                  <a:pt x="5085" y="977"/>
                </a:cubicBezTo>
                <a:cubicBezTo>
                  <a:pt x="5075" y="979"/>
                  <a:pt x="5065" y="980"/>
                  <a:pt x="5054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1"/>
                  <a:pt x="98" y="967"/>
                </a:cubicBezTo>
                <a:cubicBezTo>
                  <a:pt x="88" y="963"/>
                  <a:pt x="79" y="958"/>
                  <a:pt x="70" y="952"/>
                </a:cubicBezTo>
                <a:cubicBezTo>
                  <a:pt x="62" y="946"/>
                  <a:pt x="54" y="940"/>
                  <a:pt x="46" y="932"/>
                </a:cubicBezTo>
                <a:cubicBezTo>
                  <a:pt x="39" y="925"/>
                  <a:pt x="32" y="917"/>
                  <a:pt x="26" y="908"/>
                </a:cubicBezTo>
                <a:cubicBezTo>
                  <a:pt x="21" y="900"/>
                  <a:pt x="16" y="891"/>
                  <a:pt x="12" y="881"/>
                </a:cubicBezTo>
                <a:cubicBezTo>
                  <a:pt x="8" y="871"/>
                  <a:pt x="5" y="861"/>
                  <a:pt x="3" y="851"/>
                </a:cubicBezTo>
                <a:cubicBezTo>
                  <a:pt x="1" y="841"/>
                  <a:pt x="0" y="831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253" name=""/>
          <p:cNvSpPr txBox="1"/>
          <p:nvPr/>
        </p:nvSpPr>
        <p:spPr>
          <a:xfrm>
            <a:off x="747720" y="6503400"/>
            <a:ext cx="3528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→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194480" y="6566400"/>
            <a:ext cx="16833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Capabilities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4533840" y="6514920"/>
            <a:ext cx="895680" cy="352800"/>
          </a:xfrm>
          <a:custGeom>
            <a:avLst/>
            <a:gdLst/>
            <a:ahLst/>
            <a:rect l="0" t="0" r="r" b="b"/>
            <a:pathLst>
              <a:path w="2488" h="980">
                <a:moveTo>
                  <a:pt x="0" y="82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329" y="0"/>
                </a:lnTo>
                <a:cubicBezTo>
                  <a:pt x="2339" y="0"/>
                  <a:pt x="2350" y="1"/>
                  <a:pt x="2360" y="3"/>
                </a:cubicBezTo>
                <a:cubicBezTo>
                  <a:pt x="2370" y="5"/>
                  <a:pt x="2380" y="8"/>
                  <a:pt x="2390" y="12"/>
                </a:cubicBezTo>
                <a:cubicBezTo>
                  <a:pt x="2399" y="16"/>
                  <a:pt x="2409" y="21"/>
                  <a:pt x="2417" y="27"/>
                </a:cubicBezTo>
                <a:cubicBezTo>
                  <a:pt x="2426" y="33"/>
                  <a:pt x="2434" y="39"/>
                  <a:pt x="2441" y="46"/>
                </a:cubicBezTo>
                <a:cubicBezTo>
                  <a:pt x="2449" y="54"/>
                  <a:pt x="2455" y="62"/>
                  <a:pt x="2461" y="71"/>
                </a:cubicBezTo>
                <a:cubicBezTo>
                  <a:pt x="2467" y="79"/>
                  <a:pt x="2472" y="88"/>
                  <a:pt x="2476" y="98"/>
                </a:cubicBezTo>
                <a:cubicBezTo>
                  <a:pt x="2480" y="108"/>
                  <a:pt x="2483" y="118"/>
                  <a:pt x="2485" y="128"/>
                </a:cubicBezTo>
                <a:cubicBezTo>
                  <a:pt x="2487" y="138"/>
                  <a:pt x="2488" y="148"/>
                  <a:pt x="2488" y="159"/>
                </a:cubicBezTo>
                <a:lnTo>
                  <a:pt x="2488" y="820"/>
                </a:lnTo>
                <a:cubicBezTo>
                  <a:pt x="2488" y="831"/>
                  <a:pt x="2487" y="841"/>
                  <a:pt x="2485" y="851"/>
                </a:cubicBezTo>
                <a:cubicBezTo>
                  <a:pt x="2483" y="861"/>
                  <a:pt x="2480" y="871"/>
                  <a:pt x="2476" y="881"/>
                </a:cubicBezTo>
                <a:cubicBezTo>
                  <a:pt x="2472" y="891"/>
                  <a:pt x="2467" y="900"/>
                  <a:pt x="2461" y="908"/>
                </a:cubicBezTo>
                <a:cubicBezTo>
                  <a:pt x="2455" y="917"/>
                  <a:pt x="2449" y="925"/>
                  <a:pt x="2441" y="932"/>
                </a:cubicBezTo>
                <a:cubicBezTo>
                  <a:pt x="2434" y="940"/>
                  <a:pt x="2426" y="946"/>
                  <a:pt x="2417" y="952"/>
                </a:cubicBezTo>
                <a:cubicBezTo>
                  <a:pt x="2409" y="958"/>
                  <a:pt x="2399" y="963"/>
                  <a:pt x="2390" y="967"/>
                </a:cubicBezTo>
                <a:cubicBezTo>
                  <a:pt x="2380" y="971"/>
                  <a:pt x="2370" y="975"/>
                  <a:pt x="2360" y="977"/>
                </a:cubicBezTo>
                <a:cubicBezTo>
                  <a:pt x="2350" y="979"/>
                  <a:pt x="2339" y="980"/>
                  <a:pt x="2329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1"/>
                  <a:pt x="98" y="967"/>
                </a:cubicBezTo>
                <a:cubicBezTo>
                  <a:pt x="88" y="963"/>
                  <a:pt x="79" y="958"/>
                  <a:pt x="70" y="952"/>
                </a:cubicBezTo>
                <a:cubicBezTo>
                  <a:pt x="62" y="946"/>
                  <a:pt x="54" y="940"/>
                  <a:pt x="46" y="932"/>
                </a:cubicBezTo>
                <a:cubicBezTo>
                  <a:pt x="39" y="925"/>
                  <a:pt x="32" y="917"/>
                  <a:pt x="26" y="908"/>
                </a:cubicBezTo>
                <a:cubicBezTo>
                  <a:pt x="21" y="900"/>
                  <a:pt x="16" y="891"/>
                  <a:pt x="12" y="881"/>
                </a:cubicBezTo>
                <a:cubicBezTo>
                  <a:pt x="8" y="871"/>
                  <a:pt x="5" y="861"/>
                  <a:pt x="3" y="851"/>
                </a:cubicBezTo>
                <a:cubicBezTo>
                  <a:pt x="1" y="841"/>
                  <a:pt x="0" y="831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256" name=""/>
          <p:cNvSpPr txBox="1"/>
          <p:nvPr/>
        </p:nvSpPr>
        <p:spPr>
          <a:xfrm>
            <a:off x="2978640" y="6503400"/>
            <a:ext cx="1559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dataclass +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4631400" y="6566400"/>
            <a:ext cx="701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Robot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5429520" y="6503400"/>
            <a:ext cx="28386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protocol formalise this.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5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63" name=""/>
          <p:cNvSpPr/>
          <p:nvPr/>
        </p:nvSpPr>
        <p:spPr>
          <a:xfrm>
            <a:off x="757080" y="1461960"/>
            <a:ext cx="10687320" cy="4905720"/>
          </a:xfrm>
          <a:custGeom>
            <a:avLst/>
            <a:gdLst/>
            <a:ahLst/>
            <a:rect l="0" t="0" r="r" b="b"/>
            <a:pathLst>
              <a:path w="29687" h="13627">
                <a:moveTo>
                  <a:pt x="0" y="1348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3481"/>
                </a:lnTo>
                <a:cubicBezTo>
                  <a:pt x="29687" y="13491"/>
                  <a:pt x="29686" y="13500"/>
                  <a:pt x="29684" y="13510"/>
                </a:cubicBezTo>
                <a:cubicBezTo>
                  <a:pt x="29683" y="13519"/>
                  <a:pt x="29680" y="13528"/>
                  <a:pt x="29676" y="13537"/>
                </a:cubicBezTo>
                <a:cubicBezTo>
                  <a:pt x="29672" y="13546"/>
                  <a:pt x="29668" y="13554"/>
                  <a:pt x="29663" y="13562"/>
                </a:cubicBezTo>
                <a:cubicBezTo>
                  <a:pt x="29657" y="13570"/>
                  <a:pt x="29651" y="13578"/>
                  <a:pt x="29645" y="13584"/>
                </a:cubicBezTo>
                <a:cubicBezTo>
                  <a:pt x="29638" y="13591"/>
                  <a:pt x="29630" y="13597"/>
                  <a:pt x="29623" y="13602"/>
                </a:cubicBezTo>
                <a:cubicBezTo>
                  <a:pt x="29615" y="13608"/>
                  <a:pt x="29606" y="13612"/>
                  <a:pt x="29597" y="13616"/>
                </a:cubicBezTo>
                <a:cubicBezTo>
                  <a:pt x="29589" y="13619"/>
                  <a:pt x="29579" y="13622"/>
                  <a:pt x="29570" y="13624"/>
                </a:cubicBezTo>
                <a:cubicBezTo>
                  <a:pt x="29561" y="13626"/>
                  <a:pt x="29551" y="13627"/>
                  <a:pt x="29542" y="13627"/>
                </a:cubicBezTo>
                <a:lnTo>
                  <a:pt x="145" y="13627"/>
                </a:lnTo>
                <a:cubicBezTo>
                  <a:pt x="136" y="13627"/>
                  <a:pt x="126" y="13626"/>
                  <a:pt x="117" y="13624"/>
                </a:cubicBezTo>
                <a:cubicBezTo>
                  <a:pt x="108" y="13622"/>
                  <a:pt x="99" y="13619"/>
                  <a:pt x="90" y="13616"/>
                </a:cubicBezTo>
                <a:cubicBezTo>
                  <a:pt x="81" y="13612"/>
                  <a:pt x="73" y="13608"/>
                  <a:pt x="65" y="13602"/>
                </a:cubicBezTo>
                <a:cubicBezTo>
                  <a:pt x="57" y="13597"/>
                  <a:pt x="49" y="13591"/>
                  <a:pt x="43" y="13584"/>
                </a:cubicBezTo>
                <a:cubicBezTo>
                  <a:pt x="36" y="13578"/>
                  <a:pt x="30" y="13570"/>
                  <a:pt x="24" y="13562"/>
                </a:cubicBezTo>
                <a:cubicBezTo>
                  <a:pt x="19" y="13554"/>
                  <a:pt x="15" y="13546"/>
                  <a:pt x="11" y="13537"/>
                </a:cubicBezTo>
                <a:cubicBezTo>
                  <a:pt x="7" y="13528"/>
                  <a:pt x="5" y="13519"/>
                  <a:pt x="3" y="13510"/>
                </a:cubicBezTo>
                <a:cubicBezTo>
                  <a:pt x="1" y="13500"/>
                  <a:pt x="0" y="13491"/>
                  <a:pt x="0" y="1348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264" name=""/>
          <p:cNvSpPr/>
          <p:nvPr/>
        </p:nvSpPr>
        <p:spPr>
          <a:xfrm>
            <a:off x="757080" y="1461960"/>
            <a:ext cx="10687320" cy="4905720"/>
          </a:xfrm>
          <a:custGeom>
            <a:avLst/>
            <a:gdLst/>
            <a:ahLst/>
            <a:rect l="0" t="0" r="r" b="b"/>
            <a:pathLst>
              <a:path w="29687" h="13627">
                <a:moveTo>
                  <a:pt x="0" y="1348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3481"/>
                </a:lnTo>
                <a:cubicBezTo>
                  <a:pt x="29687" y="13491"/>
                  <a:pt x="29686" y="13500"/>
                  <a:pt x="29684" y="13510"/>
                </a:cubicBezTo>
                <a:cubicBezTo>
                  <a:pt x="29683" y="13519"/>
                  <a:pt x="29680" y="13528"/>
                  <a:pt x="29676" y="13537"/>
                </a:cubicBezTo>
                <a:cubicBezTo>
                  <a:pt x="29672" y="13546"/>
                  <a:pt x="29668" y="13554"/>
                  <a:pt x="29663" y="13562"/>
                </a:cubicBezTo>
                <a:cubicBezTo>
                  <a:pt x="29657" y="13570"/>
                  <a:pt x="29651" y="13578"/>
                  <a:pt x="29645" y="13584"/>
                </a:cubicBezTo>
                <a:cubicBezTo>
                  <a:pt x="29638" y="13591"/>
                  <a:pt x="29630" y="13597"/>
                  <a:pt x="29623" y="13602"/>
                </a:cubicBezTo>
                <a:cubicBezTo>
                  <a:pt x="29615" y="13608"/>
                  <a:pt x="29606" y="13612"/>
                  <a:pt x="29597" y="13616"/>
                </a:cubicBezTo>
                <a:cubicBezTo>
                  <a:pt x="29589" y="13619"/>
                  <a:pt x="29579" y="13622"/>
                  <a:pt x="29570" y="13624"/>
                </a:cubicBezTo>
                <a:cubicBezTo>
                  <a:pt x="29561" y="13626"/>
                  <a:pt x="29551" y="13627"/>
                  <a:pt x="29542" y="13627"/>
                </a:cubicBezTo>
                <a:lnTo>
                  <a:pt x="145" y="13627"/>
                </a:lnTo>
                <a:cubicBezTo>
                  <a:pt x="136" y="13627"/>
                  <a:pt x="126" y="13626"/>
                  <a:pt x="117" y="13624"/>
                </a:cubicBezTo>
                <a:cubicBezTo>
                  <a:pt x="108" y="13622"/>
                  <a:pt x="99" y="13619"/>
                  <a:pt x="90" y="13616"/>
                </a:cubicBezTo>
                <a:cubicBezTo>
                  <a:pt x="81" y="13612"/>
                  <a:pt x="73" y="13608"/>
                  <a:pt x="65" y="13602"/>
                </a:cubicBezTo>
                <a:cubicBezTo>
                  <a:pt x="57" y="13597"/>
                  <a:pt x="49" y="13591"/>
                  <a:pt x="43" y="13584"/>
                </a:cubicBezTo>
                <a:cubicBezTo>
                  <a:pt x="36" y="13578"/>
                  <a:pt x="30" y="13570"/>
                  <a:pt x="24" y="13562"/>
                </a:cubicBezTo>
                <a:cubicBezTo>
                  <a:pt x="19" y="13554"/>
                  <a:pt x="15" y="13546"/>
                  <a:pt x="11" y="13537"/>
                </a:cubicBezTo>
                <a:cubicBezTo>
                  <a:pt x="7" y="13528"/>
                  <a:pt x="5" y="13519"/>
                  <a:pt x="3" y="13510"/>
                </a:cubicBezTo>
                <a:cubicBezTo>
                  <a:pt x="1" y="13500"/>
                  <a:pt x="0" y="13491"/>
                  <a:pt x="0" y="1348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265" name=""/>
          <p:cNvSpPr txBox="1"/>
          <p:nvPr/>
        </p:nvSpPr>
        <p:spPr>
          <a:xfrm>
            <a:off x="747720" y="770400"/>
            <a:ext cx="277596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Codebase today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914400" y="1623600"/>
            <a:ext cx="1823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drone_follow/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914400" y="1890360"/>
            <a:ext cx="7992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drone_follow_app.py        ◄── composition root + CLI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914400" y="216648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follow_api/                ◄── pure domain (stdlib only)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914400" y="2433240"/>
            <a:ext cx="7992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types.py               VelocityCommand, Detection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914400" y="270000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state.py               SharedDetectionState, FollowTargetState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914400" y="2976120"/>
            <a:ext cx="6590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config.py              ControllerConfig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914400" y="3242880"/>
            <a:ext cx="7712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└──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controller.py          compute_velocity_command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914400" y="3509640"/>
            <a:ext cx="5749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drone_api/                 ◄── MAVSDK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914400" y="3785760"/>
            <a:ext cx="3225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└──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mavsdk_drone.py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914400" y="4052520"/>
            <a:ext cx="96750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pipeline_adapter/          ◄── Hailo + GStreamer + tracker + ReID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914400" y="4319280"/>
            <a:ext cx="8693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hailo_drone_detection_manager.py   (callback hot path)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914400" y="4595400"/>
            <a:ext cx="9254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vision_branches.py     (display / record / openhd / webui)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914400" y="4862160"/>
            <a:ext cx="3225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reid_manager.py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914400" y="5128920"/>
            <a:ext cx="8693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│   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byte_tracker.py / fast_tracker.py / tracker_factory.py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914400" y="5405040"/>
            <a:ext cx="9955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servers/                   ◄── follow + web (MJPEG) + openhd_bridge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914400" y="5671800"/>
            <a:ext cx="7151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├──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ui/                        ◄── Vite 8 / Node 20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914400" y="5947920"/>
            <a:ext cx="1402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└──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tests/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6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287" name=""/>
          <p:cNvSpPr/>
          <p:nvPr/>
        </p:nvSpPr>
        <p:spPr>
          <a:xfrm>
            <a:off x="757080" y="1471320"/>
            <a:ext cx="10687320" cy="3638880"/>
          </a:xfrm>
          <a:custGeom>
            <a:avLst/>
            <a:gdLst/>
            <a:ahLst/>
            <a:rect l="0" t="0" r="r" b="b"/>
            <a:pathLst>
              <a:path w="29687" h="10108">
                <a:moveTo>
                  <a:pt x="0" y="996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9963"/>
                </a:lnTo>
                <a:cubicBezTo>
                  <a:pt x="29687" y="9972"/>
                  <a:pt x="29686" y="9982"/>
                  <a:pt x="29684" y="9991"/>
                </a:cubicBezTo>
                <a:cubicBezTo>
                  <a:pt x="29683" y="10001"/>
                  <a:pt x="29680" y="10010"/>
                  <a:pt x="29676" y="10019"/>
                </a:cubicBezTo>
                <a:cubicBezTo>
                  <a:pt x="29672" y="10027"/>
                  <a:pt x="29668" y="10036"/>
                  <a:pt x="29663" y="10044"/>
                </a:cubicBezTo>
                <a:cubicBezTo>
                  <a:pt x="29657" y="10052"/>
                  <a:pt x="29651" y="10059"/>
                  <a:pt x="29645" y="10066"/>
                </a:cubicBezTo>
                <a:cubicBezTo>
                  <a:pt x="29638" y="10073"/>
                  <a:pt x="29630" y="10079"/>
                  <a:pt x="29623" y="10084"/>
                </a:cubicBezTo>
                <a:cubicBezTo>
                  <a:pt x="29615" y="10089"/>
                  <a:pt x="29606" y="10094"/>
                  <a:pt x="29597" y="10097"/>
                </a:cubicBezTo>
                <a:cubicBezTo>
                  <a:pt x="29589" y="10101"/>
                  <a:pt x="29579" y="10104"/>
                  <a:pt x="29570" y="10106"/>
                </a:cubicBezTo>
                <a:cubicBezTo>
                  <a:pt x="29561" y="10107"/>
                  <a:pt x="29551" y="10108"/>
                  <a:pt x="29542" y="10108"/>
                </a:cubicBezTo>
                <a:lnTo>
                  <a:pt x="145" y="10108"/>
                </a:lnTo>
                <a:cubicBezTo>
                  <a:pt x="136" y="10108"/>
                  <a:pt x="126" y="10107"/>
                  <a:pt x="117" y="10106"/>
                </a:cubicBezTo>
                <a:cubicBezTo>
                  <a:pt x="108" y="10104"/>
                  <a:pt x="99" y="10101"/>
                  <a:pt x="90" y="10097"/>
                </a:cubicBezTo>
                <a:cubicBezTo>
                  <a:pt x="81" y="10094"/>
                  <a:pt x="73" y="10089"/>
                  <a:pt x="65" y="10084"/>
                </a:cubicBezTo>
                <a:cubicBezTo>
                  <a:pt x="57" y="10079"/>
                  <a:pt x="49" y="10073"/>
                  <a:pt x="43" y="10066"/>
                </a:cubicBezTo>
                <a:cubicBezTo>
                  <a:pt x="36" y="10059"/>
                  <a:pt x="30" y="10052"/>
                  <a:pt x="24" y="10044"/>
                </a:cubicBezTo>
                <a:cubicBezTo>
                  <a:pt x="19" y="10036"/>
                  <a:pt x="15" y="10027"/>
                  <a:pt x="11" y="10019"/>
                </a:cubicBezTo>
                <a:cubicBezTo>
                  <a:pt x="7" y="10010"/>
                  <a:pt x="5" y="10001"/>
                  <a:pt x="3" y="9991"/>
                </a:cubicBezTo>
                <a:cubicBezTo>
                  <a:pt x="1" y="9982"/>
                  <a:pt x="0" y="9972"/>
                  <a:pt x="0" y="996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288" name=""/>
          <p:cNvSpPr/>
          <p:nvPr/>
        </p:nvSpPr>
        <p:spPr>
          <a:xfrm>
            <a:off x="757080" y="1471320"/>
            <a:ext cx="10687320" cy="3638880"/>
          </a:xfrm>
          <a:custGeom>
            <a:avLst/>
            <a:gdLst/>
            <a:ahLst/>
            <a:rect l="0" t="0" r="r" b="b"/>
            <a:pathLst>
              <a:path w="29687" h="10108">
                <a:moveTo>
                  <a:pt x="0" y="996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9963"/>
                </a:lnTo>
                <a:cubicBezTo>
                  <a:pt x="29687" y="9972"/>
                  <a:pt x="29686" y="9982"/>
                  <a:pt x="29684" y="9991"/>
                </a:cubicBezTo>
                <a:cubicBezTo>
                  <a:pt x="29683" y="10001"/>
                  <a:pt x="29680" y="10010"/>
                  <a:pt x="29676" y="10019"/>
                </a:cubicBezTo>
                <a:cubicBezTo>
                  <a:pt x="29672" y="10027"/>
                  <a:pt x="29668" y="10036"/>
                  <a:pt x="29663" y="10044"/>
                </a:cubicBezTo>
                <a:cubicBezTo>
                  <a:pt x="29657" y="10052"/>
                  <a:pt x="29651" y="10059"/>
                  <a:pt x="29645" y="10066"/>
                </a:cubicBezTo>
                <a:cubicBezTo>
                  <a:pt x="29638" y="10073"/>
                  <a:pt x="29630" y="10079"/>
                  <a:pt x="29623" y="10084"/>
                </a:cubicBezTo>
                <a:cubicBezTo>
                  <a:pt x="29615" y="10089"/>
                  <a:pt x="29606" y="10094"/>
                  <a:pt x="29597" y="10097"/>
                </a:cubicBezTo>
                <a:cubicBezTo>
                  <a:pt x="29589" y="10101"/>
                  <a:pt x="29579" y="10104"/>
                  <a:pt x="29570" y="10106"/>
                </a:cubicBezTo>
                <a:cubicBezTo>
                  <a:pt x="29561" y="10107"/>
                  <a:pt x="29551" y="10108"/>
                  <a:pt x="29542" y="10108"/>
                </a:cubicBezTo>
                <a:lnTo>
                  <a:pt x="145" y="10108"/>
                </a:lnTo>
                <a:cubicBezTo>
                  <a:pt x="136" y="10108"/>
                  <a:pt x="126" y="10107"/>
                  <a:pt x="117" y="10106"/>
                </a:cubicBezTo>
                <a:cubicBezTo>
                  <a:pt x="108" y="10104"/>
                  <a:pt x="99" y="10101"/>
                  <a:pt x="90" y="10097"/>
                </a:cubicBezTo>
                <a:cubicBezTo>
                  <a:pt x="81" y="10094"/>
                  <a:pt x="73" y="10089"/>
                  <a:pt x="65" y="10084"/>
                </a:cubicBezTo>
                <a:cubicBezTo>
                  <a:pt x="57" y="10079"/>
                  <a:pt x="49" y="10073"/>
                  <a:pt x="43" y="10066"/>
                </a:cubicBezTo>
                <a:cubicBezTo>
                  <a:pt x="36" y="10059"/>
                  <a:pt x="30" y="10052"/>
                  <a:pt x="24" y="10044"/>
                </a:cubicBezTo>
                <a:cubicBezTo>
                  <a:pt x="19" y="10036"/>
                  <a:pt x="15" y="10027"/>
                  <a:pt x="11" y="10019"/>
                </a:cubicBezTo>
                <a:cubicBezTo>
                  <a:pt x="7" y="10010"/>
                  <a:pt x="5" y="10001"/>
                  <a:pt x="3" y="9991"/>
                </a:cubicBezTo>
                <a:cubicBezTo>
                  <a:pt x="1" y="9982"/>
                  <a:pt x="0" y="9972"/>
                  <a:pt x="0" y="996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289" name=""/>
          <p:cNvSpPr txBox="1"/>
          <p:nvPr/>
        </p:nvSpPr>
        <p:spPr>
          <a:xfrm>
            <a:off x="747720" y="779760"/>
            <a:ext cx="28980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Threading model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914400" y="1632240"/>
            <a:ext cx="787680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GStreamer C lib (Hailo callback)            Main thread (asyncio)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914400" y="1850760"/>
            <a:ext cx="926676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─────────────────────────────────           ─────────────────────────────────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914400" y="2076480"/>
            <a:ext cx="845568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detection_callback(persons)                 live_control_loop @ ~30 Hz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914400" y="2294640"/>
            <a:ext cx="613944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     │                                           │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914400" y="2513160"/>
            <a:ext cx="880344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     │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ByteTracker.update(persons)              │  read latest detection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914400" y="2738880"/>
            <a:ext cx="915084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     │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ReIDManager.update_gallery               │  compute_velocity_command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914400" y="2957040"/>
            <a:ext cx="903492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     │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shared_state.update(detection)           │  VelocityCommandAPI.send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914400" y="3175560"/>
            <a:ext cx="613944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     ▼                                           ▼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914400" y="3401280"/>
            <a:ext cx="857160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SharedDetectionState  ◄── lock ────►        MAVSDK offboard stream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914400" y="3619440"/>
            <a:ext cx="915084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(telemetry tasks cache alt)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914400" y="4063680"/>
            <a:ext cx="996156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FollowServer (HTTP)        WebServer (HTTP + SSE + MJPEG)        OpenHDBridge (UDP)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914400" y="4281840"/>
            <a:ext cx="1030896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─────────────────────      ────────────────────────────────       ────────────────────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914400" y="4500360"/>
            <a:ext cx="1042488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click-to-follow            live tuning, video, status             follow_id, bbox msgs,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914400" y="4726080"/>
            <a:ext cx="9845640" cy="21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10" spc="-1" strike="noStrike">
                <a:solidFill>
                  <a:srgbClr val="1f2328"/>
                </a:solidFill>
                <a:latin typeface="Courier New"/>
              </a:rPr>
              <a:t>FollowTargetState          SharedDetectionState                   bitrate feedback</a:t>
            </a:r>
            <a:endParaRPr b="0" lang="en-US" sz="1510" spc="-1" strike="noStrike"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747720" y="5312520"/>
            <a:ext cx="105606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3 worlds: detection writes, control reads, servers expose. All cross-thread state is lock-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47720" y="5722200"/>
            <a:ext cx="1091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guarded.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7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10" name=""/>
          <p:cNvSpPr/>
          <p:nvPr/>
        </p:nvSpPr>
        <p:spPr>
          <a:xfrm>
            <a:off x="757080" y="1461960"/>
            <a:ext cx="10687320" cy="4638960"/>
          </a:xfrm>
          <a:custGeom>
            <a:avLst/>
            <a:gdLst/>
            <a:ahLst/>
            <a:rect l="0" t="0" r="r" b="b"/>
            <a:pathLst>
              <a:path w="29687" h="12886">
                <a:moveTo>
                  <a:pt x="0" y="127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741"/>
                </a:lnTo>
                <a:cubicBezTo>
                  <a:pt x="29687" y="12750"/>
                  <a:pt x="29686" y="12760"/>
                  <a:pt x="29684" y="12769"/>
                </a:cubicBezTo>
                <a:cubicBezTo>
                  <a:pt x="29683" y="12778"/>
                  <a:pt x="29680" y="12787"/>
                  <a:pt x="29676" y="12796"/>
                </a:cubicBezTo>
                <a:cubicBezTo>
                  <a:pt x="29672" y="12805"/>
                  <a:pt x="29668" y="12813"/>
                  <a:pt x="29663" y="12821"/>
                </a:cubicBezTo>
                <a:cubicBezTo>
                  <a:pt x="29657" y="12829"/>
                  <a:pt x="29651" y="12837"/>
                  <a:pt x="29645" y="12843"/>
                </a:cubicBezTo>
                <a:cubicBezTo>
                  <a:pt x="29638" y="12850"/>
                  <a:pt x="29630" y="12856"/>
                  <a:pt x="29623" y="12862"/>
                </a:cubicBezTo>
                <a:cubicBezTo>
                  <a:pt x="29615" y="12867"/>
                  <a:pt x="29606" y="12871"/>
                  <a:pt x="29597" y="12875"/>
                </a:cubicBezTo>
                <a:cubicBezTo>
                  <a:pt x="29589" y="12879"/>
                  <a:pt x="29579" y="12881"/>
                  <a:pt x="29570" y="12883"/>
                </a:cubicBezTo>
                <a:cubicBezTo>
                  <a:pt x="29561" y="12885"/>
                  <a:pt x="29551" y="12886"/>
                  <a:pt x="29542" y="12886"/>
                </a:cubicBezTo>
                <a:lnTo>
                  <a:pt x="145" y="12886"/>
                </a:lnTo>
                <a:cubicBezTo>
                  <a:pt x="136" y="12886"/>
                  <a:pt x="126" y="12885"/>
                  <a:pt x="117" y="12883"/>
                </a:cubicBezTo>
                <a:cubicBezTo>
                  <a:pt x="108" y="12881"/>
                  <a:pt x="99" y="12879"/>
                  <a:pt x="90" y="12875"/>
                </a:cubicBezTo>
                <a:cubicBezTo>
                  <a:pt x="81" y="12871"/>
                  <a:pt x="73" y="12867"/>
                  <a:pt x="65" y="12862"/>
                </a:cubicBezTo>
                <a:cubicBezTo>
                  <a:pt x="57" y="12856"/>
                  <a:pt x="49" y="12850"/>
                  <a:pt x="43" y="12843"/>
                </a:cubicBezTo>
                <a:cubicBezTo>
                  <a:pt x="36" y="12837"/>
                  <a:pt x="30" y="12829"/>
                  <a:pt x="24" y="12821"/>
                </a:cubicBezTo>
                <a:cubicBezTo>
                  <a:pt x="19" y="12813"/>
                  <a:pt x="15" y="12805"/>
                  <a:pt x="11" y="12796"/>
                </a:cubicBezTo>
                <a:cubicBezTo>
                  <a:pt x="7" y="12787"/>
                  <a:pt x="5" y="12778"/>
                  <a:pt x="3" y="12769"/>
                </a:cubicBezTo>
                <a:cubicBezTo>
                  <a:pt x="1" y="12760"/>
                  <a:pt x="0" y="12750"/>
                  <a:pt x="0" y="1274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311" name=""/>
          <p:cNvSpPr/>
          <p:nvPr/>
        </p:nvSpPr>
        <p:spPr>
          <a:xfrm>
            <a:off x="757080" y="1461960"/>
            <a:ext cx="10687320" cy="4638960"/>
          </a:xfrm>
          <a:custGeom>
            <a:avLst/>
            <a:gdLst/>
            <a:ahLst/>
            <a:rect l="0" t="0" r="r" b="b"/>
            <a:pathLst>
              <a:path w="29687" h="12886">
                <a:moveTo>
                  <a:pt x="0" y="127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741"/>
                </a:lnTo>
                <a:cubicBezTo>
                  <a:pt x="29687" y="12750"/>
                  <a:pt x="29686" y="12760"/>
                  <a:pt x="29684" y="12769"/>
                </a:cubicBezTo>
                <a:cubicBezTo>
                  <a:pt x="29683" y="12778"/>
                  <a:pt x="29680" y="12787"/>
                  <a:pt x="29676" y="12796"/>
                </a:cubicBezTo>
                <a:cubicBezTo>
                  <a:pt x="29672" y="12805"/>
                  <a:pt x="29668" y="12813"/>
                  <a:pt x="29663" y="12821"/>
                </a:cubicBezTo>
                <a:cubicBezTo>
                  <a:pt x="29657" y="12829"/>
                  <a:pt x="29651" y="12837"/>
                  <a:pt x="29645" y="12843"/>
                </a:cubicBezTo>
                <a:cubicBezTo>
                  <a:pt x="29638" y="12850"/>
                  <a:pt x="29630" y="12856"/>
                  <a:pt x="29623" y="12862"/>
                </a:cubicBezTo>
                <a:cubicBezTo>
                  <a:pt x="29615" y="12867"/>
                  <a:pt x="29606" y="12871"/>
                  <a:pt x="29597" y="12875"/>
                </a:cubicBezTo>
                <a:cubicBezTo>
                  <a:pt x="29589" y="12879"/>
                  <a:pt x="29579" y="12881"/>
                  <a:pt x="29570" y="12883"/>
                </a:cubicBezTo>
                <a:cubicBezTo>
                  <a:pt x="29561" y="12885"/>
                  <a:pt x="29551" y="12886"/>
                  <a:pt x="29542" y="12886"/>
                </a:cubicBezTo>
                <a:lnTo>
                  <a:pt x="145" y="12886"/>
                </a:lnTo>
                <a:cubicBezTo>
                  <a:pt x="136" y="12886"/>
                  <a:pt x="126" y="12885"/>
                  <a:pt x="117" y="12883"/>
                </a:cubicBezTo>
                <a:cubicBezTo>
                  <a:pt x="108" y="12881"/>
                  <a:pt x="99" y="12879"/>
                  <a:pt x="90" y="12875"/>
                </a:cubicBezTo>
                <a:cubicBezTo>
                  <a:pt x="81" y="12871"/>
                  <a:pt x="73" y="12867"/>
                  <a:pt x="65" y="12862"/>
                </a:cubicBezTo>
                <a:cubicBezTo>
                  <a:pt x="57" y="12856"/>
                  <a:pt x="49" y="12850"/>
                  <a:pt x="43" y="12843"/>
                </a:cubicBezTo>
                <a:cubicBezTo>
                  <a:pt x="36" y="12837"/>
                  <a:pt x="30" y="12829"/>
                  <a:pt x="24" y="12821"/>
                </a:cubicBezTo>
                <a:cubicBezTo>
                  <a:pt x="19" y="12813"/>
                  <a:pt x="15" y="12805"/>
                  <a:pt x="11" y="12796"/>
                </a:cubicBezTo>
                <a:cubicBezTo>
                  <a:pt x="7" y="12787"/>
                  <a:pt x="5" y="12778"/>
                  <a:pt x="3" y="12769"/>
                </a:cubicBezTo>
                <a:cubicBezTo>
                  <a:pt x="1" y="12760"/>
                  <a:pt x="0" y="12750"/>
                  <a:pt x="0" y="1274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312" name=""/>
          <p:cNvSpPr txBox="1"/>
          <p:nvPr/>
        </p:nvSpPr>
        <p:spPr>
          <a:xfrm>
            <a:off x="747720" y="770400"/>
            <a:ext cx="271656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Boundary types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914400" y="1623600"/>
            <a:ext cx="6450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59636e"/>
                </a:solidFill>
                <a:latin typeface="Courier New"/>
              </a:rPr>
              <a:t># follow_api/types.py — no third-party imports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914400" y="2166480"/>
            <a:ext cx="1402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0550ae"/>
                </a:solidFill>
                <a:latin typeface="Courier New"/>
              </a:rPr>
              <a:t>@dataclass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914400" y="2433240"/>
            <a:ext cx="3084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cf222e"/>
                </a:solidFill>
                <a:latin typeface="Courier New"/>
              </a:rPr>
              <a:t>class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850" spc="-1" strike="noStrike">
                <a:solidFill>
                  <a:srgbClr val="6639ba"/>
                </a:solidFill>
                <a:latin typeface="Courier New"/>
              </a:rPr>
              <a:t>VelocityCommand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: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914400" y="2700000"/>
            <a:ext cx="7852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forward_m_s: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850" spc="-1" strike="noStrike">
                <a:solidFill>
                  <a:srgbClr val="59636e"/>
                </a:solidFill>
                <a:latin typeface="Courier New"/>
              </a:rPr>
              <a:t># +ve = forward, body frame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914400" y="2976120"/>
            <a:ext cx="8412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down_m_s:   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850" spc="-1" strike="noStrike">
                <a:solidFill>
                  <a:srgbClr val="59636e"/>
                </a:solidFill>
                <a:latin typeface="Courier New"/>
              </a:rPr>
              <a:t># +ve = down, NED  (drone only)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914400" y="3242880"/>
            <a:ext cx="7291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yawspeed_deg_s: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59636e"/>
                </a:solidFill>
                <a:latin typeface="Courier New"/>
              </a:rPr>
              <a:t># +ve = CW looking down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914400" y="3785760"/>
            <a:ext cx="1402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0550ae"/>
                </a:solidFill>
                <a:latin typeface="Courier New"/>
              </a:rPr>
              <a:t>@dataclass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914400" y="4052520"/>
            <a:ext cx="2243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cf222e"/>
                </a:solidFill>
                <a:latin typeface="Courier New"/>
              </a:rPr>
              <a:t>class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850" spc="-1" strike="noStrike">
                <a:solidFill>
                  <a:srgbClr val="6639ba"/>
                </a:solidFill>
                <a:latin typeface="Courier New"/>
              </a:rPr>
              <a:t>Detection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: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914400" y="4319280"/>
            <a:ext cx="1963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label: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str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914400" y="4595400"/>
            <a:ext cx="2945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confidence: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float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914400" y="4862160"/>
            <a:ext cx="5609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center_x: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</a:t>
            </a:r>
            <a:r>
              <a:rPr b="0" lang="en-US" sz="1850" spc="-1" strike="noStrike">
                <a:solidFill>
                  <a:srgbClr val="59636e"/>
                </a:solidFill>
                <a:latin typeface="Courier New"/>
              </a:rPr>
              <a:t># 0.0 – 1.0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914400" y="5128920"/>
            <a:ext cx="5609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center_y: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</a:t>
            </a:r>
            <a:r>
              <a:rPr b="0" lang="en-US" sz="1850" spc="-1" strike="noStrike">
                <a:solidFill>
                  <a:srgbClr val="59636e"/>
                </a:solidFill>
                <a:latin typeface="Courier New"/>
              </a:rPr>
              <a:t># 0.0 – 1.0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14400" y="5405040"/>
            <a:ext cx="5608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bbox_height: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850" spc="-1" strike="noStrike">
                <a:solidFill>
                  <a:srgbClr val="59636e"/>
                </a:solidFill>
                <a:latin typeface="Courier New"/>
              </a:rPr>
              <a:t># 0.0 – 1.0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914400" y="5671800"/>
            <a:ext cx="28047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timestamp: </a:t>
            </a:r>
            <a:r>
              <a:rPr b="0" lang="en-US" sz="1850" spc="-1" strike="noStrike">
                <a:solidFill>
                  <a:srgbClr val="953800"/>
                </a:solidFill>
                <a:latin typeface="Courier New"/>
              </a:rPr>
              <a:t>float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4981320" y="6305400"/>
            <a:ext cx="2305440" cy="362160"/>
          </a:xfrm>
          <a:custGeom>
            <a:avLst/>
            <a:gdLst/>
            <a:ahLst/>
            <a:rect l="0" t="0" r="r" b="b"/>
            <a:pathLst>
              <a:path w="6404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245" y="0"/>
                </a:lnTo>
                <a:cubicBezTo>
                  <a:pt x="6256" y="0"/>
                  <a:pt x="6266" y="1"/>
                  <a:pt x="6276" y="3"/>
                </a:cubicBezTo>
                <a:cubicBezTo>
                  <a:pt x="6287" y="5"/>
                  <a:pt x="6296" y="8"/>
                  <a:pt x="6306" y="12"/>
                </a:cubicBezTo>
                <a:cubicBezTo>
                  <a:pt x="6316" y="16"/>
                  <a:pt x="6325" y="21"/>
                  <a:pt x="6334" y="27"/>
                </a:cubicBezTo>
                <a:cubicBezTo>
                  <a:pt x="6342" y="32"/>
                  <a:pt x="6350" y="39"/>
                  <a:pt x="6358" y="46"/>
                </a:cubicBezTo>
                <a:cubicBezTo>
                  <a:pt x="6365" y="54"/>
                  <a:pt x="6372" y="62"/>
                  <a:pt x="6377" y="70"/>
                </a:cubicBezTo>
                <a:cubicBezTo>
                  <a:pt x="6383" y="80"/>
                  <a:pt x="6388" y="89"/>
                  <a:pt x="6392" y="99"/>
                </a:cubicBezTo>
                <a:cubicBezTo>
                  <a:pt x="6396" y="109"/>
                  <a:pt x="6399" y="118"/>
                  <a:pt x="6401" y="129"/>
                </a:cubicBezTo>
                <a:cubicBezTo>
                  <a:pt x="6403" y="139"/>
                  <a:pt x="6404" y="149"/>
                  <a:pt x="6404" y="160"/>
                </a:cubicBezTo>
                <a:lnTo>
                  <a:pt x="6404" y="848"/>
                </a:lnTo>
                <a:cubicBezTo>
                  <a:pt x="6404" y="858"/>
                  <a:pt x="6403" y="868"/>
                  <a:pt x="6401" y="879"/>
                </a:cubicBezTo>
                <a:cubicBezTo>
                  <a:pt x="6399" y="889"/>
                  <a:pt x="6396" y="899"/>
                  <a:pt x="6392" y="908"/>
                </a:cubicBezTo>
                <a:cubicBezTo>
                  <a:pt x="6388" y="918"/>
                  <a:pt x="6383" y="927"/>
                  <a:pt x="6377" y="936"/>
                </a:cubicBezTo>
                <a:cubicBezTo>
                  <a:pt x="6372" y="944"/>
                  <a:pt x="6365" y="952"/>
                  <a:pt x="6358" y="960"/>
                </a:cubicBezTo>
                <a:cubicBezTo>
                  <a:pt x="6350" y="967"/>
                  <a:pt x="6342" y="974"/>
                  <a:pt x="6334" y="980"/>
                </a:cubicBezTo>
                <a:cubicBezTo>
                  <a:pt x="6325" y="985"/>
                  <a:pt x="6316" y="990"/>
                  <a:pt x="6306" y="994"/>
                </a:cubicBezTo>
                <a:cubicBezTo>
                  <a:pt x="6296" y="998"/>
                  <a:pt x="6287" y="1001"/>
                  <a:pt x="6276" y="1003"/>
                </a:cubicBezTo>
                <a:cubicBezTo>
                  <a:pt x="6266" y="1005"/>
                  <a:pt x="6256" y="1006"/>
                  <a:pt x="6245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328" name=""/>
          <p:cNvSpPr txBox="1"/>
          <p:nvPr/>
        </p:nvSpPr>
        <p:spPr>
          <a:xfrm>
            <a:off x="747720" y="6303240"/>
            <a:ext cx="423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This file is the contract. Renaming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5078880" y="6356880"/>
            <a:ext cx="2103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VelocityCommand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7715160" y="6305400"/>
            <a:ext cx="1876680" cy="362160"/>
          </a:xfrm>
          <a:custGeom>
            <a:avLst/>
            <a:gdLst/>
            <a:ahLst/>
            <a:rect l="0" t="0" r="r" b="b"/>
            <a:pathLst>
              <a:path w="5213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5054" y="0"/>
                </a:lnTo>
                <a:cubicBezTo>
                  <a:pt x="5065" y="0"/>
                  <a:pt x="5075" y="1"/>
                  <a:pt x="5085" y="3"/>
                </a:cubicBezTo>
                <a:cubicBezTo>
                  <a:pt x="5095" y="5"/>
                  <a:pt x="5105" y="8"/>
                  <a:pt x="5115" y="12"/>
                </a:cubicBezTo>
                <a:cubicBezTo>
                  <a:pt x="5125" y="16"/>
                  <a:pt x="5134" y="21"/>
                  <a:pt x="5142" y="27"/>
                </a:cubicBezTo>
                <a:cubicBezTo>
                  <a:pt x="5151" y="32"/>
                  <a:pt x="5159" y="39"/>
                  <a:pt x="5167" y="46"/>
                </a:cubicBezTo>
                <a:cubicBezTo>
                  <a:pt x="5174" y="54"/>
                  <a:pt x="5180" y="62"/>
                  <a:pt x="5186" y="70"/>
                </a:cubicBezTo>
                <a:cubicBezTo>
                  <a:pt x="5192" y="80"/>
                  <a:pt x="5197" y="89"/>
                  <a:pt x="5201" y="99"/>
                </a:cubicBezTo>
                <a:cubicBezTo>
                  <a:pt x="5205" y="109"/>
                  <a:pt x="5208" y="118"/>
                  <a:pt x="5210" y="129"/>
                </a:cubicBezTo>
                <a:cubicBezTo>
                  <a:pt x="5212" y="139"/>
                  <a:pt x="5213" y="149"/>
                  <a:pt x="5213" y="160"/>
                </a:cubicBezTo>
                <a:lnTo>
                  <a:pt x="5213" y="848"/>
                </a:lnTo>
                <a:cubicBezTo>
                  <a:pt x="5213" y="858"/>
                  <a:pt x="5212" y="868"/>
                  <a:pt x="5210" y="879"/>
                </a:cubicBezTo>
                <a:cubicBezTo>
                  <a:pt x="5208" y="889"/>
                  <a:pt x="5205" y="899"/>
                  <a:pt x="5201" y="908"/>
                </a:cubicBezTo>
                <a:cubicBezTo>
                  <a:pt x="5197" y="918"/>
                  <a:pt x="5192" y="927"/>
                  <a:pt x="5186" y="936"/>
                </a:cubicBezTo>
                <a:cubicBezTo>
                  <a:pt x="5180" y="944"/>
                  <a:pt x="5174" y="952"/>
                  <a:pt x="5167" y="960"/>
                </a:cubicBezTo>
                <a:cubicBezTo>
                  <a:pt x="5159" y="967"/>
                  <a:pt x="5151" y="974"/>
                  <a:pt x="5142" y="980"/>
                </a:cubicBezTo>
                <a:cubicBezTo>
                  <a:pt x="5134" y="985"/>
                  <a:pt x="5125" y="990"/>
                  <a:pt x="5115" y="994"/>
                </a:cubicBezTo>
                <a:cubicBezTo>
                  <a:pt x="5105" y="998"/>
                  <a:pt x="5095" y="1001"/>
                  <a:pt x="5085" y="1003"/>
                </a:cubicBezTo>
                <a:cubicBezTo>
                  <a:pt x="5075" y="1005"/>
                  <a:pt x="5065" y="1006"/>
                  <a:pt x="5054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331" name=""/>
          <p:cNvSpPr txBox="1"/>
          <p:nvPr/>
        </p:nvSpPr>
        <p:spPr>
          <a:xfrm>
            <a:off x="7285680" y="6303240"/>
            <a:ext cx="4291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→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7809480" y="6356880"/>
            <a:ext cx="16833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RobotCommand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9593640" y="6303240"/>
            <a:ext cx="1443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is Phase 3.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8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38" name=""/>
          <p:cNvSpPr/>
          <p:nvPr/>
        </p:nvSpPr>
        <p:spPr>
          <a:xfrm>
            <a:off x="757080" y="1461960"/>
            <a:ext cx="10687320" cy="4638960"/>
          </a:xfrm>
          <a:custGeom>
            <a:avLst/>
            <a:gdLst/>
            <a:ahLst/>
            <a:rect l="0" t="0" r="r" b="b"/>
            <a:pathLst>
              <a:path w="29687" h="12886">
                <a:moveTo>
                  <a:pt x="0" y="127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741"/>
                </a:lnTo>
                <a:cubicBezTo>
                  <a:pt x="29687" y="12750"/>
                  <a:pt x="29686" y="12760"/>
                  <a:pt x="29684" y="12769"/>
                </a:cubicBezTo>
                <a:cubicBezTo>
                  <a:pt x="29683" y="12778"/>
                  <a:pt x="29680" y="12787"/>
                  <a:pt x="29676" y="12796"/>
                </a:cubicBezTo>
                <a:cubicBezTo>
                  <a:pt x="29672" y="12805"/>
                  <a:pt x="29668" y="12813"/>
                  <a:pt x="29663" y="12821"/>
                </a:cubicBezTo>
                <a:cubicBezTo>
                  <a:pt x="29657" y="12829"/>
                  <a:pt x="29651" y="12837"/>
                  <a:pt x="29645" y="12843"/>
                </a:cubicBezTo>
                <a:cubicBezTo>
                  <a:pt x="29638" y="12850"/>
                  <a:pt x="29630" y="12856"/>
                  <a:pt x="29623" y="12862"/>
                </a:cubicBezTo>
                <a:cubicBezTo>
                  <a:pt x="29615" y="12867"/>
                  <a:pt x="29606" y="12871"/>
                  <a:pt x="29597" y="12875"/>
                </a:cubicBezTo>
                <a:cubicBezTo>
                  <a:pt x="29589" y="12879"/>
                  <a:pt x="29579" y="12881"/>
                  <a:pt x="29570" y="12883"/>
                </a:cubicBezTo>
                <a:cubicBezTo>
                  <a:pt x="29561" y="12885"/>
                  <a:pt x="29551" y="12886"/>
                  <a:pt x="29542" y="12886"/>
                </a:cubicBezTo>
                <a:lnTo>
                  <a:pt x="145" y="12886"/>
                </a:lnTo>
                <a:cubicBezTo>
                  <a:pt x="136" y="12886"/>
                  <a:pt x="126" y="12885"/>
                  <a:pt x="117" y="12883"/>
                </a:cubicBezTo>
                <a:cubicBezTo>
                  <a:pt x="108" y="12881"/>
                  <a:pt x="99" y="12879"/>
                  <a:pt x="90" y="12875"/>
                </a:cubicBezTo>
                <a:cubicBezTo>
                  <a:pt x="81" y="12871"/>
                  <a:pt x="73" y="12867"/>
                  <a:pt x="65" y="12862"/>
                </a:cubicBezTo>
                <a:cubicBezTo>
                  <a:pt x="57" y="12856"/>
                  <a:pt x="49" y="12850"/>
                  <a:pt x="43" y="12843"/>
                </a:cubicBezTo>
                <a:cubicBezTo>
                  <a:pt x="36" y="12837"/>
                  <a:pt x="30" y="12829"/>
                  <a:pt x="24" y="12821"/>
                </a:cubicBezTo>
                <a:cubicBezTo>
                  <a:pt x="19" y="12813"/>
                  <a:pt x="15" y="12805"/>
                  <a:pt x="11" y="12796"/>
                </a:cubicBezTo>
                <a:cubicBezTo>
                  <a:pt x="7" y="12787"/>
                  <a:pt x="5" y="12778"/>
                  <a:pt x="3" y="12769"/>
                </a:cubicBezTo>
                <a:cubicBezTo>
                  <a:pt x="1" y="12760"/>
                  <a:pt x="0" y="12750"/>
                  <a:pt x="0" y="1274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339" name=""/>
          <p:cNvSpPr/>
          <p:nvPr/>
        </p:nvSpPr>
        <p:spPr>
          <a:xfrm>
            <a:off x="757080" y="1461960"/>
            <a:ext cx="10687320" cy="4638960"/>
          </a:xfrm>
          <a:custGeom>
            <a:avLst/>
            <a:gdLst/>
            <a:ahLst/>
            <a:rect l="0" t="0" r="r" b="b"/>
            <a:pathLst>
              <a:path w="29687" h="12886">
                <a:moveTo>
                  <a:pt x="0" y="127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741"/>
                </a:lnTo>
                <a:cubicBezTo>
                  <a:pt x="29687" y="12750"/>
                  <a:pt x="29686" y="12760"/>
                  <a:pt x="29684" y="12769"/>
                </a:cubicBezTo>
                <a:cubicBezTo>
                  <a:pt x="29683" y="12778"/>
                  <a:pt x="29680" y="12787"/>
                  <a:pt x="29676" y="12796"/>
                </a:cubicBezTo>
                <a:cubicBezTo>
                  <a:pt x="29672" y="12805"/>
                  <a:pt x="29668" y="12813"/>
                  <a:pt x="29663" y="12821"/>
                </a:cubicBezTo>
                <a:cubicBezTo>
                  <a:pt x="29657" y="12829"/>
                  <a:pt x="29651" y="12837"/>
                  <a:pt x="29645" y="12843"/>
                </a:cubicBezTo>
                <a:cubicBezTo>
                  <a:pt x="29638" y="12850"/>
                  <a:pt x="29630" y="12856"/>
                  <a:pt x="29623" y="12862"/>
                </a:cubicBezTo>
                <a:cubicBezTo>
                  <a:pt x="29615" y="12867"/>
                  <a:pt x="29606" y="12871"/>
                  <a:pt x="29597" y="12875"/>
                </a:cubicBezTo>
                <a:cubicBezTo>
                  <a:pt x="29589" y="12879"/>
                  <a:pt x="29579" y="12881"/>
                  <a:pt x="29570" y="12883"/>
                </a:cubicBezTo>
                <a:cubicBezTo>
                  <a:pt x="29561" y="12885"/>
                  <a:pt x="29551" y="12886"/>
                  <a:pt x="29542" y="12886"/>
                </a:cubicBezTo>
                <a:lnTo>
                  <a:pt x="145" y="12886"/>
                </a:lnTo>
                <a:cubicBezTo>
                  <a:pt x="136" y="12886"/>
                  <a:pt x="126" y="12885"/>
                  <a:pt x="117" y="12883"/>
                </a:cubicBezTo>
                <a:cubicBezTo>
                  <a:pt x="108" y="12881"/>
                  <a:pt x="99" y="12879"/>
                  <a:pt x="90" y="12875"/>
                </a:cubicBezTo>
                <a:cubicBezTo>
                  <a:pt x="81" y="12871"/>
                  <a:pt x="73" y="12867"/>
                  <a:pt x="65" y="12862"/>
                </a:cubicBezTo>
                <a:cubicBezTo>
                  <a:pt x="57" y="12856"/>
                  <a:pt x="49" y="12850"/>
                  <a:pt x="43" y="12843"/>
                </a:cubicBezTo>
                <a:cubicBezTo>
                  <a:pt x="36" y="12837"/>
                  <a:pt x="30" y="12829"/>
                  <a:pt x="24" y="12821"/>
                </a:cubicBezTo>
                <a:cubicBezTo>
                  <a:pt x="19" y="12813"/>
                  <a:pt x="15" y="12805"/>
                  <a:pt x="11" y="12796"/>
                </a:cubicBezTo>
                <a:cubicBezTo>
                  <a:pt x="7" y="12787"/>
                  <a:pt x="5" y="12778"/>
                  <a:pt x="3" y="12769"/>
                </a:cubicBezTo>
                <a:cubicBezTo>
                  <a:pt x="1" y="12760"/>
                  <a:pt x="0" y="12750"/>
                  <a:pt x="0" y="1274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340" name=""/>
          <p:cNvSpPr/>
          <p:nvPr/>
        </p:nvSpPr>
        <p:spPr>
          <a:xfrm>
            <a:off x="752400" y="6257880"/>
            <a:ext cx="1391040" cy="543240"/>
          </a:xfrm>
          <a:custGeom>
            <a:avLst/>
            <a:gdLst/>
            <a:ahLst/>
            <a:rect l="0" t="0" r="r" b="b"/>
            <a:pathLst>
              <a:path w="3864" h="1509">
                <a:moveTo>
                  <a:pt x="0" y="0"/>
                </a:moveTo>
                <a:lnTo>
                  <a:pt x="3864" y="0"/>
                </a:lnTo>
                <a:lnTo>
                  <a:pt x="386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1" name=""/>
          <p:cNvSpPr/>
          <p:nvPr/>
        </p:nvSpPr>
        <p:spPr>
          <a:xfrm>
            <a:off x="2143080" y="6257880"/>
            <a:ext cx="1428840" cy="543240"/>
          </a:xfrm>
          <a:custGeom>
            <a:avLst/>
            <a:gdLst/>
            <a:ahLst/>
            <a:rect l="0" t="0" r="r" b="b"/>
            <a:pathLst>
              <a:path w="3969" h="1509">
                <a:moveTo>
                  <a:pt x="0" y="0"/>
                </a:moveTo>
                <a:lnTo>
                  <a:pt x="3969" y="0"/>
                </a:lnTo>
                <a:lnTo>
                  <a:pt x="39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2" name=""/>
          <p:cNvSpPr/>
          <p:nvPr/>
        </p:nvSpPr>
        <p:spPr>
          <a:xfrm>
            <a:off x="3571560" y="6257880"/>
            <a:ext cx="1219680" cy="543240"/>
          </a:xfrm>
          <a:custGeom>
            <a:avLst/>
            <a:gdLst/>
            <a:ahLst/>
            <a:rect l="0" t="0" r="r" b="b"/>
            <a:pathLst>
              <a:path w="3388" h="1509">
                <a:moveTo>
                  <a:pt x="0" y="0"/>
                </a:moveTo>
                <a:lnTo>
                  <a:pt x="3388" y="0"/>
                </a:lnTo>
                <a:lnTo>
                  <a:pt x="338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3" name=""/>
          <p:cNvSpPr/>
          <p:nvPr/>
        </p:nvSpPr>
        <p:spPr>
          <a:xfrm>
            <a:off x="4790880" y="6257880"/>
            <a:ext cx="1914840" cy="543240"/>
          </a:xfrm>
          <a:custGeom>
            <a:avLst/>
            <a:gdLst/>
            <a:ahLst/>
            <a:rect l="0" t="0" r="r" b="b"/>
            <a:pathLst>
              <a:path w="5319" h="1509">
                <a:moveTo>
                  <a:pt x="0" y="0"/>
                </a:moveTo>
                <a:lnTo>
                  <a:pt x="5319" y="0"/>
                </a:lnTo>
                <a:lnTo>
                  <a:pt x="531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4" name=""/>
          <p:cNvSpPr/>
          <p:nvPr/>
        </p:nvSpPr>
        <p:spPr>
          <a:xfrm>
            <a:off x="752400" y="6800760"/>
            <a:ext cx="1391040" cy="533520"/>
          </a:xfrm>
          <a:custGeom>
            <a:avLst/>
            <a:gdLst/>
            <a:ahLst/>
            <a:rect l="0" t="0" r="r" b="b"/>
            <a:pathLst>
              <a:path w="3864" h="1482">
                <a:moveTo>
                  <a:pt x="0" y="0"/>
                </a:moveTo>
                <a:lnTo>
                  <a:pt x="3864" y="0"/>
                </a:lnTo>
                <a:lnTo>
                  <a:pt x="386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5" name=""/>
          <p:cNvSpPr/>
          <p:nvPr/>
        </p:nvSpPr>
        <p:spPr>
          <a:xfrm>
            <a:off x="2143080" y="6800760"/>
            <a:ext cx="1428840" cy="533520"/>
          </a:xfrm>
          <a:custGeom>
            <a:avLst/>
            <a:gdLst/>
            <a:ahLst/>
            <a:rect l="0" t="0" r="r" b="b"/>
            <a:pathLst>
              <a:path w="3969" h="1482">
                <a:moveTo>
                  <a:pt x="0" y="0"/>
                </a:moveTo>
                <a:lnTo>
                  <a:pt x="3969" y="0"/>
                </a:lnTo>
                <a:lnTo>
                  <a:pt x="396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6" name=""/>
          <p:cNvSpPr/>
          <p:nvPr/>
        </p:nvSpPr>
        <p:spPr>
          <a:xfrm>
            <a:off x="3571560" y="6800760"/>
            <a:ext cx="1219680" cy="533520"/>
          </a:xfrm>
          <a:custGeom>
            <a:avLst/>
            <a:gdLst/>
            <a:ahLst/>
            <a:rect l="0" t="0" r="r" b="b"/>
            <a:pathLst>
              <a:path w="3388" h="1482">
                <a:moveTo>
                  <a:pt x="0" y="0"/>
                </a:moveTo>
                <a:lnTo>
                  <a:pt x="3388" y="0"/>
                </a:lnTo>
                <a:lnTo>
                  <a:pt x="338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7" name=""/>
          <p:cNvSpPr/>
          <p:nvPr/>
        </p:nvSpPr>
        <p:spPr>
          <a:xfrm>
            <a:off x="4790880" y="6800760"/>
            <a:ext cx="1914840" cy="533520"/>
          </a:xfrm>
          <a:custGeom>
            <a:avLst/>
            <a:gdLst/>
            <a:ahLst/>
            <a:rect l="0" t="0" r="r" b="b"/>
            <a:pathLst>
              <a:path w="5319" h="1482">
                <a:moveTo>
                  <a:pt x="0" y="0"/>
                </a:moveTo>
                <a:lnTo>
                  <a:pt x="5319" y="0"/>
                </a:lnTo>
                <a:lnTo>
                  <a:pt x="531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8" name=""/>
          <p:cNvSpPr/>
          <p:nvPr/>
        </p:nvSpPr>
        <p:spPr>
          <a:xfrm>
            <a:off x="752400" y="6257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49" name=""/>
          <p:cNvSpPr/>
          <p:nvPr/>
        </p:nvSpPr>
        <p:spPr>
          <a:xfrm>
            <a:off x="752400" y="6257880"/>
            <a:ext cx="1400400" cy="9720"/>
          </a:xfrm>
          <a:custGeom>
            <a:avLst/>
            <a:gdLst/>
            <a:ahLst/>
            <a:rect l="0" t="0" r="r" b="b"/>
            <a:pathLst>
              <a:path w="3890" h="27">
                <a:moveTo>
                  <a:pt x="0" y="0"/>
                </a:moveTo>
                <a:lnTo>
                  <a:pt x="3890" y="0"/>
                </a:lnTo>
                <a:lnTo>
                  <a:pt x="389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0" name=""/>
          <p:cNvSpPr/>
          <p:nvPr/>
        </p:nvSpPr>
        <p:spPr>
          <a:xfrm>
            <a:off x="2143080" y="6257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1" name=""/>
          <p:cNvSpPr/>
          <p:nvPr/>
        </p:nvSpPr>
        <p:spPr>
          <a:xfrm>
            <a:off x="2152440" y="6257880"/>
            <a:ext cx="1419480" cy="9720"/>
          </a:xfrm>
          <a:custGeom>
            <a:avLst/>
            <a:gdLst/>
            <a:ah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2" name=""/>
          <p:cNvSpPr/>
          <p:nvPr/>
        </p:nvSpPr>
        <p:spPr>
          <a:xfrm>
            <a:off x="3562200" y="6257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3" name=""/>
          <p:cNvSpPr/>
          <p:nvPr/>
        </p:nvSpPr>
        <p:spPr>
          <a:xfrm>
            <a:off x="3571560" y="6257880"/>
            <a:ext cx="1229040" cy="9720"/>
          </a:xfrm>
          <a:custGeom>
            <a:avLst/>
            <a:gdLst/>
            <a:ahLst/>
            <a:rect l="0" t="0" r="r" b="b"/>
            <a:pathLst>
              <a:path w="3414" h="27">
                <a:moveTo>
                  <a:pt x="0" y="0"/>
                </a:moveTo>
                <a:lnTo>
                  <a:pt x="3414" y="0"/>
                </a:lnTo>
                <a:lnTo>
                  <a:pt x="34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4" name=""/>
          <p:cNvSpPr/>
          <p:nvPr/>
        </p:nvSpPr>
        <p:spPr>
          <a:xfrm>
            <a:off x="4790880" y="6257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5" name=""/>
          <p:cNvSpPr/>
          <p:nvPr/>
        </p:nvSpPr>
        <p:spPr>
          <a:xfrm>
            <a:off x="4800240" y="6257880"/>
            <a:ext cx="1915200" cy="9720"/>
          </a:xfrm>
          <a:custGeom>
            <a:avLst/>
            <a:gdLst/>
            <a:ahLst/>
            <a:rect l="0" t="0" r="r" b="b"/>
            <a:pathLst>
              <a:path w="5320" h="27">
                <a:moveTo>
                  <a:pt x="0" y="0"/>
                </a:moveTo>
                <a:lnTo>
                  <a:pt x="5320" y="0"/>
                </a:lnTo>
                <a:lnTo>
                  <a:pt x="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6" name=""/>
          <p:cNvSpPr/>
          <p:nvPr/>
        </p:nvSpPr>
        <p:spPr>
          <a:xfrm>
            <a:off x="6705360" y="6257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7" name=""/>
          <p:cNvSpPr/>
          <p:nvPr/>
        </p:nvSpPr>
        <p:spPr>
          <a:xfrm>
            <a:off x="752400" y="6791040"/>
            <a:ext cx="1400400" cy="10080"/>
          </a:xfrm>
          <a:custGeom>
            <a:avLst/>
            <a:gdLst/>
            <a:ahLst/>
            <a:rect l="0" t="0" r="r" b="b"/>
            <a:pathLst>
              <a:path w="3890" h="28">
                <a:moveTo>
                  <a:pt x="0" y="0"/>
                </a:moveTo>
                <a:lnTo>
                  <a:pt x="3890" y="0"/>
                </a:lnTo>
                <a:lnTo>
                  <a:pt x="389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8" name=""/>
          <p:cNvSpPr/>
          <p:nvPr/>
        </p:nvSpPr>
        <p:spPr>
          <a:xfrm>
            <a:off x="2152440" y="6791040"/>
            <a:ext cx="1419480" cy="10080"/>
          </a:xfrm>
          <a:custGeom>
            <a:avLst/>
            <a:gdLst/>
            <a:ah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59" name=""/>
          <p:cNvSpPr/>
          <p:nvPr/>
        </p:nvSpPr>
        <p:spPr>
          <a:xfrm>
            <a:off x="3571560" y="6791040"/>
            <a:ext cx="1229040" cy="10080"/>
          </a:xfrm>
          <a:custGeom>
            <a:avLst/>
            <a:gdLst/>
            <a:ahLst/>
            <a:rect l="0" t="0" r="r" b="b"/>
            <a:pathLst>
              <a:path w="3414" h="28">
                <a:moveTo>
                  <a:pt x="0" y="0"/>
                </a:moveTo>
                <a:lnTo>
                  <a:pt x="3414" y="0"/>
                </a:lnTo>
                <a:lnTo>
                  <a:pt x="34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60" name=""/>
          <p:cNvSpPr/>
          <p:nvPr/>
        </p:nvSpPr>
        <p:spPr>
          <a:xfrm>
            <a:off x="4800240" y="6791040"/>
            <a:ext cx="1915200" cy="10080"/>
          </a:xfrm>
          <a:custGeom>
            <a:avLst/>
            <a:gdLst/>
            <a:ahLst/>
            <a:rect l="0" t="0" r="r" b="b"/>
            <a:pathLst>
              <a:path w="5320" h="28">
                <a:moveTo>
                  <a:pt x="0" y="0"/>
                </a:moveTo>
                <a:lnTo>
                  <a:pt x="5320" y="0"/>
                </a:lnTo>
                <a:lnTo>
                  <a:pt x="5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61" name=""/>
          <p:cNvSpPr/>
          <p:nvPr/>
        </p:nvSpPr>
        <p:spPr>
          <a:xfrm>
            <a:off x="752400" y="6800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62" name=""/>
          <p:cNvSpPr/>
          <p:nvPr/>
        </p:nvSpPr>
        <p:spPr>
          <a:xfrm>
            <a:off x="2143080" y="6800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63" name=""/>
          <p:cNvSpPr/>
          <p:nvPr/>
        </p:nvSpPr>
        <p:spPr>
          <a:xfrm>
            <a:off x="3562200" y="6800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64" name=""/>
          <p:cNvSpPr/>
          <p:nvPr/>
        </p:nvSpPr>
        <p:spPr>
          <a:xfrm>
            <a:off x="4790880" y="68007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65" name=""/>
          <p:cNvSpPr/>
          <p:nvPr/>
        </p:nvSpPr>
        <p:spPr>
          <a:xfrm>
            <a:off x="6705360" y="68007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366" name=""/>
          <p:cNvSpPr txBox="1"/>
          <p:nvPr/>
        </p:nvSpPr>
        <p:spPr>
          <a:xfrm>
            <a:off x="747720" y="770400"/>
            <a:ext cx="513972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Follow modes (state machine)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914400" y="162360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┌─────────────────────────────────────────┐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14400" y="189036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target_state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914400" y="216648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    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914400" y="2433240"/>
            <a:ext cx="8272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┌────────┐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click bbox    ┌────────┐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914400" y="270000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│        │ ───────────►    │        │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914400" y="297612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│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AUTO  │                 │ LOCKED │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914400" y="324288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│        │ ◄───────────    │        │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914400" y="350964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└────────┘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reid timeout   └────────┘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914400" y="378576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▲   │                      ▲   │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914400" y="405252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│   │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ground:             │   │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914400" y="431928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│   │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follow_id=-1        │   │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914400" y="459540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│   ▼                      │   ▼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914400" y="4862160"/>
            <a:ext cx="8272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│ ┌────────┐               │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pause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914400" y="512892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└─┤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IDLE  │ ◄─────────────┘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914400" y="540504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│       └────────┘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914400" y="5671800"/>
            <a:ext cx="8273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└─────────────────────────────────────────┘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088280" y="6369840"/>
            <a:ext cx="7232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Mode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2274120" y="6369840"/>
            <a:ext cx="1166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target_id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3697920" y="6369840"/>
            <a:ext cx="969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paused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4922280" y="6369840"/>
            <a:ext cx="1658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explicit_lock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9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91" name=""/>
          <p:cNvSpPr/>
          <p:nvPr/>
        </p:nvSpPr>
        <p:spPr>
          <a:xfrm>
            <a:off x="757080" y="1461960"/>
            <a:ext cx="10687320" cy="4391280"/>
          </a:xfrm>
          <a:custGeom>
            <a:avLst/>
            <a:gdLst/>
            <a:ahLst/>
            <a:rect l="0" t="0" r="r" b="b"/>
            <a:pathLst>
              <a:path w="29687" h="12198">
                <a:moveTo>
                  <a:pt x="0" y="120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053"/>
                </a:lnTo>
                <a:cubicBezTo>
                  <a:pt x="29687" y="12062"/>
                  <a:pt x="29686" y="12072"/>
                  <a:pt x="29684" y="12081"/>
                </a:cubicBezTo>
                <a:cubicBezTo>
                  <a:pt x="29683" y="12090"/>
                  <a:pt x="29680" y="12099"/>
                  <a:pt x="29676" y="12108"/>
                </a:cubicBezTo>
                <a:cubicBezTo>
                  <a:pt x="29672" y="12117"/>
                  <a:pt x="29668" y="12126"/>
                  <a:pt x="29663" y="12133"/>
                </a:cubicBezTo>
                <a:cubicBezTo>
                  <a:pt x="29657" y="12141"/>
                  <a:pt x="29651" y="12149"/>
                  <a:pt x="29645" y="12156"/>
                </a:cubicBezTo>
                <a:cubicBezTo>
                  <a:pt x="29638" y="12162"/>
                  <a:pt x="29630" y="12168"/>
                  <a:pt x="29623" y="12174"/>
                </a:cubicBezTo>
                <a:cubicBezTo>
                  <a:pt x="29615" y="12179"/>
                  <a:pt x="29606" y="12183"/>
                  <a:pt x="29597" y="12187"/>
                </a:cubicBezTo>
                <a:cubicBezTo>
                  <a:pt x="29589" y="12191"/>
                  <a:pt x="29579" y="12193"/>
                  <a:pt x="29570" y="12195"/>
                </a:cubicBezTo>
                <a:cubicBezTo>
                  <a:pt x="29561" y="12197"/>
                  <a:pt x="29551" y="12198"/>
                  <a:pt x="29542" y="12198"/>
                </a:cubicBezTo>
                <a:lnTo>
                  <a:pt x="145" y="12198"/>
                </a:lnTo>
                <a:cubicBezTo>
                  <a:pt x="136" y="12198"/>
                  <a:pt x="126" y="12197"/>
                  <a:pt x="117" y="12195"/>
                </a:cubicBezTo>
                <a:cubicBezTo>
                  <a:pt x="108" y="12193"/>
                  <a:pt x="99" y="12191"/>
                  <a:pt x="90" y="12187"/>
                </a:cubicBezTo>
                <a:cubicBezTo>
                  <a:pt x="81" y="12183"/>
                  <a:pt x="73" y="12179"/>
                  <a:pt x="65" y="12174"/>
                </a:cubicBezTo>
                <a:cubicBezTo>
                  <a:pt x="57" y="12168"/>
                  <a:pt x="49" y="12162"/>
                  <a:pt x="43" y="12156"/>
                </a:cubicBezTo>
                <a:cubicBezTo>
                  <a:pt x="36" y="12149"/>
                  <a:pt x="30" y="12141"/>
                  <a:pt x="24" y="12133"/>
                </a:cubicBezTo>
                <a:cubicBezTo>
                  <a:pt x="19" y="12126"/>
                  <a:pt x="15" y="12117"/>
                  <a:pt x="11" y="12108"/>
                </a:cubicBezTo>
                <a:cubicBezTo>
                  <a:pt x="7" y="12099"/>
                  <a:pt x="5" y="12090"/>
                  <a:pt x="3" y="12081"/>
                </a:cubicBezTo>
                <a:cubicBezTo>
                  <a:pt x="1" y="12072"/>
                  <a:pt x="0" y="12062"/>
                  <a:pt x="0" y="120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392" name=""/>
          <p:cNvSpPr/>
          <p:nvPr/>
        </p:nvSpPr>
        <p:spPr>
          <a:xfrm>
            <a:off x="757080" y="1461960"/>
            <a:ext cx="10687320" cy="4391280"/>
          </a:xfrm>
          <a:custGeom>
            <a:avLst/>
            <a:gdLst/>
            <a:ahLst/>
            <a:rect l="0" t="0" r="r" b="b"/>
            <a:pathLst>
              <a:path w="29687" h="12198">
                <a:moveTo>
                  <a:pt x="0" y="120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053"/>
                </a:lnTo>
                <a:cubicBezTo>
                  <a:pt x="29687" y="12062"/>
                  <a:pt x="29686" y="12072"/>
                  <a:pt x="29684" y="12081"/>
                </a:cubicBezTo>
                <a:cubicBezTo>
                  <a:pt x="29683" y="12090"/>
                  <a:pt x="29680" y="12099"/>
                  <a:pt x="29676" y="12108"/>
                </a:cubicBezTo>
                <a:cubicBezTo>
                  <a:pt x="29672" y="12117"/>
                  <a:pt x="29668" y="12126"/>
                  <a:pt x="29663" y="12133"/>
                </a:cubicBezTo>
                <a:cubicBezTo>
                  <a:pt x="29657" y="12141"/>
                  <a:pt x="29651" y="12149"/>
                  <a:pt x="29645" y="12156"/>
                </a:cubicBezTo>
                <a:cubicBezTo>
                  <a:pt x="29638" y="12162"/>
                  <a:pt x="29630" y="12168"/>
                  <a:pt x="29623" y="12174"/>
                </a:cubicBezTo>
                <a:cubicBezTo>
                  <a:pt x="29615" y="12179"/>
                  <a:pt x="29606" y="12183"/>
                  <a:pt x="29597" y="12187"/>
                </a:cubicBezTo>
                <a:cubicBezTo>
                  <a:pt x="29589" y="12191"/>
                  <a:pt x="29579" y="12193"/>
                  <a:pt x="29570" y="12195"/>
                </a:cubicBezTo>
                <a:cubicBezTo>
                  <a:pt x="29561" y="12197"/>
                  <a:pt x="29551" y="12198"/>
                  <a:pt x="29542" y="12198"/>
                </a:cubicBezTo>
                <a:lnTo>
                  <a:pt x="145" y="12198"/>
                </a:lnTo>
                <a:cubicBezTo>
                  <a:pt x="136" y="12198"/>
                  <a:pt x="126" y="12197"/>
                  <a:pt x="117" y="12195"/>
                </a:cubicBezTo>
                <a:cubicBezTo>
                  <a:pt x="108" y="12193"/>
                  <a:pt x="99" y="12191"/>
                  <a:pt x="90" y="12187"/>
                </a:cubicBezTo>
                <a:cubicBezTo>
                  <a:pt x="81" y="12183"/>
                  <a:pt x="73" y="12179"/>
                  <a:pt x="65" y="12174"/>
                </a:cubicBezTo>
                <a:cubicBezTo>
                  <a:pt x="57" y="12168"/>
                  <a:pt x="49" y="12162"/>
                  <a:pt x="43" y="12156"/>
                </a:cubicBezTo>
                <a:cubicBezTo>
                  <a:pt x="36" y="12149"/>
                  <a:pt x="30" y="12141"/>
                  <a:pt x="24" y="12133"/>
                </a:cubicBezTo>
                <a:cubicBezTo>
                  <a:pt x="19" y="12126"/>
                  <a:pt x="15" y="12117"/>
                  <a:pt x="11" y="12108"/>
                </a:cubicBezTo>
                <a:cubicBezTo>
                  <a:pt x="7" y="12099"/>
                  <a:pt x="5" y="12090"/>
                  <a:pt x="3" y="12081"/>
                </a:cubicBezTo>
                <a:cubicBezTo>
                  <a:pt x="1" y="12072"/>
                  <a:pt x="0" y="12062"/>
                  <a:pt x="0" y="120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393" name=""/>
          <p:cNvSpPr txBox="1"/>
          <p:nvPr/>
        </p:nvSpPr>
        <p:spPr>
          <a:xfrm>
            <a:off x="747720" y="770400"/>
            <a:ext cx="469152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Controller — yaw + forward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914400" y="162360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┌────────────────────────────────┐       ┌────────────────────────────────┐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914400" y="1875240"/>
            <a:ext cx="1046124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YAW  (always on)              │       │  FORWARD  (--no-yaw-only)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914400" y="213588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                   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914400" y="238752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error = cx - 0.5             │       │   factor = target_bbox/bbox −1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914400" y="263916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                   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914400" y="289980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yawspeed                     │       │   forward            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914400" y="315144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  ▲    ┌─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signed sqrt         │       │     ▲    ┌── kp_distance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914400" y="340308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  │  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/                      │       │     │   /  (approach)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914400" y="3663720"/>
            <a:ext cx="1046124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───┼──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/───► error             │       │  ───┼──/────► factor 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914400" y="391536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  │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/                        │       │     │/               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914400" y="4167000"/>
            <a:ext cx="1046124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dead│                         │       │  dead│  ┌── kp_distance_back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914400" y="4427640"/>
            <a:ext cx="1046124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zone│                         │       │  zone│ /   (retreat — steeper)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914400" y="467964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                   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914400" y="493128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deg/s, clamped to            │       │   m/s, clamped, then 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914400" y="519192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±max_yawspeed                │       │   EMA + slew-rate cap          │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914400" y="5443560"/>
            <a:ext cx="104616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50" spc="-1" strike="noStrike">
                <a:solidFill>
                  <a:srgbClr val="1f2328"/>
                </a:solidFill>
                <a:latin typeface="Courier New"/>
              </a:rPr>
              <a:t>   └────────────────────────────────┘       └────────────────────────────────┘</a:t>
            </a:r>
            <a:endParaRPr b="0" lang="en-US" sz="1750" spc="-1" strike="noStrike"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47720" y="6055560"/>
            <a:ext cx="10607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Asymmetric retreat gain — no rangefinder, the only safety margin is bbox-size vs panic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47720" y="6474600"/>
            <a:ext cx="1213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threshold.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10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16" name=""/>
          <p:cNvSpPr/>
          <p:nvPr/>
        </p:nvSpPr>
        <p:spPr>
          <a:xfrm>
            <a:off x="757080" y="1461960"/>
            <a:ext cx="10687320" cy="5162760"/>
          </a:xfrm>
          <a:custGeom>
            <a:avLst/>
            <a:gdLst/>
            <a:ahLst/>
            <a:rect l="0" t="0" r="r" b="b"/>
            <a:pathLst>
              <a:path w="29687" h="14341">
                <a:moveTo>
                  <a:pt x="0" y="141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196"/>
                </a:lnTo>
                <a:cubicBezTo>
                  <a:pt x="29687" y="14205"/>
                  <a:pt x="29686" y="14215"/>
                  <a:pt x="29684" y="14224"/>
                </a:cubicBezTo>
                <a:cubicBezTo>
                  <a:pt x="29683" y="14234"/>
                  <a:pt x="29680" y="14243"/>
                  <a:pt x="29676" y="14251"/>
                </a:cubicBezTo>
                <a:cubicBezTo>
                  <a:pt x="29672" y="14260"/>
                  <a:pt x="29668" y="14269"/>
                  <a:pt x="29663" y="14277"/>
                </a:cubicBezTo>
                <a:cubicBezTo>
                  <a:pt x="29657" y="14285"/>
                  <a:pt x="29651" y="14292"/>
                  <a:pt x="29645" y="14299"/>
                </a:cubicBezTo>
                <a:cubicBezTo>
                  <a:pt x="29638" y="14305"/>
                  <a:pt x="29630" y="14311"/>
                  <a:pt x="29623" y="14317"/>
                </a:cubicBezTo>
                <a:cubicBezTo>
                  <a:pt x="29615" y="14322"/>
                  <a:pt x="29606" y="14327"/>
                  <a:pt x="29597" y="14330"/>
                </a:cubicBezTo>
                <a:cubicBezTo>
                  <a:pt x="29589" y="14334"/>
                  <a:pt x="29579" y="14337"/>
                  <a:pt x="29570" y="14338"/>
                </a:cubicBezTo>
                <a:cubicBezTo>
                  <a:pt x="29561" y="14340"/>
                  <a:pt x="29551" y="14341"/>
                  <a:pt x="29542" y="14341"/>
                </a:cubicBezTo>
                <a:lnTo>
                  <a:pt x="145" y="14341"/>
                </a:lnTo>
                <a:cubicBezTo>
                  <a:pt x="136" y="14341"/>
                  <a:pt x="126" y="14340"/>
                  <a:pt x="117" y="14338"/>
                </a:cubicBezTo>
                <a:cubicBezTo>
                  <a:pt x="108" y="14337"/>
                  <a:pt x="99" y="14334"/>
                  <a:pt x="90" y="14330"/>
                </a:cubicBezTo>
                <a:cubicBezTo>
                  <a:pt x="81" y="14327"/>
                  <a:pt x="73" y="14322"/>
                  <a:pt x="65" y="14317"/>
                </a:cubicBezTo>
                <a:cubicBezTo>
                  <a:pt x="57" y="14311"/>
                  <a:pt x="49" y="14305"/>
                  <a:pt x="43" y="14299"/>
                </a:cubicBezTo>
                <a:cubicBezTo>
                  <a:pt x="36" y="14292"/>
                  <a:pt x="30" y="14285"/>
                  <a:pt x="24" y="14277"/>
                </a:cubicBezTo>
                <a:cubicBezTo>
                  <a:pt x="19" y="14269"/>
                  <a:pt x="15" y="14260"/>
                  <a:pt x="11" y="14251"/>
                </a:cubicBezTo>
                <a:cubicBezTo>
                  <a:pt x="7" y="14243"/>
                  <a:pt x="5" y="14234"/>
                  <a:pt x="3" y="14224"/>
                </a:cubicBezTo>
                <a:cubicBezTo>
                  <a:pt x="1" y="14215"/>
                  <a:pt x="0" y="14205"/>
                  <a:pt x="0" y="141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417" name=""/>
          <p:cNvSpPr/>
          <p:nvPr/>
        </p:nvSpPr>
        <p:spPr>
          <a:xfrm>
            <a:off x="757080" y="1461960"/>
            <a:ext cx="10687320" cy="5162760"/>
          </a:xfrm>
          <a:custGeom>
            <a:avLst/>
            <a:gdLst/>
            <a:ahLst/>
            <a:rect l="0" t="0" r="r" b="b"/>
            <a:pathLst>
              <a:path w="29687" h="14341">
                <a:moveTo>
                  <a:pt x="0" y="141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196"/>
                </a:lnTo>
                <a:cubicBezTo>
                  <a:pt x="29687" y="14205"/>
                  <a:pt x="29686" y="14215"/>
                  <a:pt x="29684" y="14224"/>
                </a:cubicBezTo>
                <a:cubicBezTo>
                  <a:pt x="29683" y="14234"/>
                  <a:pt x="29680" y="14243"/>
                  <a:pt x="29676" y="14251"/>
                </a:cubicBezTo>
                <a:cubicBezTo>
                  <a:pt x="29672" y="14260"/>
                  <a:pt x="29668" y="14269"/>
                  <a:pt x="29663" y="14277"/>
                </a:cubicBezTo>
                <a:cubicBezTo>
                  <a:pt x="29657" y="14285"/>
                  <a:pt x="29651" y="14292"/>
                  <a:pt x="29645" y="14299"/>
                </a:cubicBezTo>
                <a:cubicBezTo>
                  <a:pt x="29638" y="14305"/>
                  <a:pt x="29630" y="14311"/>
                  <a:pt x="29623" y="14317"/>
                </a:cubicBezTo>
                <a:cubicBezTo>
                  <a:pt x="29615" y="14322"/>
                  <a:pt x="29606" y="14327"/>
                  <a:pt x="29597" y="14330"/>
                </a:cubicBezTo>
                <a:cubicBezTo>
                  <a:pt x="29589" y="14334"/>
                  <a:pt x="29579" y="14337"/>
                  <a:pt x="29570" y="14338"/>
                </a:cubicBezTo>
                <a:cubicBezTo>
                  <a:pt x="29561" y="14340"/>
                  <a:pt x="29551" y="14341"/>
                  <a:pt x="29542" y="14341"/>
                </a:cubicBezTo>
                <a:lnTo>
                  <a:pt x="145" y="14341"/>
                </a:lnTo>
                <a:cubicBezTo>
                  <a:pt x="136" y="14341"/>
                  <a:pt x="126" y="14340"/>
                  <a:pt x="117" y="14338"/>
                </a:cubicBezTo>
                <a:cubicBezTo>
                  <a:pt x="108" y="14337"/>
                  <a:pt x="99" y="14334"/>
                  <a:pt x="90" y="14330"/>
                </a:cubicBezTo>
                <a:cubicBezTo>
                  <a:pt x="81" y="14327"/>
                  <a:pt x="73" y="14322"/>
                  <a:pt x="65" y="14317"/>
                </a:cubicBezTo>
                <a:cubicBezTo>
                  <a:pt x="57" y="14311"/>
                  <a:pt x="49" y="14305"/>
                  <a:pt x="43" y="14299"/>
                </a:cubicBezTo>
                <a:cubicBezTo>
                  <a:pt x="36" y="14292"/>
                  <a:pt x="30" y="14285"/>
                  <a:pt x="24" y="14277"/>
                </a:cubicBezTo>
                <a:cubicBezTo>
                  <a:pt x="19" y="14269"/>
                  <a:pt x="15" y="14260"/>
                  <a:pt x="11" y="14251"/>
                </a:cubicBezTo>
                <a:cubicBezTo>
                  <a:pt x="7" y="14243"/>
                  <a:pt x="5" y="14234"/>
                  <a:pt x="3" y="14224"/>
                </a:cubicBezTo>
                <a:cubicBezTo>
                  <a:pt x="1" y="14215"/>
                  <a:pt x="0" y="14205"/>
                  <a:pt x="0" y="141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418" name=""/>
          <p:cNvSpPr txBox="1"/>
          <p:nvPr/>
        </p:nvSpPr>
        <p:spPr>
          <a:xfrm>
            <a:off x="747720" y="770400"/>
            <a:ext cx="70506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Controller — altitude + frame-edge safety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914400" y="162324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┌────────────────────────────────┐       ┌─────────────────────────────────┐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914400" y="186264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ALTITUDE  (drone only)        │       │  FRAME-EDGE SAFETY            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914400" y="211068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                            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914400" y="235008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err = current - target_alt   │       │   ┌──────────────────────────┐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914400" y="258948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down = kp_alt * err          │       │   │ push (force away)       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914400" y="2837520"/>
            <a:ext cx="103734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clamp(±max_climb/down)       │       │   │═══════════════════════ ═ │margin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914400" y="307692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│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fade (natural→0)        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914400" y="331632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Reads:  drone.telemetry.      │       │   │═══════════════════════ ═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914400" y="356436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position() cache      │       │   │                         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914400" y="380376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│  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(controller zone)   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914400" y="404316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v1.1: capability-gated;       │       │   │                         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914400" y="429120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rover ignores entirely. │       │   │═══════════════════════ ═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914400" y="453060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│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fade                    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914400" y="4770000"/>
            <a:ext cx="1037304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│═══════════════════════ ═ │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margin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914400" y="501804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│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push                     │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914400" y="525744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└──────────────────────────┘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914400" y="550548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                              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914400" y="574488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Top → forward, Bottom → back  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914400" y="598428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│                                │       │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(drone). Rover: bottom = stop.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914400" y="6232320"/>
            <a:ext cx="999360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└────────────────────────────────┘       └─────────────────────────────────┘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166904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11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43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444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445" name=""/>
          <p:cNvSpPr txBox="1"/>
          <p:nvPr/>
        </p:nvSpPr>
        <p:spPr>
          <a:xfrm>
            <a:off x="747720" y="770400"/>
            <a:ext cx="49186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Detection callback (hot path)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914400" y="1622160"/>
            <a:ext cx="536544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per frame  (≈ 30 fps, on GStreamer streaming thread)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914400" y="1806480"/>
            <a:ext cx="5365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────────────────────────────────────────────────────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914400" y="1997280"/>
            <a:ext cx="614520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persons : list[HailoDetection]   ← Hailo + tile cropper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914400" y="218160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914400" y="236556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914400" y="2556360"/>
            <a:ext cx="58528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tracker.update(persons)  ──►  list[TrackedDetection]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914400" y="274068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914400" y="292464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914400" y="3115440"/>
            <a:ext cx="5365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┌─────────────────────────────────────────────┐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914400" y="3299760"/>
            <a:ext cx="5365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│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choose target:                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914400" y="3483720"/>
            <a:ext cx="5365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│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LOCKED  → find by track_id  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914400" y="3674520"/>
            <a:ext cx="1171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│   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2081520" y="3659400"/>
            <a:ext cx="161640" cy="18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DejaVuSansMono"/>
              </a:rPr>
              <a:t>↳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2179080" y="3674520"/>
            <a:ext cx="40971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miss  → ReIDManager.try_reidentify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914400" y="3858840"/>
            <a:ext cx="1171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│   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2081520" y="3843360"/>
            <a:ext cx="161640" cy="18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DejaVuSansMono"/>
              </a:rPr>
              <a:t>↳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2179080" y="3858840"/>
            <a:ext cx="40971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miss  → score_visible_persons (RAW)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914400" y="4043160"/>
            <a:ext cx="5365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│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AUTO    → largest_by_bbox   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914400" y="4233600"/>
            <a:ext cx="5365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└─────────────────────────────────────────────┘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914400" y="441792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914400" y="460872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914400" y="4793040"/>
            <a:ext cx="64378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ReIDManager.update_gallery(target)   ◄── drift / dup gates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914400" y="497700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914400" y="516780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914400" y="5352120"/>
            <a:ext cx="51699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shared_state.update(detection, available_ids)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914400" y="553608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914400" y="5726880"/>
            <a:ext cx="146376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914400" y="5911200"/>
            <a:ext cx="33166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vision_branches pad probe: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914400" y="6095160"/>
            <a:ext cx="32194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•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strip tile rectangles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914400" y="6285960"/>
            <a:ext cx="53650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•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retag target's HailoDetection → class_id 99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914400" y="6470280"/>
            <a:ext cx="4877280" cy="18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            </a:t>
            </a:r>
            <a:r>
              <a:rPr b="0" lang="en-US" sz="1280" spc="-1" strike="noStrike">
                <a:solidFill>
                  <a:srgbClr val="1f2328"/>
                </a:solidFill>
                <a:latin typeface="Courier New"/>
              </a:rPr>
              <a:t>(overlay YAML draws it bigger/greener)</a:t>
            </a:r>
            <a:endParaRPr b="0" lang="en-US" sz="1280" spc="-1" strike="noStrike"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12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481" name=""/>
          <p:cNvSpPr/>
          <p:nvPr/>
        </p:nvSpPr>
        <p:spPr>
          <a:xfrm>
            <a:off x="757080" y="1461960"/>
            <a:ext cx="10687320" cy="3019680"/>
          </a:xfrm>
          <a:custGeom>
            <a:avLst/>
            <a:gdLst/>
            <a:ahLst/>
            <a:rect l="0" t="0" r="r" b="b"/>
            <a:pathLst>
              <a:path w="29687" h="8388">
                <a:moveTo>
                  <a:pt x="0" y="8243"/>
                </a:moveTo>
                <a:lnTo>
                  <a:pt x="0" y="146"/>
                </a:lnTo>
                <a:cubicBezTo>
                  <a:pt x="0" y="137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7"/>
                  <a:pt x="29687" y="146"/>
                </a:cubicBezTo>
                <a:lnTo>
                  <a:pt x="29687" y="8243"/>
                </a:lnTo>
                <a:cubicBezTo>
                  <a:pt x="29687" y="8252"/>
                  <a:pt x="29686" y="8262"/>
                  <a:pt x="29684" y="8271"/>
                </a:cubicBezTo>
                <a:cubicBezTo>
                  <a:pt x="29683" y="8280"/>
                  <a:pt x="29680" y="8289"/>
                  <a:pt x="29676" y="8298"/>
                </a:cubicBezTo>
                <a:cubicBezTo>
                  <a:pt x="29672" y="8307"/>
                  <a:pt x="29668" y="8316"/>
                  <a:pt x="29663" y="8323"/>
                </a:cubicBezTo>
                <a:cubicBezTo>
                  <a:pt x="29657" y="8331"/>
                  <a:pt x="29651" y="8339"/>
                  <a:pt x="29645" y="8346"/>
                </a:cubicBezTo>
                <a:cubicBezTo>
                  <a:pt x="29638" y="8352"/>
                  <a:pt x="29630" y="8358"/>
                  <a:pt x="29623" y="8364"/>
                </a:cubicBezTo>
                <a:cubicBezTo>
                  <a:pt x="29615" y="8369"/>
                  <a:pt x="29606" y="8373"/>
                  <a:pt x="29597" y="8377"/>
                </a:cubicBezTo>
                <a:cubicBezTo>
                  <a:pt x="29589" y="8381"/>
                  <a:pt x="29579" y="8383"/>
                  <a:pt x="29570" y="8385"/>
                </a:cubicBezTo>
                <a:cubicBezTo>
                  <a:pt x="29561" y="8387"/>
                  <a:pt x="29551" y="8388"/>
                  <a:pt x="29542" y="8388"/>
                </a:cubicBezTo>
                <a:lnTo>
                  <a:pt x="145" y="8388"/>
                </a:lnTo>
                <a:cubicBezTo>
                  <a:pt x="136" y="8388"/>
                  <a:pt x="126" y="8387"/>
                  <a:pt x="117" y="8385"/>
                </a:cubicBezTo>
                <a:cubicBezTo>
                  <a:pt x="108" y="8383"/>
                  <a:pt x="99" y="8381"/>
                  <a:pt x="90" y="8377"/>
                </a:cubicBezTo>
                <a:cubicBezTo>
                  <a:pt x="81" y="8373"/>
                  <a:pt x="73" y="8369"/>
                  <a:pt x="65" y="8364"/>
                </a:cubicBezTo>
                <a:cubicBezTo>
                  <a:pt x="57" y="8358"/>
                  <a:pt x="49" y="8352"/>
                  <a:pt x="43" y="8346"/>
                </a:cubicBezTo>
                <a:cubicBezTo>
                  <a:pt x="36" y="8339"/>
                  <a:pt x="30" y="8331"/>
                  <a:pt x="24" y="8323"/>
                </a:cubicBezTo>
                <a:cubicBezTo>
                  <a:pt x="19" y="8316"/>
                  <a:pt x="15" y="8307"/>
                  <a:pt x="11" y="8298"/>
                </a:cubicBezTo>
                <a:cubicBezTo>
                  <a:pt x="7" y="8289"/>
                  <a:pt x="5" y="8280"/>
                  <a:pt x="3" y="8271"/>
                </a:cubicBezTo>
                <a:cubicBezTo>
                  <a:pt x="1" y="8262"/>
                  <a:pt x="0" y="8252"/>
                  <a:pt x="0" y="824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482" name=""/>
          <p:cNvSpPr/>
          <p:nvPr/>
        </p:nvSpPr>
        <p:spPr>
          <a:xfrm>
            <a:off x="757080" y="1461960"/>
            <a:ext cx="10687320" cy="3019680"/>
          </a:xfrm>
          <a:custGeom>
            <a:avLst/>
            <a:gdLst/>
            <a:ahLst/>
            <a:rect l="0" t="0" r="r" b="b"/>
            <a:pathLst>
              <a:path w="29687" h="8388">
                <a:moveTo>
                  <a:pt x="0" y="8243"/>
                </a:moveTo>
                <a:lnTo>
                  <a:pt x="0" y="146"/>
                </a:lnTo>
                <a:cubicBezTo>
                  <a:pt x="0" y="137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7"/>
                  <a:pt x="29687" y="146"/>
                </a:cubicBezTo>
                <a:lnTo>
                  <a:pt x="29687" y="8243"/>
                </a:lnTo>
                <a:cubicBezTo>
                  <a:pt x="29687" y="8252"/>
                  <a:pt x="29686" y="8262"/>
                  <a:pt x="29684" y="8271"/>
                </a:cubicBezTo>
                <a:cubicBezTo>
                  <a:pt x="29683" y="8280"/>
                  <a:pt x="29680" y="8289"/>
                  <a:pt x="29676" y="8298"/>
                </a:cubicBezTo>
                <a:cubicBezTo>
                  <a:pt x="29672" y="8307"/>
                  <a:pt x="29668" y="8316"/>
                  <a:pt x="29663" y="8323"/>
                </a:cubicBezTo>
                <a:cubicBezTo>
                  <a:pt x="29657" y="8331"/>
                  <a:pt x="29651" y="8339"/>
                  <a:pt x="29645" y="8346"/>
                </a:cubicBezTo>
                <a:cubicBezTo>
                  <a:pt x="29638" y="8352"/>
                  <a:pt x="29630" y="8358"/>
                  <a:pt x="29623" y="8364"/>
                </a:cubicBezTo>
                <a:cubicBezTo>
                  <a:pt x="29615" y="8369"/>
                  <a:pt x="29606" y="8373"/>
                  <a:pt x="29597" y="8377"/>
                </a:cubicBezTo>
                <a:cubicBezTo>
                  <a:pt x="29589" y="8381"/>
                  <a:pt x="29579" y="8383"/>
                  <a:pt x="29570" y="8385"/>
                </a:cubicBezTo>
                <a:cubicBezTo>
                  <a:pt x="29561" y="8387"/>
                  <a:pt x="29551" y="8388"/>
                  <a:pt x="29542" y="8388"/>
                </a:cubicBezTo>
                <a:lnTo>
                  <a:pt x="145" y="8388"/>
                </a:lnTo>
                <a:cubicBezTo>
                  <a:pt x="136" y="8388"/>
                  <a:pt x="126" y="8387"/>
                  <a:pt x="117" y="8385"/>
                </a:cubicBezTo>
                <a:cubicBezTo>
                  <a:pt x="108" y="8383"/>
                  <a:pt x="99" y="8381"/>
                  <a:pt x="90" y="8377"/>
                </a:cubicBezTo>
                <a:cubicBezTo>
                  <a:pt x="81" y="8373"/>
                  <a:pt x="73" y="8369"/>
                  <a:pt x="65" y="8364"/>
                </a:cubicBezTo>
                <a:cubicBezTo>
                  <a:pt x="57" y="8358"/>
                  <a:pt x="49" y="8352"/>
                  <a:pt x="43" y="8346"/>
                </a:cubicBezTo>
                <a:cubicBezTo>
                  <a:pt x="36" y="8339"/>
                  <a:pt x="30" y="8331"/>
                  <a:pt x="24" y="8323"/>
                </a:cubicBezTo>
                <a:cubicBezTo>
                  <a:pt x="19" y="8316"/>
                  <a:pt x="15" y="8307"/>
                  <a:pt x="11" y="8298"/>
                </a:cubicBezTo>
                <a:cubicBezTo>
                  <a:pt x="7" y="8289"/>
                  <a:pt x="5" y="8280"/>
                  <a:pt x="3" y="8271"/>
                </a:cubicBezTo>
                <a:cubicBezTo>
                  <a:pt x="1" y="8262"/>
                  <a:pt x="0" y="8252"/>
                  <a:pt x="0" y="82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483" name=""/>
          <p:cNvSpPr txBox="1"/>
          <p:nvPr/>
        </p:nvSpPr>
        <p:spPr>
          <a:xfrm>
            <a:off x="747720" y="770400"/>
            <a:ext cx="510012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ReID — three similarity bands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914400" y="1623600"/>
            <a:ext cx="3646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sim vs gallery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914400" y="1890360"/>
            <a:ext cx="8834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0.0 ─────────────────────────────────────────────────── 1.0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914400" y="216648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│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DRIFT     │    NORMAL    │    DUPLICATE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914400" y="243324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│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sim &lt; 0.6   │ 0.6 ≤ s ≤ 0.9│   sim &gt; 0.9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914400" y="270000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│              │              │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914400" y="297612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│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don't     │  → store     │  → skip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914400" y="324288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│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store     │    FIFO-out  │  → every Nth dup: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914400" y="350964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│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run       │    oldest    │    refresh oldest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914400" y="378576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│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re-acquire│              │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914400" y="405252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│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pass      │              │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8762760" y="4686120"/>
            <a:ext cx="1172160" cy="362160"/>
          </a:xfrm>
          <a:custGeom>
            <a:avLst/>
            <a:gdLst/>
            <a:ahLst/>
            <a:rect l="0" t="0" r="r" b="b"/>
            <a:pathLst>
              <a:path w="3256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2" y="27"/>
                </a:cubicBezTo>
                <a:cubicBezTo>
                  <a:pt x="80" y="21"/>
                  <a:pt x="90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3097" y="0"/>
                </a:lnTo>
                <a:cubicBezTo>
                  <a:pt x="3107" y="0"/>
                  <a:pt x="3118" y="1"/>
                  <a:pt x="3128" y="3"/>
                </a:cubicBezTo>
                <a:cubicBezTo>
                  <a:pt x="3138" y="5"/>
                  <a:pt x="3148" y="8"/>
                  <a:pt x="3158" y="12"/>
                </a:cubicBezTo>
                <a:cubicBezTo>
                  <a:pt x="3167" y="16"/>
                  <a:pt x="3176" y="21"/>
                  <a:pt x="3185" y="27"/>
                </a:cubicBezTo>
                <a:cubicBezTo>
                  <a:pt x="3194" y="33"/>
                  <a:pt x="3202" y="39"/>
                  <a:pt x="3209" y="46"/>
                </a:cubicBezTo>
                <a:cubicBezTo>
                  <a:pt x="3216" y="54"/>
                  <a:pt x="3223" y="62"/>
                  <a:pt x="3229" y="71"/>
                </a:cubicBezTo>
                <a:cubicBezTo>
                  <a:pt x="3235" y="79"/>
                  <a:pt x="3239" y="88"/>
                  <a:pt x="3243" y="98"/>
                </a:cubicBezTo>
                <a:cubicBezTo>
                  <a:pt x="3247" y="108"/>
                  <a:pt x="3250" y="118"/>
                  <a:pt x="3252" y="128"/>
                </a:cubicBezTo>
                <a:cubicBezTo>
                  <a:pt x="3255" y="138"/>
                  <a:pt x="3256" y="148"/>
                  <a:pt x="3256" y="159"/>
                </a:cubicBezTo>
                <a:lnTo>
                  <a:pt x="3256" y="848"/>
                </a:lnTo>
                <a:cubicBezTo>
                  <a:pt x="3256" y="858"/>
                  <a:pt x="3255" y="868"/>
                  <a:pt x="3252" y="879"/>
                </a:cubicBezTo>
                <a:cubicBezTo>
                  <a:pt x="3250" y="889"/>
                  <a:pt x="3247" y="899"/>
                  <a:pt x="3243" y="908"/>
                </a:cubicBezTo>
                <a:cubicBezTo>
                  <a:pt x="3239" y="918"/>
                  <a:pt x="3235" y="927"/>
                  <a:pt x="3229" y="936"/>
                </a:cubicBezTo>
                <a:cubicBezTo>
                  <a:pt x="3223" y="945"/>
                  <a:pt x="3216" y="953"/>
                  <a:pt x="3209" y="960"/>
                </a:cubicBezTo>
                <a:cubicBezTo>
                  <a:pt x="3202" y="967"/>
                  <a:pt x="3194" y="974"/>
                  <a:pt x="3185" y="980"/>
                </a:cubicBezTo>
                <a:cubicBezTo>
                  <a:pt x="3176" y="985"/>
                  <a:pt x="3167" y="990"/>
                  <a:pt x="3158" y="994"/>
                </a:cubicBezTo>
                <a:cubicBezTo>
                  <a:pt x="3148" y="998"/>
                  <a:pt x="3138" y="1001"/>
                  <a:pt x="3128" y="1003"/>
                </a:cubicBezTo>
                <a:cubicBezTo>
                  <a:pt x="3118" y="1005"/>
                  <a:pt x="3107" y="1006"/>
                  <a:pt x="3097" y="1006"/>
                </a:cubicBezTo>
                <a:lnTo>
                  <a:pt x="160" y="1006"/>
                </a:lnTo>
                <a:cubicBezTo>
                  <a:pt x="149" y="1006"/>
                  <a:pt x="139" y="1005"/>
                  <a:pt x="129" y="1003"/>
                </a:cubicBezTo>
                <a:cubicBezTo>
                  <a:pt x="119" y="1001"/>
                  <a:pt x="109" y="998"/>
                  <a:pt x="99" y="994"/>
                </a:cubicBezTo>
                <a:cubicBezTo>
                  <a:pt x="90" y="990"/>
                  <a:pt x="80" y="985"/>
                  <a:pt x="72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495" name=""/>
          <p:cNvSpPr txBox="1"/>
          <p:nvPr/>
        </p:nvSpPr>
        <p:spPr>
          <a:xfrm>
            <a:off x="747720" y="4683960"/>
            <a:ext cx="8007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Plus raw-detection fallback: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if tracker emits zero tracks but raw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8854200" y="4737600"/>
            <a:ext cx="982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persons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9934200" y="4683960"/>
            <a:ext cx="14745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exist, score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747720" y="5093640"/>
            <a:ext cx="6648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them directly. Locked-follow survives tracker dropouts.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1771560" y="5667120"/>
            <a:ext cx="3152880" cy="362520"/>
          </a:xfrm>
          <a:custGeom>
            <a:avLst/>
            <a:gdLst/>
            <a:ahLst/>
            <a:rect l="0" t="0" r="r" b="b"/>
            <a:pathLst>
              <a:path w="8758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8600" y="0"/>
                </a:lnTo>
                <a:cubicBezTo>
                  <a:pt x="8610" y="0"/>
                  <a:pt x="8620" y="1"/>
                  <a:pt x="8631" y="3"/>
                </a:cubicBezTo>
                <a:cubicBezTo>
                  <a:pt x="8641" y="5"/>
                  <a:pt x="8651" y="8"/>
                  <a:pt x="8660" y="12"/>
                </a:cubicBezTo>
                <a:cubicBezTo>
                  <a:pt x="8670" y="16"/>
                  <a:pt x="8679" y="21"/>
                  <a:pt x="8688" y="27"/>
                </a:cubicBezTo>
                <a:cubicBezTo>
                  <a:pt x="8697" y="33"/>
                  <a:pt x="8705" y="39"/>
                  <a:pt x="8712" y="47"/>
                </a:cubicBezTo>
                <a:cubicBezTo>
                  <a:pt x="8719" y="54"/>
                  <a:pt x="8726" y="62"/>
                  <a:pt x="8732" y="71"/>
                </a:cubicBezTo>
                <a:cubicBezTo>
                  <a:pt x="8737" y="79"/>
                  <a:pt x="8742" y="89"/>
                  <a:pt x="8746" y="98"/>
                </a:cubicBezTo>
                <a:cubicBezTo>
                  <a:pt x="8750" y="108"/>
                  <a:pt x="8753" y="118"/>
                  <a:pt x="8755" y="128"/>
                </a:cubicBezTo>
                <a:cubicBezTo>
                  <a:pt x="8757" y="138"/>
                  <a:pt x="8758" y="149"/>
                  <a:pt x="8758" y="159"/>
                </a:cubicBezTo>
                <a:lnTo>
                  <a:pt x="8758" y="848"/>
                </a:lnTo>
                <a:cubicBezTo>
                  <a:pt x="8758" y="858"/>
                  <a:pt x="8757" y="869"/>
                  <a:pt x="8755" y="879"/>
                </a:cubicBezTo>
                <a:cubicBezTo>
                  <a:pt x="8753" y="889"/>
                  <a:pt x="8750" y="899"/>
                  <a:pt x="8746" y="909"/>
                </a:cubicBezTo>
                <a:cubicBezTo>
                  <a:pt x="8742" y="918"/>
                  <a:pt x="8737" y="927"/>
                  <a:pt x="8732" y="936"/>
                </a:cubicBezTo>
                <a:cubicBezTo>
                  <a:pt x="8726" y="945"/>
                  <a:pt x="8719" y="953"/>
                  <a:pt x="8712" y="960"/>
                </a:cubicBezTo>
                <a:cubicBezTo>
                  <a:pt x="8705" y="967"/>
                  <a:pt x="8697" y="974"/>
                  <a:pt x="8688" y="980"/>
                </a:cubicBezTo>
                <a:cubicBezTo>
                  <a:pt x="8679" y="986"/>
                  <a:pt x="8670" y="991"/>
                  <a:pt x="8660" y="995"/>
                </a:cubicBezTo>
                <a:cubicBezTo>
                  <a:pt x="8651" y="999"/>
                  <a:pt x="8641" y="1002"/>
                  <a:pt x="8631" y="1004"/>
                </a:cubicBezTo>
                <a:cubicBezTo>
                  <a:pt x="8620" y="1006"/>
                  <a:pt x="8610" y="1007"/>
                  <a:pt x="8600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00" name=""/>
          <p:cNvSpPr txBox="1"/>
          <p:nvPr/>
        </p:nvSpPr>
        <p:spPr>
          <a:xfrm>
            <a:off x="747720" y="5664960"/>
            <a:ext cx="10296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Knobs: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869840" y="5718600"/>
            <a:ext cx="2945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--reid-threshold 0.75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5076720" y="5667120"/>
            <a:ext cx="3848400" cy="362520"/>
          </a:xfrm>
          <a:custGeom>
            <a:avLst/>
            <a:gdLst/>
            <a:ahLst/>
            <a:rect l="0" t="0" r="r" b="b"/>
            <a:pathLst>
              <a:path w="10690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531" y="0"/>
                </a:lnTo>
                <a:cubicBezTo>
                  <a:pt x="10542" y="0"/>
                  <a:pt x="10552" y="1"/>
                  <a:pt x="10562" y="3"/>
                </a:cubicBezTo>
                <a:cubicBezTo>
                  <a:pt x="10572" y="5"/>
                  <a:pt x="10582" y="8"/>
                  <a:pt x="10592" y="12"/>
                </a:cubicBezTo>
                <a:cubicBezTo>
                  <a:pt x="10602" y="16"/>
                  <a:pt x="10611" y="21"/>
                  <a:pt x="10619" y="27"/>
                </a:cubicBezTo>
                <a:cubicBezTo>
                  <a:pt x="10628" y="33"/>
                  <a:pt x="10636" y="39"/>
                  <a:pt x="10643" y="47"/>
                </a:cubicBezTo>
                <a:cubicBezTo>
                  <a:pt x="10651" y="54"/>
                  <a:pt x="10657" y="62"/>
                  <a:pt x="10663" y="71"/>
                </a:cubicBezTo>
                <a:cubicBezTo>
                  <a:pt x="10669" y="79"/>
                  <a:pt x="10674" y="89"/>
                  <a:pt x="10678" y="98"/>
                </a:cubicBezTo>
                <a:cubicBezTo>
                  <a:pt x="10682" y="108"/>
                  <a:pt x="10685" y="118"/>
                  <a:pt x="10687" y="128"/>
                </a:cubicBezTo>
                <a:cubicBezTo>
                  <a:pt x="10689" y="138"/>
                  <a:pt x="10690" y="149"/>
                  <a:pt x="10690" y="159"/>
                </a:cubicBezTo>
                <a:lnTo>
                  <a:pt x="10690" y="848"/>
                </a:lnTo>
                <a:cubicBezTo>
                  <a:pt x="10690" y="858"/>
                  <a:pt x="10689" y="869"/>
                  <a:pt x="10687" y="879"/>
                </a:cubicBezTo>
                <a:cubicBezTo>
                  <a:pt x="10685" y="889"/>
                  <a:pt x="10682" y="899"/>
                  <a:pt x="10678" y="909"/>
                </a:cubicBezTo>
                <a:cubicBezTo>
                  <a:pt x="10674" y="918"/>
                  <a:pt x="10669" y="927"/>
                  <a:pt x="10663" y="936"/>
                </a:cubicBezTo>
                <a:cubicBezTo>
                  <a:pt x="10657" y="945"/>
                  <a:pt x="10651" y="953"/>
                  <a:pt x="10643" y="960"/>
                </a:cubicBezTo>
                <a:cubicBezTo>
                  <a:pt x="10636" y="967"/>
                  <a:pt x="10628" y="974"/>
                  <a:pt x="10619" y="980"/>
                </a:cubicBezTo>
                <a:cubicBezTo>
                  <a:pt x="10611" y="986"/>
                  <a:pt x="10602" y="991"/>
                  <a:pt x="10592" y="995"/>
                </a:cubicBezTo>
                <a:cubicBezTo>
                  <a:pt x="10582" y="999"/>
                  <a:pt x="10572" y="1002"/>
                  <a:pt x="10562" y="1004"/>
                </a:cubicBezTo>
                <a:cubicBezTo>
                  <a:pt x="10552" y="1006"/>
                  <a:pt x="10542" y="1007"/>
                  <a:pt x="10531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03" name=""/>
          <p:cNvSpPr txBox="1"/>
          <p:nvPr/>
        </p:nvSpPr>
        <p:spPr>
          <a:xfrm>
            <a:off x="4921560" y="566496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5168880" y="5718600"/>
            <a:ext cx="3646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--reid-drift-threshold 0.6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9077040" y="5667120"/>
            <a:ext cx="4410360" cy="362520"/>
          </a:xfrm>
          <a:custGeom>
            <a:avLst/>
            <a:gdLst/>
            <a:ahLst/>
            <a:rect l="0" t="0" r="r" b="b"/>
            <a:pathLst>
              <a:path w="12251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251" y="0"/>
                </a:lnTo>
                <a:lnTo>
                  <a:pt x="12251" y="1007"/>
                </a:ln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06" name=""/>
          <p:cNvSpPr txBox="1"/>
          <p:nvPr/>
        </p:nvSpPr>
        <p:spPr>
          <a:xfrm>
            <a:off x="8924760" y="566496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-333720" y="6086160"/>
            <a:ext cx="4410720" cy="352800"/>
          </a:xfrm>
          <a:custGeom>
            <a:avLst/>
            <a:gdLst/>
            <a:ahLst/>
            <a:rect l="0" t="0" r="r" b="b"/>
            <a:pathLst>
              <a:path w="12252" h="980">
                <a:moveTo>
                  <a:pt x="0" y="980"/>
                </a:moveTo>
                <a:lnTo>
                  <a:pt x="0" y="0"/>
                </a:lnTo>
                <a:lnTo>
                  <a:pt x="12093" y="0"/>
                </a:lnTo>
                <a:cubicBezTo>
                  <a:pt x="12103" y="0"/>
                  <a:pt x="12114" y="1"/>
                  <a:pt x="12124" y="3"/>
                </a:cubicBezTo>
                <a:cubicBezTo>
                  <a:pt x="12134" y="5"/>
                  <a:pt x="12144" y="8"/>
                  <a:pt x="12154" y="12"/>
                </a:cubicBezTo>
                <a:cubicBezTo>
                  <a:pt x="12163" y="16"/>
                  <a:pt x="12172" y="21"/>
                  <a:pt x="12181" y="27"/>
                </a:cubicBezTo>
                <a:cubicBezTo>
                  <a:pt x="12190" y="33"/>
                  <a:pt x="12198" y="39"/>
                  <a:pt x="12205" y="47"/>
                </a:cubicBezTo>
                <a:cubicBezTo>
                  <a:pt x="12213" y="54"/>
                  <a:pt x="12219" y="62"/>
                  <a:pt x="12225" y="71"/>
                </a:cubicBezTo>
                <a:cubicBezTo>
                  <a:pt x="12231" y="80"/>
                  <a:pt x="12236" y="89"/>
                  <a:pt x="12240" y="98"/>
                </a:cubicBezTo>
                <a:cubicBezTo>
                  <a:pt x="12244" y="108"/>
                  <a:pt x="12247" y="118"/>
                  <a:pt x="12249" y="128"/>
                </a:cubicBezTo>
                <a:cubicBezTo>
                  <a:pt x="12251" y="138"/>
                  <a:pt x="12252" y="149"/>
                  <a:pt x="12252" y="159"/>
                </a:cubicBezTo>
                <a:lnTo>
                  <a:pt x="12252" y="822"/>
                </a:lnTo>
                <a:cubicBezTo>
                  <a:pt x="12252" y="832"/>
                  <a:pt x="12251" y="842"/>
                  <a:pt x="12249" y="853"/>
                </a:cubicBezTo>
                <a:cubicBezTo>
                  <a:pt x="12247" y="863"/>
                  <a:pt x="12244" y="873"/>
                  <a:pt x="12240" y="882"/>
                </a:cubicBezTo>
                <a:cubicBezTo>
                  <a:pt x="12236" y="892"/>
                  <a:pt x="12231" y="901"/>
                  <a:pt x="12225" y="910"/>
                </a:cubicBezTo>
                <a:cubicBezTo>
                  <a:pt x="12219" y="918"/>
                  <a:pt x="12213" y="926"/>
                  <a:pt x="12205" y="934"/>
                </a:cubicBezTo>
                <a:cubicBezTo>
                  <a:pt x="12198" y="941"/>
                  <a:pt x="12190" y="948"/>
                  <a:pt x="12181" y="954"/>
                </a:cubicBezTo>
                <a:cubicBezTo>
                  <a:pt x="12172" y="959"/>
                  <a:pt x="12163" y="964"/>
                  <a:pt x="12154" y="968"/>
                </a:cubicBezTo>
                <a:cubicBezTo>
                  <a:pt x="12144" y="972"/>
                  <a:pt x="12134" y="975"/>
                  <a:pt x="12124" y="977"/>
                </a:cubicBezTo>
                <a:cubicBezTo>
                  <a:pt x="12114" y="979"/>
                  <a:pt x="12103" y="980"/>
                  <a:pt x="12093" y="980"/>
                </a:cubicBezTo>
                <a:lnTo>
                  <a:pt x="0" y="980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08" name=""/>
          <p:cNvSpPr txBox="1"/>
          <p:nvPr/>
        </p:nvSpPr>
        <p:spPr>
          <a:xfrm>
            <a:off x="9172440" y="5718600"/>
            <a:ext cx="982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--reid-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47720" y="6137640"/>
            <a:ext cx="3225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duplicate-threshold 0.9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4238280" y="6086160"/>
            <a:ext cx="3286800" cy="352800"/>
          </a:xfrm>
          <a:custGeom>
            <a:avLst/>
            <a:gdLst/>
            <a:ahLst/>
            <a:rect l="0" t="0" r="r" b="b"/>
            <a:pathLst>
              <a:path w="9130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971" y="0"/>
                </a:lnTo>
                <a:cubicBezTo>
                  <a:pt x="8981" y="0"/>
                  <a:pt x="8992" y="1"/>
                  <a:pt x="9002" y="3"/>
                </a:cubicBezTo>
                <a:cubicBezTo>
                  <a:pt x="9012" y="5"/>
                  <a:pt x="9022" y="8"/>
                  <a:pt x="9032" y="12"/>
                </a:cubicBezTo>
                <a:cubicBezTo>
                  <a:pt x="9041" y="16"/>
                  <a:pt x="9050" y="21"/>
                  <a:pt x="9059" y="27"/>
                </a:cubicBezTo>
                <a:cubicBezTo>
                  <a:pt x="9068" y="33"/>
                  <a:pt x="9076" y="39"/>
                  <a:pt x="9083" y="47"/>
                </a:cubicBezTo>
                <a:cubicBezTo>
                  <a:pt x="9090" y="54"/>
                  <a:pt x="9097" y="62"/>
                  <a:pt x="9103" y="71"/>
                </a:cubicBezTo>
                <a:cubicBezTo>
                  <a:pt x="9109" y="80"/>
                  <a:pt x="9114" y="89"/>
                  <a:pt x="9117" y="98"/>
                </a:cubicBezTo>
                <a:cubicBezTo>
                  <a:pt x="9121" y="108"/>
                  <a:pt x="9124" y="118"/>
                  <a:pt x="9127" y="128"/>
                </a:cubicBezTo>
                <a:cubicBezTo>
                  <a:pt x="9129" y="138"/>
                  <a:pt x="9130" y="149"/>
                  <a:pt x="9130" y="159"/>
                </a:cubicBezTo>
                <a:lnTo>
                  <a:pt x="9130" y="822"/>
                </a:lnTo>
                <a:cubicBezTo>
                  <a:pt x="9130" y="832"/>
                  <a:pt x="9129" y="842"/>
                  <a:pt x="9127" y="853"/>
                </a:cubicBezTo>
                <a:cubicBezTo>
                  <a:pt x="9124" y="863"/>
                  <a:pt x="9121" y="873"/>
                  <a:pt x="9117" y="882"/>
                </a:cubicBezTo>
                <a:cubicBezTo>
                  <a:pt x="9114" y="892"/>
                  <a:pt x="9109" y="901"/>
                  <a:pt x="9103" y="910"/>
                </a:cubicBezTo>
                <a:cubicBezTo>
                  <a:pt x="9097" y="918"/>
                  <a:pt x="9090" y="926"/>
                  <a:pt x="9083" y="934"/>
                </a:cubicBezTo>
                <a:cubicBezTo>
                  <a:pt x="9076" y="941"/>
                  <a:pt x="9068" y="948"/>
                  <a:pt x="9059" y="954"/>
                </a:cubicBezTo>
                <a:cubicBezTo>
                  <a:pt x="9050" y="959"/>
                  <a:pt x="9041" y="964"/>
                  <a:pt x="9032" y="968"/>
                </a:cubicBezTo>
                <a:cubicBezTo>
                  <a:pt x="9022" y="972"/>
                  <a:pt x="9012" y="975"/>
                  <a:pt x="9002" y="977"/>
                </a:cubicBezTo>
                <a:cubicBezTo>
                  <a:pt x="8992" y="979"/>
                  <a:pt x="8981" y="980"/>
                  <a:pt x="8971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4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40" y="926"/>
                  <a:pt x="33" y="918"/>
                  <a:pt x="27" y="910"/>
                </a:cubicBezTo>
                <a:cubicBezTo>
                  <a:pt x="21" y="901"/>
                  <a:pt x="17" y="892"/>
                  <a:pt x="13" y="882"/>
                </a:cubicBezTo>
                <a:cubicBezTo>
                  <a:pt x="9" y="873"/>
                  <a:pt x="6" y="863"/>
                  <a:pt x="4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11" name=""/>
          <p:cNvSpPr txBox="1"/>
          <p:nvPr/>
        </p:nvSpPr>
        <p:spPr>
          <a:xfrm>
            <a:off x="4081320" y="60746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4328640" y="6137640"/>
            <a:ext cx="3085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--reid-refresh-every 5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7677000" y="6086160"/>
            <a:ext cx="2857680" cy="352800"/>
          </a:xfrm>
          <a:custGeom>
            <a:avLst/>
            <a:gdLst/>
            <a:ahLst/>
            <a:rect l="0" t="0" r="r" b="b"/>
            <a:pathLst>
              <a:path w="7938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780" y="0"/>
                </a:lnTo>
                <a:cubicBezTo>
                  <a:pt x="7790" y="0"/>
                  <a:pt x="7800" y="1"/>
                  <a:pt x="7811" y="3"/>
                </a:cubicBezTo>
                <a:cubicBezTo>
                  <a:pt x="7821" y="5"/>
                  <a:pt x="7831" y="8"/>
                  <a:pt x="7840" y="12"/>
                </a:cubicBezTo>
                <a:cubicBezTo>
                  <a:pt x="7850" y="16"/>
                  <a:pt x="7859" y="21"/>
                  <a:pt x="7868" y="27"/>
                </a:cubicBezTo>
                <a:cubicBezTo>
                  <a:pt x="7877" y="33"/>
                  <a:pt x="7885" y="39"/>
                  <a:pt x="7892" y="47"/>
                </a:cubicBezTo>
                <a:cubicBezTo>
                  <a:pt x="7899" y="54"/>
                  <a:pt x="7906" y="62"/>
                  <a:pt x="7912" y="71"/>
                </a:cubicBezTo>
                <a:cubicBezTo>
                  <a:pt x="7917" y="80"/>
                  <a:pt x="7922" y="89"/>
                  <a:pt x="7926" y="98"/>
                </a:cubicBezTo>
                <a:cubicBezTo>
                  <a:pt x="7930" y="108"/>
                  <a:pt x="7933" y="118"/>
                  <a:pt x="7935" y="128"/>
                </a:cubicBezTo>
                <a:cubicBezTo>
                  <a:pt x="7937" y="138"/>
                  <a:pt x="7938" y="149"/>
                  <a:pt x="7938" y="159"/>
                </a:cubicBezTo>
                <a:lnTo>
                  <a:pt x="7938" y="822"/>
                </a:lnTo>
                <a:cubicBezTo>
                  <a:pt x="7938" y="832"/>
                  <a:pt x="7937" y="842"/>
                  <a:pt x="7935" y="853"/>
                </a:cubicBezTo>
                <a:cubicBezTo>
                  <a:pt x="7933" y="863"/>
                  <a:pt x="7930" y="873"/>
                  <a:pt x="7926" y="882"/>
                </a:cubicBezTo>
                <a:cubicBezTo>
                  <a:pt x="7922" y="892"/>
                  <a:pt x="7917" y="901"/>
                  <a:pt x="7912" y="910"/>
                </a:cubicBezTo>
                <a:cubicBezTo>
                  <a:pt x="7906" y="918"/>
                  <a:pt x="7899" y="926"/>
                  <a:pt x="7892" y="934"/>
                </a:cubicBezTo>
                <a:cubicBezTo>
                  <a:pt x="7885" y="941"/>
                  <a:pt x="7877" y="948"/>
                  <a:pt x="7868" y="954"/>
                </a:cubicBezTo>
                <a:cubicBezTo>
                  <a:pt x="7859" y="959"/>
                  <a:pt x="7850" y="964"/>
                  <a:pt x="7840" y="968"/>
                </a:cubicBezTo>
                <a:cubicBezTo>
                  <a:pt x="7831" y="972"/>
                  <a:pt x="7821" y="975"/>
                  <a:pt x="7811" y="977"/>
                </a:cubicBezTo>
                <a:cubicBezTo>
                  <a:pt x="7800" y="979"/>
                  <a:pt x="7790" y="980"/>
                  <a:pt x="7780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8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2" y="948"/>
                  <a:pt x="54" y="941"/>
                  <a:pt x="46" y="934"/>
                </a:cubicBezTo>
                <a:cubicBezTo>
                  <a:pt x="39" y="926"/>
                  <a:pt x="32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14" name=""/>
          <p:cNvSpPr txBox="1"/>
          <p:nvPr/>
        </p:nvSpPr>
        <p:spPr>
          <a:xfrm>
            <a:off x="7521120" y="60746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7768800" y="6137640"/>
            <a:ext cx="2664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--reid-timeout 20.0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10696320" y="6086160"/>
            <a:ext cx="3000960" cy="352800"/>
          </a:xfrm>
          <a:custGeom>
            <a:avLst/>
            <a:gdLst/>
            <a:ahLst/>
            <a:rect l="0" t="0" r="r" b="b"/>
            <a:pathLst>
              <a:path w="8336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336" y="0"/>
                </a:lnTo>
                <a:lnTo>
                  <a:pt x="8336" y="980"/>
                </a:ln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79" y="959"/>
                  <a:pt x="71" y="954"/>
                </a:cubicBezTo>
                <a:cubicBezTo>
                  <a:pt x="62" y="948"/>
                  <a:pt x="54" y="941"/>
                  <a:pt x="47" y="934"/>
                </a:cubicBezTo>
                <a:cubicBezTo>
                  <a:pt x="39" y="926"/>
                  <a:pt x="33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17" name=""/>
          <p:cNvSpPr txBox="1"/>
          <p:nvPr/>
        </p:nvSpPr>
        <p:spPr>
          <a:xfrm>
            <a:off x="10538640" y="60746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371160" y="6495840"/>
            <a:ext cx="3010320" cy="362160"/>
          </a:xfrm>
          <a:custGeom>
            <a:avLst/>
            <a:gdLst/>
            <a:ahLst/>
            <a:rect l="0" t="0" r="r" b="b"/>
            <a:pathLst>
              <a:path w="8362" h="1006">
                <a:moveTo>
                  <a:pt x="0" y="1006"/>
                </a:moveTo>
                <a:lnTo>
                  <a:pt x="0" y="0"/>
                </a:lnTo>
                <a:lnTo>
                  <a:pt x="8203" y="0"/>
                </a:lnTo>
                <a:cubicBezTo>
                  <a:pt x="8214" y="0"/>
                  <a:pt x="8224" y="1"/>
                  <a:pt x="8234" y="3"/>
                </a:cubicBezTo>
                <a:cubicBezTo>
                  <a:pt x="8245" y="5"/>
                  <a:pt x="8255" y="8"/>
                  <a:pt x="8264" y="12"/>
                </a:cubicBezTo>
                <a:cubicBezTo>
                  <a:pt x="8274" y="16"/>
                  <a:pt x="8283" y="21"/>
                  <a:pt x="8292" y="27"/>
                </a:cubicBezTo>
                <a:cubicBezTo>
                  <a:pt x="8300" y="33"/>
                  <a:pt x="8308" y="39"/>
                  <a:pt x="8316" y="47"/>
                </a:cubicBezTo>
                <a:cubicBezTo>
                  <a:pt x="8323" y="54"/>
                  <a:pt x="8330" y="62"/>
                  <a:pt x="8335" y="71"/>
                </a:cubicBezTo>
                <a:cubicBezTo>
                  <a:pt x="8341" y="79"/>
                  <a:pt x="8346" y="88"/>
                  <a:pt x="8350" y="98"/>
                </a:cubicBezTo>
                <a:cubicBezTo>
                  <a:pt x="8354" y="108"/>
                  <a:pt x="8357" y="118"/>
                  <a:pt x="8359" y="128"/>
                </a:cubicBezTo>
                <a:cubicBezTo>
                  <a:pt x="8361" y="138"/>
                  <a:pt x="8362" y="148"/>
                  <a:pt x="8362" y="159"/>
                </a:cubicBezTo>
                <a:lnTo>
                  <a:pt x="8362" y="848"/>
                </a:lnTo>
                <a:cubicBezTo>
                  <a:pt x="8362" y="858"/>
                  <a:pt x="8361" y="868"/>
                  <a:pt x="8359" y="879"/>
                </a:cubicBezTo>
                <a:cubicBezTo>
                  <a:pt x="8357" y="889"/>
                  <a:pt x="8354" y="899"/>
                  <a:pt x="8350" y="908"/>
                </a:cubicBezTo>
                <a:cubicBezTo>
                  <a:pt x="8346" y="918"/>
                  <a:pt x="8341" y="927"/>
                  <a:pt x="8335" y="936"/>
                </a:cubicBezTo>
                <a:cubicBezTo>
                  <a:pt x="8330" y="945"/>
                  <a:pt x="8323" y="953"/>
                  <a:pt x="8316" y="960"/>
                </a:cubicBezTo>
                <a:cubicBezTo>
                  <a:pt x="8308" y="967"/>
                  <a:pt x="8300" y="974"/>
                  <a:pt x="8292" y="980"/>
                </a:cubicBezTo>
                <a:cubicBezTo>
                  <a:pt x="8283" y="986"/>
                  <a:pt x="8274" y="990"/>
                  <a:pt x="8264" y="994"/>
                </a:cubicBezTo>
                <a:cubicBezTo>
                  <a:pt x="8255" y="998"/>
                  <a:pt x="8245" y="1001"/>
                  <a:pt x="8234" y="1003"/>
                </a:cubicBezTo>
                <a:cubicBezTo>
                  <a:pt x="8224" y="1005"/>
                  <a:pt x="8214" y="1006"/>
                  <a:pt x="8203" y="1006"/>
                </a:cubicBezTo>
                <a:lnTo>
                  <a:pt x="0" y="1006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19" name=""/>
          <p:cNvSpPr txBox="1"/>
          <p:nvPr/>
        </p:nvSpPr>
        <p:spPr>
          <a:xfrm>
            <a:off x="10786320" y="6137640"/>
            <a:ext cx="281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747720" y="6547320"/>
            <a:ext cx="2524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update-interval 10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376800" y="64936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13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26" name=""/>
          <p:cNvSpPr/>
          <p:nvPr/>
        </p:nvSpPr>
        <p:spPr>
          <a:xfrm>
            <a:off x="757080" y="1461960"/>
            <a:ext cx="10687320" cy="3553200"/>
          </a:xfrm>
          <a:custGeom>
            <a:avLst/>
            <a:gdLst/>
            <a:ahLst/>
            <a:rect l="0" t="0" r="r" b="b"/>
            <a:pathLst>
              <a:path w="29687" h="9870">
                <a:moveTo>
                  <a:pt x="0" y="972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9724"/>
                </a:lnTo>
                <a:cubicBezTo>
                  <a:pt x="29687" y="9734"/>
                  <a:pt x="29686" y="9743"/>
                  <a:pt x="29684" y="9753"/>
                </a:cubicBezTo>
                <a:cubicBezTo>
                  <a:pt x="29683" y="9762"/>
                  <a:pt x="29680" y="9771"/>
                  <a:pt x="29676" y="9780"/>
                </a:cubicBezTo>
                <a:cubicBezTo>
                  <a:pt x="29672" y="9789"/>
                  <a:pt x="29668" y="9797"/>
                  <a:pt x="29663" y="9805"/>
                </a:cubicBezTo>
                <a:cubicBezTo>
                  <a:pt x="29657" y="9813"/>
                  <a:pt x="29651" y="9820"/>
                  <a:pt x="29645" y="9827"/>
                </a:cubicBezTo>
                <a:cubicBezTo>
                  <a:pt x="29638" y="9834"/>
                  <a:pt x="29630" y="9840"/>
                  <a:pt x="29623" y="9845"/>
                </a:cubicBezTo>
                <a:cubicBezTo>
                  <a:pt x="29615" y="9851"/>
                  <a:pt x="29606" y="9855"/>
                  <a:pt x="29597" y="9859"/>
                </a:cubicBezTo>
                <a:cubicBezTo>
                  <a:pt x="29589" y="9862"/>
                  <a:pt x="29579" y="9865"/>
                  <a:pt x="29570" y="9867"/>
                </a:cubicBezTo>
                <a:cubicBezTo>
                  <a:pt x="29561" y="9869"/>
                  <a:pt x="29551" y="9870"/>
                  <a:pt x="29542" y="9870"/>
                </a:cubicBezTo>
                <a:lnTo>
                  <a:pt x="145" y="9870"/>
                </a:lnTo>
                <a:cubicBezTo>
                  <a:pt x="136" y="9870"/>
                  <a:pt x="126" y="9869"/>
                  <a:pt x="117" y="9867"/>
                </a:cubicBezTo>
                <a:cubicBezTo>
                  <a:pt x="108" y="9865"/>
                  <a:pt x="99" y="9862"/>
                  <a:pt x="90" y="9859"/>
                </a:cubicBezTo>
                <a:cubicBezTo>
                  <a:pt x="81" y="9855"/>
                  <a:pt x="73" y="9851"/>
                  <a:pt x="65" y="9845"/>
                </a:cubicBezTo>
                <a:cubicBezTo>
                  <a:pt x="57" y="9840"/>
                  <a:pt x="49" y="9834"/>
                  <a:pt x="43" y="9827"/>
                </a:cubicBezTo>
                <a:cubicBezTo>
                  <a:pt x="36" y="9820"/>
                  <a:pt x="30" y="9813"/>
                  <a:pt x="24" y="9805"/>
                </a:cubicBezTo>
                <a:cubicBezTo>
                  <a:pt x="19" y="9797"/>
                  <a:pt x="15" y="9789"/>
                  <a:pt x="11" y="9780"/>
                </a:cubicBezTo>
                <a:cubicBezTo>
                  <a:pt x="7" y="9771"/>
                  <a:pt x="5" y="9762"/>
                  <a:pt x="3" y="9753"/>
                </a:cubicBezTo>
                <a:cubicBezTo>
                  <a:pt x="1" y="9743"/>
                  <a:pt x="0" y="9734"/>
                  <a:pt x="0" y="972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527" name=""/>
          <p:cNvSpPr/>
          <p:nvPr/>
        </p:nvSpPr>
        <p:spPr>
          <a:xfrm>
            <a:off x="757080" y="1461960"/>
            <a:ext cx="10687320" cy="3553200"/>
          </a:xfrm>
          <a:custGeom>
            <a:avLst/>
            <a:gdLst/>
            <a:ahLst/>
            <a:rect l="0" t="0" r="r" b="b"/>
            <a:pathLst>
              <a:path w="29687" h="9870">
                <a:moveTo>
                  <a:pt x="0" y="972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9724"/>
                </a:lnTo>
                <a:cubicBezTo>
                  <a:pt x="29687" y="9734"/>
                  <a:pt x="29686" y="9743"/>
                  <a:pt x="29684" y="9753"/>
                </a:cubicBezTo>
                <a:cubicBezTo>
                  <a:pt x="29683" y="9762"/>
                  <a:pt x="29680" y="9771"/>
                  <a:pt x="29676" y="9780"/>
                </a:cubicBezTo>
                <a:cubicBezTo>
                  <a:pt x="29672" y="9789"/>
                  <a:pt x="29668" y="9797"/>
                  <a:pt x="29663" y="9805"/>
                </a:cubicBezTo>
                <a:cubicBezTo>
                  <a:pt x="29657" y="9813"/>
                  <a:pt x="29651" y="9820"/>
                  <a:pt x="29645" y="9827"/>
                </a:cubicBezTo>
                <a:cubicBezTo>
                  <a:pt x="29638" y="9834"/>
                  <a:pt x="29630" y="9840"/>
                  <a:pt x="29623" y="9845"/>
                </a:cubicBezTo>
                <a:cubicBezTo>
                  <a:pt x="29615" y="9851"/>
                  <a:pt x="29606" y="9855"/>
                  <a:pt x="29597" y="9859"/>
                </a:cubicBezTo>
                <a:cubicBezTo>
                  <a:pt x="29589" y="9862"/>
                  <a:pt x="29579" y="9865"/>
                  <a:pt x="29570" y="9867"/>
                </a:cubicBezTo>
                <a:cubicBezTo>
                  <a:pt x="29561" y="9869"/>
                  <a:pt x="29551" y="9870"/>
                  <a:pt x="29542" y="9870"/>
                </a:cubicBezTo>
                <a:lnTo>
                  <a:pt x="145" y="9870"/>
                </a:lnTo>
                <a:cubicBezTo>
                  <a:pt x="136" y="9870"/>
                  <a:pt x="126" y="9869"/>
                  <a:pt x="117" y="9867"/>
                </a:cubicBezTo>
                <a:cubicBezTo>
                  <a:pt x="108" y="9865"/>
                  <a:pt x="99" y="9862"/>
                  <a:pt x="90" y="9859"/>
                </a:cubicBezTo>
                <a:cubicBezTo>
                  <a:pt x="81" y="9855"/>
                  <a:pt x="73" y="9851"/>
                  <a:pt x="65" y="9845"/>
                </a:cubicBezTo>
                <a:cubicBezTo>
                  <a:pt x="57" y="9840"/>
                  <a:pt x="49" y="9834"/>
                  <a:pt x="43" y="9827"/>
                </a:cubicBezTo>
                <a:cubicBezTo>
                  <a:pt x="36" y="9820"/>
                  <a:pt x="30" y="9813"/>
                  <a:pt x="24" y="9805"/>
                </a:cubicBezTo>
                <a:cubicBezTo>
                  <a:pt x="19" y="9797"/>
                  <a:pt x="15" y="9789"/>
                  <a:pt x="11" y="9780"/>
                </a:cubicBezTo>
                <a:cubicBezTo>
                  <a:pt x="7" y="9771"/>
                  <a:pt x="5" y="9762"/>
                  <a:pt x="3" y="9753"/>
                </a:cubicBezTo>
                <a:cubicBezTo>
                  <a:pt x="1" y="9743"/>
                  <a:pt x="0" y="9734"/>
                  <a:pt x="0" y="972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528" name=""/>
          <p:cNvSpPr txBox="1"/>
          <p:nvPr/>
        </p:nvSpPr>
        <p:spPr>
          <a:xfrm>
            <a:off x="747720" y="770400"/>
            <a:ext cx="49978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Vision branches (output tree)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914400" y="1622880"/>
            <a:ext cx="553896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source ─► tile_cropper ─► user_callback ─►┐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914400" y="1851480"/>
            <a:ext cx="698364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                                      │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output_tee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914400" y="2088000"/>
            <a:ext cx="878976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┌─────────────────────────────────────┼─────────────────────────┐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914400" y="2316240"/>
            <a:ext cx="878976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▼                                     ▼                         ▼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914400" y="2544480"/>
            <a:ext cx="1011384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[--webui]                            [--openhd]            [--display / --record]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914400" y="2781000"/>
            <a:ext cx="103546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MJPEG appsink                        RTP/UDP H.264         retag target class_id=99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914400" y="3009240"/>
            <a:ext cx="758556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(client renders                      to OpenHD ground      ↓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914400" y="3237480"/>
            <a:ext cx="1011420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bboxes from JSON)                                         hailooverlay_community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914400" y="3474000"/>
            <a:ext cx="103546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(show-tiles=false, YAML)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914400" y="3702600"/>
            <a:ext cx="878976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↓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local_tee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914400" y="3930840"/>
            <a:ext cx="842832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┌──────┴──────┐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914400" y="4167360"/>
            <a:ext cx="842832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▼             ▼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914400" y="4395600"/>
            <a:ext cx="903060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                                         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[--display]    [--record]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076040" y="5343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3"/>
                  <a:pt x="204" y="35"/>
                </a:cubicBezTo>
                <a:cubicBezTo>
                  <a:pt x="215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543" name=""/>
          <p:cNvSpPr/>
          <p:nvPr/>
        </p:nvSpPr>
        <p:spPr>
          <a:xfrm>
            <a:off x="1304640" y="5219640"/>
            <a:ext cx="1172160" cy="362160"/>
          </a:xfrm>
          <a:custGeom>
            <a:avLst/>
            <a:gdLst/>
            <a:ahLst/>
            <a:rect l="0" t="0" r="r" b="b"/>
            <a:pathLst>
              <a:path w="3256" h="1006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097" y="0"/>
                </a:lnTo>
                <a:cubicBezTo>
                  <a:pt x="3107" y="0"/>
                  <a:pt x="3118" y="1"/>
                  <a:pt x="3128" y="3"/>
                </a:cubicBezTo>
                <a:cubicBezTo>
                  <a:pt x="3138" y="5"/>
                  <a:pt x="3148" y="8"/>
                  <a:pt x="3158" y="12"/>
                </a:cubicBezTo>
                <a:cubicBezTo>
                  <a:pt x="3167" y="16"/>
                  <a:pt x="3176" y="21"/>
                  <a:pt x="3185" y="26"/>
                </a:cubicBezTo>
                <a:cubicBezTo>
                  <a:pt x="3194" y="32"/>
                  <a:pt x="3202" y="39"/>
                  <a:pt x="3209" y="46"/>
                </a:cubicBezTo>
                <a:cubicBezTo>
                  <a:pt x="3217" y="54"/>
                  <a:pt x="3223" y="62"/>
                  <a:pt x="3229" y="70"/>
                </a:cubicBezTo>
                <a:cubicBezTo>
                  <a:pt x="3235" y="80"/>
                  <a:pt x="3240" y="89"/>
                  <a:pt x="3244" y="99"/>
                </a:cubicBezTo>
                <a:cubicBezTo>
                  <a:pt x="3248" y="108"/>
                  <a:pt x="3251" y="118"/>
                  <a:pt x="3253" y="128"/>
                </a:cubicBezTo>
                <a:cubicBezTo>
                  <a:pt x="3255" y="139"/>
                  <a:pt x="3256" y="149"/>
                  <a:pt x="3256" y="159"/>
                </a:cubicBezTo>
                <a:lnTo>
                  <a:pt x="3256" y="847"/>
                </a:lnTo>
                <a:cubicBezTo>
                  <a:pt x="3256" y="858"/>
                  <a:pt x="3255" y="868"/>
                  <a:pt x="3253" y="878"/>
                </a:cubicBezTo>
                <a:cubicBezTo>
                  <a:pt x="3251" y="889"/>
                  <a:pt x="3248" y="898"/>
                  <a:pt x="3244" y="908"/>
                </a:cubicBezTo>
                <a:cubicBezTo>
                  <a:pt x="3240" y="918"/>
                  <a:pt x="3235" y="927"/>
                  <a:pt x="3229" y="936"/>
                </a:cubicBezTo>
                <a:cubicBezTo>
                  <a:pt x="3223" y="944"/>
                  <a:pt x="3217" y="952"/>
                  <a:pt x="3209" y="960"/>
                </a:cubicBezTo>
                <a:cubicBezTo>
                  <a:pt x="3202" y="967"/>
                  <a:pt x="3194" y="974"/>
                  <a:pt x="3185" y="979"/>
                </a:cubicBezTo>
                <a:cubicBezTo>
                  <a:pt x="3176" y="985"/>
                  <a:pt x="3167" y="990"/>
                  <a:pt x="3158" y="994"/>
                </a:cubicBezTo>
                <a:cubicBezTo>
                  <a:pt x="3148" y="998"/>
                  <a:pt x="3138" y="1001"/>
                  <a:pt x="3128" y="1003"/>
                </a:cubicBezTo>
                <a:cubicBezTo>
                  <a:pt x="3118" y="1005"/>
                  <a:pt x="3107" y="1006"/>
                  <a:pt x="3097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44" name=""/>
          <p:cNvSpPr txBox="1"/>
          <p:nvPr/>
        </p:nvSpPr>
        <p:spPr>
          <a:xfrm>
            <a:off x="914400" y="4623840"/>
            <a:ext cx="9512280" cy="22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                                                  </a:t>
            </a:r>
            <a:r>
              <a:rPr b="0" lang="en-US" sz="1580" spc="-1" strike="noStrike">
                <a:solidFill>
                  <a:srgbClr val="1f2328"/>
                </a:solidFill>
                <a:latin typeface="Courier New"/>
              </a:rPr>
              <a:t>fpsdisplaysink valve+x264+mkv</a:t>
            </a:r>
            <a:endParaRPr b="0" lang="en-US" sz="1580" spc="-1" strike="noStrike"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393920" y="5271120"/>
            <a:ext cx="982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--webui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3085920" y="5219640"/>
            <a:ext cx="1314720" cy="362160"/>
          </a:xfrm>
          <a:custGeom>
            <a:avLst/>
            <a:gdLst/>
            <a:ahLst/>
            <a:rect l="0" t="0" r="r" b="b"/>
            <a:pathLst>
              <a:path w="3652" h="1006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5" y="5"/>
                  <a:pt x="3545" y="8"/>
                  <a:pt x="3554" y="12"/>
                </a:cubicBezTo>
                <a:cubicBezTo>
                  <a:pt x="3564" y="16"/>
                  <a:pt x="3573" y="21"/>
                  <a:pt x="3582" y="26"/>
                </a:cubicBezTo>
                <a:cubicBezTo>
                  <a:pt x="3590" y="32"/>
                  <a:pt x="3598" y="39"/>
                  <a:pt x="3606" y="46"/>
                </a:cubicBezTo>
                <a:cubicBezTo>
                  <a:pt x="3613" y="54"/>
                  <a:pt x="3620" y="62"/>
                  <a:pt x="3625" y="70"/>
                </a:cubicBezTo>
                <a:cubicBezTo>
                  <a:pt x="3631" y="80"/>
                  <a:pt x="3636" y="89"/>
                  <a:pt x="3640" y="99"/>
                </a:cubicBezTo>
                <a:cubicBezTo>
                  <a:pt x="3644" y="108"/>
                  <a:pt x="3647" y="118"/>
                  <a:pt x="3649" y="128"/>
                </a:cubicBezTo>
                <a:cubicBezTo>
                  <a:pt x="3651" y="139"/>
                  <a:pt x="3652" y="149"/>
                  <a:pt x="3652" y="159"/>
                </a:cubicBezTo>
                <a:lnTo>
                  <a:pt x="3652" y="847"/>
                </a:lnTo>
                <a:cubicBezTo>
                  <a:pt x="3652" y="858"/>
                  <a:pt x="3651" y="868"/>
                  <a:pt x="3649" y="878"/>
                </a:cubicBezTo>
                <a:cubicBezTo>
                  <a:pt x="3647" y="889"/>
                  <a:pt x="3644" y="898"/>
                  <a:pt x="3640" y="908"/>
                </a:cubicBezTo>
                <a:cubicBezTo>
                  <a:pt x="3636" y="918"/>
                  <a:pt x="3631" y="927"/>
                  <a:pt x="3625" y="936"/>
                </a:cubicBezTo>
                <a:cubicBezTo>
                  <a:pt x="3620" y="944"/>
                  <a:pt x="3613" y="952"/>
                  <a:pt x="3606" y="960"/>
                </a:cubicBezTo>
                <a:cubicBezTo>
                  <a:pt x="3598" y="967"/>
                  <a:pt x="3590" y="974"/>
                  <a:pt x="3582" y="979"/>
                </a:cubicBezTo>
                <a:cubicBezTo>
                  <a:pt x="3573" y="985"/>
                  <a:pt x="3564" y="990"/>
                  <a:pt x="3554" y="994"/>
                </a:cubicBezTo>
                <a:cubicBezTo>
                  <a:pt x="3545" y="998"/>
                  <a:pt x="3535" y="1001"/>
                  <a:pt x="3524" y="1003"/>
                </a:cubicBezTo>
                <a:cubicBezTo>
                  <a:pt x="3514" y="1005"/>
                  <a:pt x="3504" y="1006"/>
                  <a:pt x="349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47" name=""/>
          <p:cNvSpPr txBox="1"/>
          <p:nvPr/>
        </p:nvSpPr>
        <p:spPr>
          <a:xfrm>
            <a:off x="2473920" y="5217480"/>
            <a:ext cx="614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and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3182400" y="5271120"/>
            <a:ext cx="11224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--openhd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076040" y="5829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550" name=""/>
          <p:cNvSpPr txBox="1"/>
          <p:nvPr/>
        </p:nvSpPr>
        <p:spPr>
          <a:xfrm>
            <a:off x="4402800" y="5217480"/>
            <a:ext cx="6186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are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mutually exclusive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(single network encoder).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6610320" y="5705280"/>
            <a:ext cx="1457640" cy="352800"/>
          </a:xfrm>
          <a:custGeom>
            <a:avLst/>
            <a:gdLst/>
            <a:ahLst/>
            <a:rect l="0" t="0" r="r" b="b"/>
            <a:pathLst>
              <a:path w="4049" h="98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3889" y="0"/>
                </a:lnTo>
                <a:cubicBezTo>
                  <a:pt x="3899" y="0"/>
                  <a:pt x="3911" y="1"/>
                  <a:pt x="3921" y="3"/>
                </a:cubicBezTo>
                <a:cubicBezTo>
                  <a:pt x="3931" y="5"/>
                  <a:pt x="3941" y="8"/>
                  <a:pt x="3951" y="12"/>
                </a:cubicBezTo>
                <a:cubicBezTo>
                  <a:pt x="3960" y="16"/>
                  <a:pt x="3969" y="21"/>
                  <a:pt x="3978" y="27"/>
                </a:cubicBezTo>
                <a:cubicBezTo>
                  <a:pt x="3987" y="33"/>
                  <a:pt x="3995" y="39"/>
                  <a:pt x="4002" y="47"/>
                </a:cubicBezTo>
                <a:cubicBezTo>
                  <a:pt x="4010" y="54"/>
                  <a:pt x="4016" y="62"/>
                  <a:pt x="4022" y="71"/>
                </a:cubicBezTo>
                <a:cubicBezTo>
                  <a:pt x="4028" y="79"/>
                  <a:pt x="4033" y="88"/>
                  <a:pt x="4037" y="98"/>
                </a:cubicBezTo>
                <a:cubicBezTo>
                  <a:pt x="4041" y="108"/>
                  <a:pt x="4044" y="118"/>
                  <a:pt x="4046" y="128"/>
                </a:cubicBezTo>
                <a:cubicBezTo>
                  <a:pt x="4048" y="138"/>
                  <a:pt x="4049" y="148"/>
                  <a:pt x="4049" y="159"/>
                </a:cubicBezTo>
                <a:lnTo>
                  <a:pt x="4049" y="821"/>
                </a:lnTo>
                <a:cubicBezTo>
                  <a:pt x="4049" y="832"/>
                  <a:pt x="4048" y="842"/>
                  <a:pt x="4046" y="852"/>
                </a:cubicBezTo>
                <a:cubicBezTo>
                  <a:pt x="4044" y="862"/>
                  <a:pt x="4041" y="872"/>
                  <a:pt x="4037" y="882"/>
                </a:cubicBezTo>
                <a:cubicBezTo>
                  <a:pt x="4033" y="892"/>
                  <a:pt x="4028" y="901"/>
                  <a:pt x="4022" y="909"/>
                </a:cubicBezTo>
                <a:cubicBezTo>
                  <a:pt x="4016" y="918"/>
                  <a:pt x="4010" y="926"/>
                  <a:pt x="4002" y="934"/>
                </a:cubicBezTo>
                <a:cubicBezTo>
                  <a:pt x="3995" y="941"/>
                  <a:pt x="3987" y="947"/>
                  <a:pt x="3978" y="953"/>
                </a:cubicBezTo>
                <a:cubicBezTo>
                  <a:pt x="3969" y="959"/>
                  <a:pt x="3960" y="964"/>
                  <a:pt x="3951" y="968"/>
                </a:cubicBezTo>
                <a:cubicBezTo>
                  <a:pt x="3941" y="972"/>
                  <a:pt x="3931" y="975"/>
                  <a:pt x="3921" y="977"/>
                </a:cubicBezTo>
                <a:cubicBezTo>
                  <a:pt x="3911" y="979"/>
                  <a:pt x="3899" y="980"/>
                  <a:pt x="3889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1" y="947"/>
                  <a:pt x="53" y="941"/>
                  <a:pt x="46" y="934"/>
                </a:cubicBezTo>
                <a:cubicBezTo>
                  <a:pt x="39" y="926"/>
                  <a:pt x="32" y="918"/>
                  <a:pt x="26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52" name=""/>
          <p:cNvSpPr txBox="1"/>
          <p:nvPr/>
        </p:nvSpPr>
        <p:spPr>
          <a:xfrm>
            <a:off x="1300320" y="5703120"/>
            <a:ext cx="53042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Implicit-display rule: if neither UI flag is set,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6705720" y="5756760"/>
            <a:ext cx="1262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--display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076040" y="6305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5" y="192"/>
                  <a:pt x="204" y="203"/>
                </a:cubicBezTo>
                <a:cubicBezTo>
                  <a:pt x="192" y="214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555" name=""/>
          <p:cNvSpPr txBox="1"/>
          <p:nvPr/>
        </p:nvSpPr>
        <p:spPr>
          <a:xfrm>
            <a:off x="8067240" y="5703120"/>
            <a:ext cx="153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defaults </a:t>
            </a:r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on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300320" y="6179400"/>
            <a:ext cx="6985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No HW H.264 on RPi5 → x264 software encode for both.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14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1" name=""/>
          <p:cNvSpPr/>
          <p:nvPr/>
        </p:nvSpPr>
        <p:spPr>
          <a:xfrm>
            <a:off x="757080" y="2023920"/>
            <a:ext cx="10687320" cy="1467000"/>
          </a:xfrm>
          <a:custGeom>
            <a:avLst/>
            <a:gdLst/>
            <a:ahLst/>
            <a:rect l="0" t="0" r="r" b="b"/>
            <a:pathLst>
              <a:path w="29687" h="4075">
                <a:moveTo>
                  <a:pt x="0" y="39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930"/>
                </a:lnTo>
                <a:cubicBezTo>
                  <a:pt x="29687" y="3940"/>
                  <a:pt x="29686" y="3949"/>
                  <a:pt x="29684" y="3958"/>
                </a:cubicBezTo>
                <a:cubicBezTo>
                  <a:pt x="29683" y="3968"/>
                  <a:pt x="29680" y="3977"/>
                  <a:pt x="29676" y="3986"/>
                </a:cubicBezTo>
                <a:cubicBezTo>
                  <a:pt x="29672" y="3994"/>
                  <a:pt x="29668" y="4003"/>
                  <a:pt x="29663" y="4011"/>
                </a:cubicBezTo>
                <a:cubicBezTo>
                  <a:pt x="29657" y="4019"/>
                  <a:pt x="29651" y="4026"/>
                  <a:pt x="29645" y="4033"/>
                </a:cubicBezTo>
                <a:cubicBezTo>
                  <a:pt x="29638" y="4040"/>
                  <a:pt x="29630" y="4046"/>
                  <a:pt x="29623" y="4051"/>
                </a:cubicBezTo>
                <a:cubicBezTo>
                  <a:pt x="29615" y="4056"/>
                  <a:pt x="29606" y="4061"/>
                  <a:pt x="29597" y="4064"/>
                </a:cubicBezTo>
                <a:cubicBezTo>
                  <a:pt x="29589" y="4068"/>
                  <a:pt x="29579" y="4071"/>
                  <a:pt x="29570" y="4073"/>
                </a:cubicBezTo>
                <a:cubicBezTo>
                  <a:pt x="29561" y="4075"/>
                  <a:pt x="29551" y="4075"/>
                  <a:pt x="29542" y="4075"/>
                </a:cubicBezTo>
                <a:lnTo>
                  <a:pt x="145" y="4075"/>
                </a:lnTo>
                <a:cubicBezTo>
                  <a:pt x="136" y="4075"/>
                  <a:pt x="126" y="4075"/>
                  <a:pt x="117" y="4073"/>
                </a:cubicBezTo>
                <a:cubicBezTo>
                  <a:pt x="108" y="4071"/>
                  <a:pt x="99" y="4068"/>
                  <a:pt x="90" y="4064"/>
                </a:cubicBezTo>
                <a:cubicBezTo>
                  <a:pt x="81" y="4061"/>
                  <a:pt x="73" y="4056"/>
                  <a:pt x="65" y="4051"/>
                </a:cubicBezTo>
                <a:cubicBezTo>
                  <a:pt x="57" y="4046"/>
                  <a:pt x="49" y="4040"/>
                  <a:pt x="43" y="4033"/>
                </a:cubicBezTo>
                <a:cubicBezTo>
                  <a:pt x="36" y="4026"/>
                  <a:pt x="30" y="4019"/>
                  <a:pt x="24" y="4011"/>
                </a:cubicBezTo>
                <a:cubicBezTo>
                  <a:pt x="19" y="4003"/>
                  <a:pt x="15" y="3994"/>
                  <a:pt x="11" y="3986"/>
                </a:cubicBezTo>
                <a:cubicBezTo>
                  <a:pt x="7" y="3977"/>
                  <a:pt x="5" y="3968"/>
                  <a:pt x="3" y="3958"/>
                </a:cubicBezTo>
                <a:cubicBezTo>
                  <a:pt x="1" y="3949"/>
                  <a:pt x="0" y="3940"/>
                  <a:pt x="0" y="393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562" name=""/>
          <p:cNvSpPr/>
          <p:nvPr/>
        </p:nvSpPr>
        <p:spPr>
          <a:xfrm>
            <a:off x="757080" y="2023920"/>
            <a:ext cx="10687320" cy="1467000"/>
          </a:xfrm>
          <a:custGeom>
            <a:avLst/>
            <a:gdLst/>
            <a:ahLst/>
            <a:rect l="0" t="0" r="r" b="b"/>
            <a:pathLst>
              <a:path w="29687" h="4075">
                <a:moveTo>
                  <a:pt x="0" y="393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930"/>
                </a:lnTo>
                <a:cubicBezTo>
                  <a:pt x="29687" y="3940"/>
                  <a:pt x="29686" y="3949"/>
                  <a:pt x="29684" y="3958"/>
                </a:cubicBezTo>
                <a:cubicBezTo>
                  <a:pt x="29683" y="3968"/>
                  <a:pt x="29680" y="3977"/>
                  <a:pt x="29676" y="3986"/>
                </a:cubicBezTo>
                <a:cubicBezTo>
                  <a:pt x="29672" y="3994"/>
                  <a:pt x="29668" y="4003"/>
                  <a:pt x="29663" y="4011"/>
                </a:cubicBezTo>
                <a:cubicBezTo>
                  <a:pt x="29657" y="4019"/>
                  <a:pt x="29651" y="4026"/>
                  <a:pt x="29645" y="4033"/>
                </a:cubicBezTo>
                <a:cubicBezTo>
                  <a:pt x="29638" y="4040"/>
                  <a:pt x="29630" y="4046"/>
                  <a:pt x="29623" y="4051"/>
                </a:cubicBezTo>
                <a:cubicBezTo>
                  <a:pt x="29615" y="4056"/>
                  <a:pt x="29606" y="4061"/>
                  <a:pt x="29597" y="4064"/>
                </a:cubicBezTo>
                <a:cubicBezTo>
                  <a:pt x="29589" y="4068"/>
                  <a:pt x="29579" y="4071"/>
                  <a:pt x="29570" y="4073"/>
                </a:cubicBezTo>
                <a:cubicBezTo>
                  <a:pt x="29561" y="4075"/>
                  <a:pt x="29551" y="4075"/>
                  <a:pt x="29542" y="4075"/>
                </a:cubicBezTo>
                <a:lnTo>
                  <a:pt x="145" y="4075"/>
                </a:lnTo>
                <a:cubicBezTo>
                  <a:pt x="136" y="4075"/>
                  <a:pt x="126" y="4075"/>
                  <a:pt x="117" y="4073"/>
                </a:cubicBezTo>
                <a:cubicBezTo>
                  <a:pt x="108" y="4071"/>
                  <a:pt x="99" y="4068"/>
                  <a:pt x="90" y="4064"/>
                </a:cubicBezTo>
                <a:cubicBezTo>
                  <a:pt x="81" y="4061"/>
                  <a:pt x="73" y="4056"/>
                  <a:pt x="65" y="4051"/>
                </a:cubicBezTo>
                <a:cubicBezTo>
                  <a:pt x="57" y="4046"/>
                  <a:pt x="49" y="4040"/>
                  <a:pt x="43" y="4033"/>
                </a:cubicBezTo>
                <a:cubicBezTo>
                  <a:pt x="36" y="4026"/>
                  <a:pt x="30" y="4019"/>
                  <a:pt x="24" y="4011"/>
                </a:cubicBezTo>
                <a:cubicBezTo>
                  <a:pt x="19" y="4003"/>
                  <a:pt x="15" y="3994"/>
                  <a:pt x="11" y="3986"/>
                </a:cubicBezTo>
                <a:cubicBezTo>
                  <a:pt x="7" y="3977"/>
                  <a:pt x="5" y="3968"/>
                  <a:pt x="3" y="3958"/>
                </a:cubicBezTo>
                <a:cubicBezTo>
                  <a:pt x="1" y="3949"/>
                  <a:pt x="0" y="3940"/>
                  <a:pt x="0" y="393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563" name=""/>
          <p:cNvSpPr/>
          <p:nvPr/>
        </p:nvSpPr>
        <p:spPr>
          <a:xfrm>
            <a:off x="752400" y="5609880"/>
            <a:ext cx="2133720" cy="543600"/>
          </a:xfrm>
          <a:custGeom>
            <a:avLst/>
            <a:gdLst/>
            <a:ahLst/>
            <a:rect l="0" t="0" r="r" b="b"/>
            <a:pathLst>
              <a:path w="5927" h="1510">
                <a:moveTo>
                  <a:pt x="0" y="0"/>
                </a:moveTo>
                <a:lnTo>
                  <a:pt x="5927" y="0"/>
                </a:lnTo>
                <a:lnTo>
                  <a:pt x="59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4" name=""/>
          <p:cNvSpPr/>
          <p:nvPr/>
        </p:nvSpPr>
        <p:spPr>
          <a:xfrm>
            <a:off x="2885760" y="5609880"/>
            <a:ext cx="867240" cy="543600"/>
          </a:xfrm>
          <a:custGeom>
            <a:avLst/>
            <a:gdLst/>
            <a:ahLst/>
            <a:rect l="0" t="0" r="r" b="b"/>
            <a:pathLst>
              <a:path w="2409" h="1510">
                <a:moveTo>
                  <a:pt x="0" y="0"/>
                </a:moveTo>
                <a:lnTo>
                  <a:pt x="2409" y="0"/>
                </a:lnTo>
                <a:lnTo>
                  <a:pt x="2409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5" name=""/>
          <p:cNvSpPr/>
          <p:nvPr/>
        </p:nvSpPr>
        <p:spPr>
          <a:xfrm>
            <a:off x="3752640" y="5609880"/>
            <a:ext cx="5848560" cy="543600"/>
          </a:xfrm>
          <a:custGeom>
            <a:avLst/>
            <a:gdLst/>
            <a:ahLst/>
            <a:rect l="0" t="0" r="r" b="b"/>
            <a:pathLst>
              <a:path w="16246" h="1510">
                <a:moveTo>
                  <a:pt x="0" y="0"/>
                </a:moveTo>
                <a:lnTo>
                  <a:pt x="16246" y="0"/>
                </a:lnTo>
                <a:lnTo>
                  <a:pt x="1624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6" name=""/>
          <p:cNvSpPr/>
          <p:nvPr/>
        </p:nvSpPr>
        <p:spPr>
          <a:xfrm>
            <a:off x="752400" y="6153120"/>
            <a:ext cx="2133720" cy="533520"/>
          </a:xfrm>
          <a:custGeom>
            <a:avLst/>
            <a:gdLst/>
            <a:ahLst/>
            <a:rect l="0" t="0" r="r" b="b"/>
            <a:pathLst>
              <a:path w="5927" h="1482">
                <a:moveTo>
                  <a:pt x="0" y="0"/>
                </a:moveTo>
                <a:lnTo>
                  <a:pt x="5927" y="0"/>
                </a:lnTo>
                <a:lnTo>
                  <a:pt x="59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7" name=""/>
          <p:cNvSpPr/>
          <p:nvPr/>
        </p:nvSpPr>
        <p:spPr>
          <a:xfrm>
            <a:off x="2885760" y="6153120"/>
            <a:ext cx="867240" cy="533520"/>
          </a:xfrm>
          <a:custGeom>
            <a:avLst/>
            <a:gdLst/>
            <a:ahLst/>
            <a:rect l="0" t="0" r="r" b="b"/>
            <a:pathLst>
              <a:path w="2409" h="1482">
                <a:moveTo>
                  <a:pt x="0" y="0"/>
                </a:moveTo>
                <a:lnTo>
                  <a:pt x="2409" y="0"/>
                </a:lnTo>
                <a:lnTo>
                  <a:pt x="240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8" name=""/>
          <p:cNvSpPr/>
          <p:nvPr/>
        </p:nvSpPr>
        <p:spPr>
          <a:xfrm>
            <a:off x="3752640" y="6153120"/>
            <a:ext cx="5848560" cy="533520"/>
          </a:xfrm>
          <a:custGeom>
            <a:avLst/>
            <a:gdLst/>
            <a:ahLst/>
            <a:rect l="0" t="0" r="r" b="b"/>
            <a:pathLst>
              <a:path w="16246" h="1482">
                <a:moveTo>
                  <a:pt x="0" y="0"/>
                </a:moveTo>
                <a:lnTo>
                  <a:pt x="16246" y="0"/>
                </a:lnTo>
                <a:lnTo>
                  <a:pt x="1624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9" name=""/>
          <p:cNvSpPr/>
          <p:nvPr/>
        </p:nvSpPr>
        <p:spPr>
          <a:xfrm>
            <a:off x="752400" y="6686280"/>
            <a:ext cx="2133720" cy="543240"/>
          </a:xfrm>
          <a:custGeom>
            <a:avLst/>
            <a:gdLst/>
            <a:ahLst/>
            <a:rect l="0" t="0" r="r" b="b"/>
            <a:pathLst>
              <a:path w="5927" h="1509">
                <a:moveTo>
                  <a:pt x="0" y="0"/>
                </a:moveTo>
                <a:lnTo>
                  <a:pt x="5927" y="0"/>
                </a:lnTo>
                <a:lnTo>
                  <a:pt x="59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570" name=""/>
          <p:cNvSpPr/>
          <p:nvPr/>
        </p:nvSpPr>
        <p:spPr>
          <a:xfrm>
            <a:off x="2885760" y="6686280"/>
            <a:ext cx="867240" cy="543240"/>
          </a:xfrm>
          <a:custGeom>
            <a:avLst/>
            <a:gdLst/>
            <a:ahLst/>
            <a:rect l="0" t="0" r="r" b="b"/>
            <a:pathLst>
              <a:path w="2409" h="1509">
                <a:moveTo>
                  <a:pt x="0" y="0"/>
                </a:moveTo>
                <a:lnTo>
                  <a:pt x="2409" y="0"/>
                </a:lnTo>
                <a:lnTo>
                  <a:pt x="240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571" name=""/>
          <p:cNvSpPr/>
          <p:nvPr/>
        </p:nvSpPr>
        <p:spPr>
          <a:xfrm>
            <a:off x="3752640" y="6686280"/>
            <a:ext cx="5848560" cy="543240"/>
          </a:xfrm>
          <a:custGeom>
            <a:avLst/>
            <a:gdLst/>
            <a:ahLst/>
            <a:rect l="0" t="0" r="r" b="b"/>
            <a:pathLst>
              <a:path w="16246" h="1509">
                <a:moveTo>
                  <a:pt x="0" y="0"/>
                </a:moveTo>
                <a:lnTo>
                  <a:pt x="16246" y="0"/>
                </a:lnTo>
                <a:lnTo>
                  <a:pt x="1624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572" name=""/>
          <p:cNvSpPr/>
          <p:nvPr/>
        </p:nvSpPr>
        <p:spPr>
          <a:xfrm>
            <a:off x="752400" y="56098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73" name=""/>
          <p:cNvSpPr/>
          <p:nvPr/>
        </p:nvSpPr>
        <p:spPr>
          <a:xfrm>
            <a:off x="752400" y="5609880"/>
            <a:ext cx="2133720" cy="10080"/>
          </a:xfrm>
          <a:custGeom>
            <a:avLst/>
            <a:gdLst/>
            <a:ahLst/>
            <a:rect l="0" t="0" r="r" b="b"/>
            <a:pathLst>
              <a:path w="5927" h="28">
                <a:moveTo>
                  <a:pt x="0" y="0"/>
                </a:moveTo>
                <a:lnTo>
                  <a:pt x="5927" y="0"/>
                </a:lnTo>
                <a:lnTo>
                  <a:pt x="5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74" name=""/>
          <p:cNvSpPr/>
          <p:nvPr/>
        </p:nvSpPr>
        <p:spPr>
          <a:xfrm>
            <a:off x="2876400" y="56098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75" name=""/>
          <p:cNvSpPr/>
          <p:nvPr/>
        </p:nvSpPr>
        <p:spPr>
          <a:xfrm>
            <a:off x="2885760" y="5609880"/>
            <a:ext cx="876960" cy="10080"/>
          </a:xfrm>
          <a:custGeom>
            <a:avLst/>
            <a:gdLst/>
            <a:ahLst/>
            <a:rect l="0" t="0" r="r" b="b"/>
            <a:pathLst>
              <a:path w="2436" h="28">
                <a:moveTo>
                  <a:pt x="0" y="0"/>
                </a:moveTo>
                <a:lnTo>
                  <a:pt x="2436" y="0"/>
                </a:lnTo>
                <a:lnTo>
                  <a:pt x="24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76" name=""/>
          <p:cNvSpPr/>
          <p:nvPr/>
        </p:nvSpPr>
        <p:spPr>
          <a:xfrm>
            <a:off x="3752640" y="56098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77" name=""/>
          <p:cNvSpPr/>
          <p:nvPr/>
        </p:nvSpPr>
        <p:spPr>
          <a:xfrm>
            <a:off x="3762360" y="5609880"/>
            <a:ext cx="5848560" cy="10080"/>
          </a:xfrm>
          <a:custGeom>
            <a:avLst/>
            <a:gdLst/>
            <a:ahLst/>
            <a:rect l="0" t="0" r="r" b="b"/>
            <a:pathLst>
              <a:path w="16246" h="28">
                <a:moveTo>
                  <a:pt x="0" y="0"/>
                </a:moveTo>
                <a:lnTo>
                  <a:pt x="16246" y="0"/>
                </a:lnTo>
                <a:lnTo>
                  <a:pt x="162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78" name=""/>
          <p:cNvSpPr/>
          <p:nvPr/>
        </p:nvSpPr>
        <p:spPr>
          <a:xfrm>
            <a:off x="9600840" y="56098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79" name=""/>
          <p:cNvSpPr/>
          <p:nvPr/>
        </p:nvSpPr>
        <p:spPr>
          <a:xfrm>
            <a:off x="752400" y="6143400"/>
            <a:ext cx="2133720" cy="10080"/>
          </a:xfrm>
          <a:custGeom>
            <a:avLst/>
            <a:gdLst/>
            <a:ahLst/>
            <a:rect l="0" t="0" r="r" b="b"/>
            <a:pathLst>
              <a:path w="5927" h="28">
                <a:moveTo>
                  <a:pt x="0" y="0"/>
                </a:moveTo>
                <a:lnTo>
                  <a:pt x="5927" y="0"/>
                </a:lnTo>
                <a:lnTo>
                  <a:pt x="5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0" name=""/>
          <p:cNvSpPr/>
          <p:nvPr/>
        </p:nvSpPr>
        <p:spPr>
          <a:xfrm>
            <a:off x="2885760" y="6143400"/>
            <a:ext cx="876960" cy="10080"/>
          </a:xfrm>
          <a:custGeom>
            <a:avLst/>
            <a:gdLst/>
            <a:ahLst/>
            <a:rect l="0" t="0" r="r" b="b"/>
            <a:pathLst>
              <a:path w="2436" h="28">
                <a:moveTo>
                  <a:pt x="0" y="0"/>
                </a:moveTo>
                <a:lnTo>
                  <a:pt x="2436" y="0"/>
                </a:lnTo>
                <a:lnTo>
                  <a:pt x="24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1" name=""/>
          <p:cNvSpPr/>
          <p:nvPr/>
        </p:nvSpPr>
        <p:spPr>
          <a:xfrm>
            <a:off x="3762360" y="6143400"/>
            <a:ext cx="5848560" cy="10080"/>
          </a:xfrm>
          <a:custGeom>
            <a:avLst/>
            <a:gdLst/>
            <a:ahLst/>
            <a:rect l="0" t="0" r="r" b="b"/>
            <a:pathLst>
              <a:path w="16246" h="28">
                <a:moveTo>
                  <a:pt x="0" y="0"/>
                </a:moveTo>
                <a:lnTo>
                  <a:pt x="16246" y="0"/>
                </a:lnTo>
                <a:lnTo>
                  <a:pt x="162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2" name=""/>
          <p:cNvSpPr/>
          <p:nvPr/>
        </p:nvSpPr>
        <p:spPr>
          <a:xfrm>
            <a:off x="752400" y="6153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3" name=""/>
          <p:cNvSpPr/>
          <p:nvPr/>
        </p:nvSpPr>
        <p:spPr>
          <a:xfrm>
            <a:off x="2876400" y="6153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4" name=""/>
          <p:cNvSpPr/>
          <p:nvPr/>
        </p:nvSpPr>
        <p:spPr>
          <a:xfrm>
            <a:off x="3752640" y="6153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5" name=""/>
          <p:cNvSpPr/>
          <p:nvPr/>
        </p:nvSpPr>
        <p:spPr>
          <a:xfrm>
            <a:off x="9600840" y="6153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6" name=""/>
          <p:cNvSpPr/>
          <p:nvPr/>
        </p:nvSpPr>
        <p:spPr>
          <a:xfrm>
            <a:off x="752400" y="669600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7" name=""/>
          <p:cNvSpPr/>
          <p:nvPr/>
        </p:nvSpPr>
        <p:spPr>
          <a:xfrm>
            <a:off x="752400" y="6686280"/>
            <a:ext cx="2133720" cy="10080"/>
          </a:xfrm>
          <a:custGeom>
            <a:avLst/>
            <a:gdLst/>
            <a:ahLst/>
            <a:rect l="0" t="0" r="r" b="b"/>
            <a:pathLst>
              <a:path w="5927" h="28">
                <a:moveTo>
                  <a:pt x="0" y="0"/>
                </a:moveTo>
                <a:lnTo>
                  <a:pt x="5927" y="0"/>
                </a:lnTo>
                <a:lnTo>
                  <a:pt x="5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8" name=""/>
          <p:cNvSpPr/>
          <p:nvPr/>
        </p:nvSpPr>
        <p:spPr>
          <a:xfrm>
            <a:off x="2876400" y="669600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89" name=""/>
          <p:cNvSpPr/>
          <p:nvPr/>
        </p:nvSpPr>
        <p:spPr>
          <a:xfrm>
            <a:off x="2885760" y="6686280"/>
            <a:ext cx="876960" cy="10080"/>
          </a:xfrm>
          <a:custGeom>
            <a:avLst/>
            <a:gdLst/>
            <a:ahLst/>
            <a:rect l="0" t="0" r="r" b="b"/>
            <a:pathLst>
              <a:path w="2436" h="28">
                <a:moveTo>
                  <a:pt x="0" y="0"/>
                </a:moveTo>
                <a:lnTo>
                  <a:pt x="2436" y="0"/>
                </a:lnTo>
                <a:lnTo>
                  <a:pt x="24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90" name=""/>
          <p:cNvSpPr/>
          <p:nvPr/>
        </p:nvSpPr>
        <p:spPr>
          <a:xfrm>
            <a:off x="3752640" y="669600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91" name=""/>
          <p:cNvSpPr/>
          <p:nvPr/>
        </p:nvSpPr>
        <p:spPr>
          <a:xfrm>
            <a:off x="3762360" y="6686280"/>
            <a:ext cx="5848560" cy="10080"/>
          </a:xfrm>
          <a:custGeom>
            <a:avLst/>
            <a:gdLst/>
            <a:ahLst/>
            <a:rect l="0" t="0" r="r" b="b"/>
            <a:pathLst>
              <a:path w="16246" h="28">
                <a:moveTo>
                  <a:pt x="0" y="0"/>
                </a:moveTo>
                <a:lnTo>
                  <a:pt x="16246" y="0"/>
                </a:lnTo>
                <a:lnTo>
                  <a:pt x="162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92" name=""/>
          <p:cNvSpPr/>
          <p:nvPr/>
        </p:nvSpPr>
        <p:spPr>
          <a:xfrm>
            <a:off x="9600840" y="669600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593" name=""/>
          <p:cNvSpPr/>
          <p:nvPr/>
        </p:nvSpPr>
        <p:spPr>
          <a:xfrm>
            <a:off x="752400" y="1504800"/>
            <a:ext cx="3705480" cy="362160"/>
          </a:xfrm>
          <a:custGeom>
            <a:avLst/>
            <a:gdLst/>
            <a:ahLst/>
            <a:rect l="0" t="0" r="r" b="b"/>
            <a:pathLst>
              <a:path w="10293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0134" y="0"/>
                </a:lnTo>
                <a:cubicBezTo>
                  <a:pt x="10145" y="0"/>
                  <a:pt x="10155" y="1"/>
                  <a:pt x="10165" y="3"/>
                </a:cubicBezTo>
                <a:cubicBezTo>
                  <a:pt x="10175" y="5"/>
                  <a:pt x="10185" y="8"/>
                  <a:pt x="10195" y="12"/>
                </a:cubicBezTo>
                <a:cubicBezTo>
                  <a:pt x="10205" y="16"/>
                  <a:pt x="10214" y="21"/>
                  <a:pt x="10222" y="27"/>
                </a:cubicBezTo>
                <a:cubicBezTo>
                  <a:pt x="10231" y="32"/>
                  <a:pt x="10239" y="39"/>
                  <a:pt x="10247" y="46"/>
                </a:cubicBezTo>
                <a:cubicBezTo>
                  <a:pt x="10254" y="54"/>
                  <a:pt x="10260" y="62"/>
                  <a:pt x="10266" y="70"/>
                </a:cubicBezTo>
                <a:cubicBezTo>
                  <a:pt x="10272" y="79"/>
                  <a:pt x="10277" y="88"/>
                  <a:pt x="10281" y="98"/>
                </a:cubicBezTo>
                <a:cubicBezTo>
                  <a:pt x="10285" y="108"/>
                  <a:pt x="10288" y="117"/>
                  <a:pt x="10290" y="128"/>
                </a:cubicBezTo>
                <a:cubicBezTo>
                  <a:pt x="10292" y="138"/>
                  <a:pt x="10293" y="148"/>
                  <a:pt x="10293" y="159"/>
                </a:cubicBezTo>
                <a:lnTo>
                  <a:pt x="10293" y="848"/>
                </a:lnTo>
                <a:cubicBezTo>
                  <a:pt x="10293" y="858"/>
                  <a:pt x="10292" y="868"/>
                  <a:pt x="10290" y="879"/>
                </a:cubicBezTo>
                <a:cubicBezTo>
                  <a:pt x="10288" y="889"/>
                  <a:pt x="10285" y="899"/>
                  <a:pt x="10281" y="908"/>
                </a:cubicBezTo>
                <a:cubicBezTo>
                  <a:pt x="10277" y="918"/>
                  <a:pt x="10272" y="927"/>
                  <a:pt x="10266" y="936"/>
                </a:cubicBezTo>
                <a:cubicBezTo>
                  <a:pt x="10260" y="944"/>
                  <a:pt x="10254" y="952"/>
                  <a:pt x="10247" y="960"/>
                </a:cubicBezTo>
                <a:cubicBezTo>
                  <a:pt x="10239" y="967"/>
                  <a:pt x="10231" y="974"/>
                  <a:pt x="10222" y="980"/>
                </a:cubicBezTo>
                <a:cubicBezTo>
                  <a:pt x="10214" y="985"/>
                  <a:pt x="10205" y="990"/>
                  <a:pt x="10195" y="994"/>
                </a:cubicBezTo>
                <a:cubicBezTo>
                  <a:pt x="10185" y="998"/>
                  <a:pt x="10175" y="1001"/>
                  <a:pt x="10165" y="1003"/>
                </a:cubicBezTo>
                <a:cubicBezTo>
                  <a:pt x="10155" y="1005"/>
                  <a:pt x="10145" y="1006"/>
                  <a:pt x="10134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94" name=""/>
          <p:cNvSpPr txBox="1"/>
          <p:nvPr/>
        </p:nvSpPr>
        <p:spPr>
          <a:xfrm>
            <a:off x="747720" y="770400"/>
            <a:ext cx="46458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MAVSDK adapter + servers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841680" y="1556280"/>
            <a:ext cx="3506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50" spc="-1" strike="noStrike">
                <a:solidFill>
                  <a:srgbClr val="1f2328"/>
                </a:solidFill>
                <a:latin typeface="Courier New"/>
              </a:rPr>
              <a:t>drone_api/mavsdk_drone.py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7724520" y="1504800"/>
            <a:ext cx="1038600" cy="362160"/>
          </a:xfrm>
          <a:custGeom>
            <a:avLst/>
            <a:gdLst/>
            <a:ahLst/>
            <a:rect l="0" t="0" r="r" b="b"/>
            <a:pathLst>
              <a:path w="2885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26" y="0"/>
                </a:lnTo>
                <a:cubicBezTo>
                  <a:pt x="2737" y="0"/>
                  <a:pt x="2747" y="1"/>
                  <a:pt x="2757" y="3"/>
                </a:cubicBezTo>
                <a:cubicBezTo>
                  <a:pt x="2768" y="5"/>
                  <a:pt x="2778" y="8"/>
                  <a:pt x="2787" y="12"/>
                </a:cubicBezTo>
                <a:cubicBezTo>
                  <a:pt x="2797" y="16"/>
                  <a:pt x="2806" y="21"/>
                  <a:pt x="2815" y="27"/>
                </a:cubicBezTo>
                <a:cubicBezTo>
                  <a:pt x="2823" y="32"/>
                  <a:pt x="2831" y="39"/>
                  <a:pt x="2839" y="46"/>
                </a:cubicBezTo>
                <a:cubicBezTo>
                  <a:pt x="2846" y="54"/>
                  <a:pt x="2853" y="62"/>
                  <a:pt x="2858" y="70"/>
                </a:cubicBezTo>
                <a:cubicBezTo>
                  <a:pt x="2864" y="79"/>
                  <a:pt x="2869" y="88"/>
                  <a:pt x="2873" y="98"/>
                </a:cubicBezTo>
                <a:cubicBezTo>
                  <a:pt x="2877" y="108"/>
                  <a:pt x="2880" y="117"/>
                  <a:pt x="2882" y="128"/>
                </a:cubicBezTo>
                <a:cubicBezTo>
                  <a:pt x="2884" y="138"/>
                  <a:pt x="2885" y="148"/>
                  <a:pt x="2885" y="159"/>
                </a:cubicBezTo>
                <a:lnTo>
                  <a:pt x="2885" y="848"/>
                </a:lnTo>
                <a:cubicBezTo>
                  <a:pt x="2885" y="858"/>
                  <a:pt x="2884" y="868"/>
                  <a:pt x="2882" y="879"/>
                </a:cubicBezTo>
                <a:cubicBezTo>
                  <a:pt x="2880" y="889"/>
                  <a:pt x="2877" y="899"/>
                  <a:pt x="2873" y="908"/>
                </a:cubicBezTo>
                <a:cubicBezTo>
                  <a:pt x="2869" y="918"/>
                  <a:pt x="2864" y="927"/>
                  <a:pt x="2858" y="936"/>
                </a:cubicBezTo>
                <a:cubicBezTo>
                  <a:pt x="2853" y="944"/>
                  <a:pt x="2846" y="952"/>
                  <a:pt x="2839" y="960"/>
                </a:cubicBezTo>
                <a:cubicBezTo>
                  <a:pt x="2831" y="967"/>
                  <a:pt x="2823" y="974"/>
                  <a:pt x="2815" y="980"/>
                </a:cubicBezTo>
                <a:cubicBezTo>
                  <a:pt x="2806" y="985"/>
                  <a:pt x="2797" y="990"/>
                  <a:pt x="2787" y="994"/>
                </a:cubicBezTo>
                <a:cubicBezTo>
                  <a:pt x="2778" y="998"/>
                  <a:pt x="2768" y="1001"/>
                  <a:pt x="2757" y="1003"/>
                </a:cubicBezTo>
                <a:cubicBezTo>
                  <a:pt x="2747" y="1005"/>
                  <a:pt x="2737" y="1006"/>
                  <a:pt x="2726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597" name=""/>
          <p:cNvSpPr txBox="1"/>
          <p:nvPr/>
        </p:nvSpPr>
        <p:spPr>
          <a:xfrm>
            <a:off x="4456800" y="1502640"/>
            <a:ext cx="3268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—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only place that imports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820640" y="1556280"/>
            <a:ext cx="842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mavsdk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8759880" y="15026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914400" y="2184840"/>
            <a:ext cx="1034280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VelocityCommand  ──►  VelocityCommandAPI.send  ──►  drone.offboard.set_velocity_body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914400" y="2410560"/>
            <a:ext cx="951048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                    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(clamp ► EMA ► slew cap)        (VelocityBodyYawspeed)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914400" y="2869920"/>
            <a:ext cx="820296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detached  mavsdk_server  ◄── subprocess ──►  PX4 over UDP / serial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914400" y="3095640"/>
            <a:ext cx="428040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(survives Ctrl+C → graceful land)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2724120" y="3695400"/>
            <a:ext cx="2590920" cy="352800"/>
          </a:xfrm>
          <a:custGeom>
            <a:avLst/>
            <a:gdLst/>
            <a:ahLst/>
            <a:rect l="0" t="0" r="r" b="b"/>
            <a:pathLst>
              <a:path w="7197" h="980">
                <a:moveTo>
                  <a:pt x="0" y="822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3" y="40"/>
                  <a:pt x="61" y="34"/>
                  <a:pt x="70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7" y="9"/>
                  <a:pt x="117" y="6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7038" y="0"/>
                </a:lnTo>
                <a:cubicBezTo>
                  <a:pt x="7049" y="0"/>
                  <a:pt x="7059" y="1"/>
                  <a:pt x="7069" y="3"/>
                </a:cubicBezTo>
                <a:cubicBezTo>
                  <a:pt x="7080" y="6"/>
                  <a:pt x="7090" y="9"/>
                  <a:pt x="7099" y="13"/>
                </a:cubicBezTo>
                <a:cubicBezTo>
                  <a:pt x="7109" y="17"/>
                  <a:pt x="7118" y="22"/>
                  <a:pt x="7127" y="28"/>
                </a:cubicBezTo>
                <a:cubicBezTo>
                  <a:pt x="7135" y="34"/>
                  <a:pt x="7143" y="40"/>
                  <a:pt x="7151" y="48"/>
                </a:cubicBezTo>
                <a:cubicBezTo>
                  <a:pt x="7158" y="55"/>
                  <a:pt x="7165" y="63"/>
                  <a:pt x="7170" y="72"/>
                </a:cubicBezTo>
                <a:cubicBezTo>
                  <a:pt x="7176" y="81"/>
                  <a:pt x="7181" y="90"/>
                  <a:pt x="7185" y="99"/>
                </a:cubicBezTo>
                <a:cubicBezTo>
                  <a:pt x="7189" y="109"/>
                  <a:pt x="7192" y="119"/>
                  <a:pt x="7194" y="129"/>
                </a:cubicBezTo>
                <a:cubicBezTo>
                  <a:pt x="7196" y="139"/>
                  <a:pt x="7197" y="150"/>
                  <a:pt x="7197" y="160"/>
                </a:cubicBezTo>
                <a:lnTo>
                  <a:pt x="7197" y="822"/>
                </a:lnTo>
                <a:cubicBezTo>
                  <a:pt x="7197" y="832"/>
                  <a:pt x="7196" y="842"/>
                  <a:pt x="7194" y="853"/>
                </a:cubicBezTo>
                <a:cubicBezTo>
                  <a:pt x="7192" y="863"/>
                  <a:pt x="7189" y="873"/>
                  <a:pt x="7185" y="882"/>
                </a:cubicBezTo>
                <a:cubicBezTo>
                  <a:pt x="7181" y="892"/>
                  <a:pt x="7176" y="901"/>
                  <a:pt x="7170" y="910"/>
                </a:cubicBezTo>
                <a:cubicBezTo>
                  <a:pt x="7165" y="918"/>
                  <a:pt x="7158" y="926"/>
                  <a:pt x="7151" y="934"/>
                </a:cubicBezTo>
                <a:cubicBezTo>
                  <a:pt x="7143" y="941"/>
                  <a:pt x="7135" y="948"/>
                  <a:pt x="7127" y="954"/>
                </a:cubicBezTo>
                <a:cubicBezTo>
                  <a:pt x="7118" y="959"/>
                  <a:pt x="7109" y="964"/>
                  <a:pt x="7099" y="968"/>
                </a:cubicBezTo>
                <a:cubicBezTo>
                  <a:pt x="7090" y="972"/>
                  <a:pt x="7080" y="975"/>
                  <a:pt x="7069" y="977"/>
                </a:cubicBezTo>
                <a:cubicBezTo>
                  <a:pt x="7059" y="979"/>
                  <a:pt x="7049" y="980"/>
                  <a:pt x="7038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1" y="948"/>
                  <a:pt x="53" y="941"/>
                  <a:pt x="46" y="934"/>
                </a:cubicBezTo>
                <a:cubicBezTo>
                  <a:pt x="39" y="926"/>
                  <a:pt x="32" y="918"/>
                  <a:pt x="26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605" name=""/>
          <p:cNvSpPr txBox="1"/>
          <p:nvPr/>
        </p:nvSpPr>
        <p:spPr>
          <a:xfrm>
            <a:off x="747720" y="3693240"/>
            <a:ext cx="19818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Lifecycle (when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822400" y="3746880"/>
            <a:ext cx="2384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--takeoff-landing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5310720" y="3693240"/>
            <a:ext cx="54446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set): arm → takeoff → setpoint loop → land.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747720" y="4102920"/>
            <a:ext cx="10144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Otherwise: stream zeros, wait for pilot OFFBOARD switch. Offboard-loss watchdog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747720" y="4521960"/>
            <a:ext cx="37011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never auto-switches modes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747720" y="5083920"/>
            <a:ext cx="5384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Three servers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(all run in their own threads):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387440" y="5722200"/>
            <a:ext cx="8604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Server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3042360" y="5722200"/>
            <a:ext cx="5522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Port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172200" y="5722200"/>
            <a:ext cx="10141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Surface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880920" y="6255720"/>
            <a:ext cx="16131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FollowServer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3011400" y="6255720"/>
            <a:ext cx="6163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8080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3882960" y="6255720"/>
            <a:ext cx="39114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HTTP click-to-follow / target API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1290240" y="6798600"/>
            <a:ext cx="3391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bS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3165120" y="6798600"/>
            <a:ext cx="3085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00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062240" y="67986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i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5758560" y="67986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G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6288120" y="6798600"/>
            <a:ext cx="369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7155720" y="67986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li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8583840" y="67986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9044640" y="67986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i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15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29" name=""/>
          <p:cNvSpPr/>
          <p:nvPr/>
        </p:nvSpPr>
        <p:spPr>
          <a:xfrm>
            <a:off x="757080" y="1461960"/>
            <a:ext cx="10687320" cy="1867320"/>
          </a:xfrm>
          <a:custGeom>
            <a:avLst/>
            <a:gdLst/>
            <a:ahLst/>
            <a:rect l="0" t="0" r="r" b="b"/>
            <a:pathLst>
              <a:path w="29687" h="5187">
                <a:moveTo>
                  <a:pt x="0" y="50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41"/>
                </a:lnTo>
                <a:cubicBezTo>
                  <a:pt x="29687" y="5051"/>
                  <a:pt x="29686" y="5060"/>
                  <a:pt x="29684" y="5070"/>
                </a:cubicBezTo>
                <a:cubicBezTo>
                  <a:pt x="29683" y="5079"/>
                  <a:pt x="29680" y="5088"/>
                  <a:pt x="29676" y="5097"/>
                </a:cubicBezTo>
                <a:cubicBezTo>
                  <a:pt x="29672" y="5106"/>
                  <a:pt x="29668" y="5114"/>
                  <a:pt x="29663" y="5122"/>
                </a:cubicBezTo>
                <a:cubicBezTo>
                  <a:pt x="29657" y="5130"/>
                  <a:pt x="29651" y="5137"/>
                  <a:pt x="29645" y="5144"/>
                </a:cubicBezTo>
                <a:cubicBezTo>
                  <a:pt x="29638" y="5151"/>
                  <a:pt x="29630" y="5157"/>
                  <a:pt x="29623" y="5162"/>
                </a:cubicBezTo>
                <a:cubicBezTo>
                  <a:pt x="29615" y="5167"/>
                  <a:pt x="29606" y="5172"/>
                  <a:pt x="29597" y="5176"/>
                </a:cubicBezTo>
                <a:cubicBezTo>
                  <a:pt x="29589" y="5179"/>
                  <a:pt x="29579" y="5182"/>
                  <a:pt x="29570" y="5184"/>
                </a:cubicBezTo>
                <a:cubicBezTo>
                  <a:pt x="29561" y="5186"/>
                  <a:pt x="29551" y="5187"/>
                  <a:pt x="29542" y="5187"/>
                </a:cubicBezTo>
                <a:lnTo>
                  <a:pt x="145" y="5187"/>
                </a:lnTo>
                <a:cubicBezTo>
                  <a:pt x="136" y="5187"/>
                  <a:pt x="126" y="5186"/>
                  <a:pt x="117" y="5184"/>
                </a:cubicBezTo>
                <a:cubicBezTo>
                  <a:pt x="108" y="5182"/>
                  <a:pt x="99" y="5179"/>
                  <a:pt x="90" y="5176"/>
                </a:cubicBezTo>
                <a:cubicBezTo>
                  <a:pt x="81" y="5172"/>
                  <a:pt x="73" y="5167"/>
                  <a:pt x="65" y="5162"/>
                </a:cubicBezTo>
                <a:cubicBezTo>
                  <a:pt x="57" y="5157"/>
                  <a:pt x="49" y="5151"/>
                  <a:pt x="43" y="5144"/>
                </a:cubicBezTo>
                <a:cubicBezTo>
                  <a:pt x="36" y="5137"/>
                  <a:pt x="30" y="5130"/>
                  <a:pt x="24" y="5122"/>
                </a:cubicBezTo>
                <a:cubicBezTo>
                  <a:pt x="19" y="5114"/>
                  <a:pt x="15" y="5106"/>
                  <a:pt x="11" y="5097"/>
                </a:cubicBezTo>
                <a:cubicBezTo>
                  <a:pt x="7" y="5088"/>
                  <a:pt x="5" y="5079"/>
                  <a:pt x="3" y="5070"/>
                </a:cubicBezTo>
                <a:cubicBezTo>
                  <a:pt x="1" y="5060"/>
                  <a:pt x="0" y="5051"/>
                  <a:pt x="0" y="504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630" name=""/>
          <p:cNvSpPr/>
          <p:nvPr/>
        </p:nvSpPr>
        <p:spPr>
          <a:xfrm>
            <a:off x="757080" y="1461960"/>
            <a:ext cx="10687320" cy="1867320"/>
          </a:xfrm>
          <a:custGeom>
            <a:avLst/>
            <a:gdLst/>
            <a:ahLst/>
            <a:rect l="0" t="0" r="r" b="b"/>
            <a:pathLst>
              <a:path w="29687" h="5187">
                <a:moveTo>
                  <a:pt x="0" y="50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41"/>
                </a:lnTo>
                <a:cubicBezTo>
                  <a:pt x="29687" y="5051"/>
                  <a:pt x="29686" y="5060"/>
                  <a:pt x="29684" y="5070"/>
                </a:cubicBezTo>
                <a:cubicBezTo>
                  <a:pt x="29683" y="5079"/>
                  <a:pt x="29680" y="5088"/>
                  <a:pt x="29676" y="5097"/>
                </a:cubicBezTo>
                <a:cubicBezTo>
                  <a:pt x="29672" y="5106"/>
                  <a:pt x="29668" y="5114"/>
                  <a:pt x="29663" y="5122"/>
                </a:cubicBezTo>
                <a:cubicBezTo>
                  <a:pt x="29657" y="5130"/>
                  <a:pt x="29651" y="5137"/>
                  <a:pt x="29645" y="5144"/>
                </a:cubicBezTo>
                <a:cubicBezTo>
                  <a:pt x="29638" y="5151"/>
                  <a:pt x="29630" y="5157"/>
                  <a:pt x="29623" y="5162"/>
                </a:cubicBezTo>
                <a:cubicBezTo>
                  <a:pt x="29615" y="5167"/>
                  <a:pt x="29606" y="5172"/>
                  <a:pt x="29597" y="5176"/>
                </a:cubicBezTo>
                <a:cubicBezTo>
                  <a:pt x="29589" y="5179"/>
                  <a:pt x="29579" y="5182"/>
                  <a:pt x="29570" y="5184"/>
                </a:cubicBezTo>
                <a:cubicBezTo>
                  <a:pt x="29561" y="5186"/>
                  <a:pt x="29551" y="5187"/>
                  <a:pt x="29542" y="5187"/>
                </a:cubicBezTo>
                <a:lnTo>
                  <a:pt x="145" y="5187"/>
                </a:lnTo>
                <a:cubicBezTo>
                  <a:pt x="136" y="5187"/>
                  <a:pt x="126" y="5186"/>
                  <a:pt x="117" y="5184"/>
                </a:cubicBezTo>
                <a:cubicBezTo>
                  <a:pt x="108" y="5182"/>
                  <a:pt x="99" y="5179"/>
                  <a:pt x="90" y="5176"/>
                </a:cubicBezTo>
                <a:cubicBezTo>
                  <a:pt x="81" y="5172"/>
                  <a:pt x="73" y="5167"/>
                  <a:pt x="65" y="5162"/>
                </a:cubicBezTo>
                <a:cubicBezTo>
                  <a:pt x="57" y="5157"/>
                  <a:pt x="49" y="5151"/>
                  <a:pt x="43" y="5144"/>
                </a:cubicBezTo>
                <a:cubicBezTo>
                  <a:pt x="36" y="5137"/>
                  <a:pt x="30" y="5130"/>
                  <a:pt x="24" y="5122"/>
                </a:cubicBezTo>
                <a:cubicBezTo>
                  <a:pt x="19" y="5114"/>
                  <a:pt x="15" y="5106"/>
                  <a:pt x="11" y="5097"/>
                </a:cubicBezTo>
                <a:cubicBezTo>
                  <a:pt x="7" y="5088"/>
                  <a:pt x="5" y="5079"/>
                  <a:pt x="3" y="5070"/>
                </a:cubicBezTo>
                <a:cubicBezTo>
                  <a:pt x="1" y="5060"/>
                  <a:pt x="0" y="5051"/>
                  <a:pt x="0" y="504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631" name=""/>
          <p:cNvSpPr/>
          <p:nvPr/>
        </p:nvSpPr>
        <p:spPr>
          <a:xfrm>
            <a:off x="757080" y="4062240"/>
            <a:ext cx="10687320" cy="2743560"/>
          </a:xfrm>
          <a:custGeom>
            <a:avLst/>
            <a:gdLst/>
            <a:ahLst/>
            <a:rect l="0" t="0" r="r" b="b"/>
            <a:pathLst>
              <a:path w="29687" h="7621">
                <a:moveTo>
                  <a:pt x="0" y="7475"/>
                </a:moveTo>
                <a:lnTo>
                  <a:pt x="0" y="146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6"/>
                </a:cubicBezTo>
                <a:lnTo>
                  <a:pt x="29687" y="7475"/>
                </a:lnTo>
                <a:cubicBezTo>
                  <a:pt x="29687" y="7485"/>
                  <a:pt x="29686" y="7494"/>
                  <a:pt x="29684" y="7504"/>
                </a:cubicBezTo>
                <a:cubicBezTo>
                  <a:pt x="29683" y="7513"/>
                  <a:pt x="29680" y="7522"/>
                  <a:pt x="29676" y="7531"/>
                </a:cubicBezTo>
                <a:cubicBezTo>
                  <a:pt x="29672" y="7540"/>
                  <a:pt x="29668" y="7548"/>
                  <a:pt x="29663" y="7556"/>
                </a:cubicBezTo>
                <a:cubicBezTo>
                  <a:pt x="29657" y="7564"/>
                  <a:pt x="29651" y="7572"/>
                  <a:pt x="29645" y="7578"/>
                </a:cubicBezTo>
                <a:cubicBezTo>
                  <a:pt x="29638" y="7585"/>
                  <a:pt x="29630" y="7591"/>
                  <a:pt x="29623" y="7596"/>
                </a:cubicBezTo>
                <a:cubicBezTo>
                  <a:pt x="29615" y="7602"/>
                  <a:pt x="29606" y="7606"/>
                  <a:pt x="29597" y="7610"/>
                </a:cubicBezTo>
                <a:cubicBezTo>
                  <a:pt x="29589" y="7614"/>
                  <a:pt x="29579" y="7616"/>
                  <a:pt x="29570" y="7618"/>
                </a:cubicBezTo>
                <a:cubicBezTo>
                  <a:pt x="29561" y="7620"/>
                  <a:pt x="29551" y="7621"/>
                  <a:pt x="29542" y="7621"/>
                </a:cubicBezTo>
                <a:lnTo>
                  <a:pt x="145" y="7621"/>
                </a:lnTo>
                <a:cubicBezTo>
                  <a:pt x="136" y="7621"/>
                  <a:pt x="126" y="7620"/>
                  <a:pt x="117" y="7618"/>
                </a:cubicBezTo>
                <a:cubicBezTo>
                  <a:pt x="108" y="7616"/>
                  <a:pt x="99" y="7614"/>
                  <a:pt x="90" y="7610"/>
                </a:cubicBezTo>
                <a:cubicBezTo>
                  <a:pt x="81" y="7606"/>
                  <a:pt x="73" y="7602"/>
                  <a:pt x="65" y="7596"/>
                </a:cubicBezTo>
                <a:cubicBezTo>
                  <a:pt x="57" y="7591"/>
                  <a:pt x="49" y="7585"/>
                  <a:pt x="43" y="7578"/>
                </a:cubicBezTo>
                <a:cubicBezTo>
                  <a:pt x="36" y="7572"/>
                  <a:pt x="30" y="7564"/>
                  <a:pt x="24" y="7556"/>
                </a:cubicBezTo>
                <a:cubicBezTo>
                  <a:pt x="19" y="7548"/>
                  <a:pt x="15" y="7540"/>
                  <a:pt x="11" y="7531"/>
                </a:cubicBezTo>
                <a:cubicBezTo>
                  <a:pt x="7" y="7522"/>
                  <a:pt x="5" y="7513"/>
                  <a:pt x="3" y="7504"/>
                </a:cubicBezTo>
                <a:cubicBezTo>
                  <a:pt x="1" y="7494"/>
                  <a:pt x="0" y="7485"/>
                  <a:pt x="0" y="747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632" name=""/>
          <p:cNvSpPr/>
          <p:nvPr/>
        </p:nvSpPr>
        <p:spPr>
          <a:xfrm>
            <a:off x="757080" y="4062240"/>
            <a:ext cx="10687320" cy="2743560"/>
          </a:xfrm>
          <a:custGeom>
            <a:avLst/>
            <a:gdLst/>
            <a:ahLst/>
            <a:rect l="0" t="0" r="r" b="b"/>
            <a:pathLst>
              <a:path w="29687" h="7621">
                <a:moveTo>
                  <a:pt x="0" y="7475"/>
                </a:moveTo>
                <a:lnTo>
                  <a:pt x="0" y="146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6"/>
                </a:cubicBezTo>
                <a:lnTo>
                  <a:pt x="29687" y="7475"/>
                </a:lnTo>
                <a:cubicBezTo>
                  <a:pt x="29687" y="7485"/>
                  <a:pt x="29686" y="7494"/>
                  <a:pt x="29684" y="7504"/>
                </a:cubicBezTo>
                <a:cubicBezTo>
                  <a:pt x="29683" y="7513"/>
                  <a:pt x="29680" y="7522"/>
                  <a:pt x="29676" y="7531"/>
                </a:cubicBezTo>
                <a:cubicBezTo>
                  <a:pt x="29672" y="7540"/>
                  <a:pt x="29668" y="7548"/>
                  <a:pt x="29663" y="7556"/>
                </a:cubicBezTo>
                <a:cubicBezTo>
                  <a:pt x="29657" y="7564"/>
                  <a:pt x="29651" y="7572"/>
                  <a:pt x="29645" y="7578"/>
                </a:cubicBezTo>
                <a:cubicBezTo>
                  <a:pt x="29638" y="7585"/>
                  <a:pt x="29630" y="7591"/>
                  <a:pt x="29623" y="7596"/>
                </a:cubicBezTo>
                <a:cubicBezTo>
                  <a:pt x="29615" y="7602"/>
                  <a:pt x="29606" y="7606"/>
                  <a:pt x="29597" y="7610"/>
                </a:cubicBezTo>
                <a:cubicBezTo>
                  <a:pt x="29589" y="7614"/>
                  <a:pt x="29579" y="7616"/>
                  <a:pt x="29570" y="7618"/>
                </a:cubicBezTo>
                <a:cubicBezTo>
                  <a:pt x="29561" y="7620"/>
                  <a:pt x="29551" y="7621"/>
                  <a:pt x="29542" y="7621"/>
                </a:cubicBezTo>
                <a:lnTo>
                  <a:pt x="145" y="7621"/>
                </a:lnTo>
                <a:cubicBezTo>
                  <a:pt x="136" y="7621"/>
                  <a:pt x="126" y="7620"/>
                  <a:pt x="117" y="7618"/>
                </a:cubicBezTo>
                <a:cubicBezTo>
                  <a:pt x="108" y="7616"/>
                  <a:pt x="99" y="7614"/>
                  <a:pt x="90" y="7610"/>
                </a:cubicBezTo>
                <a:cubicBezTo>
                  <a:pt x="81" y="7606"/>
                  <a:pt x="73" y="7602"/>
                  <a:pt x="65" y="7596"/>
                </a:cubicBezTo>
                <a:cubicBezTo>
                  <a:pt x="57" y="7591"/>
                  <a:pt x="49" y="7585"/>
                  <a:pt x="43" y="7578"/>
                </a:cubicBezTo>
                <a:cubicBezTo>
                  <a:pt x="36" y="7572"/>
                  <a:pt x="30" y="7564"/>
                  <a:pt x="24" y="7556"/>
                </a:cubicBezTo>
                <a:cubicBezTo>
                  <a:pt x="19" y="7548"/>
                  <a:pt x="15" y="7540"/>
                  <a:pt x="11" y="7531"/>
                </a:cubicBezTo>
                <a:cubicBezTo>
                  <a:pt x="7" y="7522"/>
                  <a:pt x="5" y="7513"/>
                  <a:pt x="3" y="7504"/>
                </a:cubicBezTo>
                <a:cubicBezTo>
                  <a:pt x="1" y="7494"/>
                  <a:pt x="0" y="7485"/>
                  <a:pt x="0" y="747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633" name=""/>
          <p:cNvSpPr txBox="1"/>
          <p:nvPr/>
        </p:nvSpPr>
        <p:spPr>
          <a:xfrm>
            <a:off x="747720" y="770400"/>
            <a:ext cx="33382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CLI &amp; configuration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914400" y="1623600"/>
            <a:ext cx="1032732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Pipeline:    --input {rpi|usb|udp://…|shm://…}, --input-codec, --tiles-x/y</a:t>
            </a:r>
            <a:endParaRPr b="0" lang="en-US" sz="1770" spc="-1" strike="noStrike"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914400" y="1878480"/>
            <a:ext cx="1032732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Drone:       --connection, --serial, --takeoff-landing, --target-altitude,</a:t>
            </a:r>
            <a:endParaRPr b="0" lang="en-US" sz="1770" spc="-1" strike="noStrike"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914400" y="2142720"/>
            <a:ext cx="85842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                </a:t>
            </a:r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--target-bbox-height, --yaw-only / --no-yaw-only</a:t>
            </a:r>
            <a:endParaRPr b="0" lang="en-US" sz="1770" spc="-1" strike="noStrike"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914400" y="2397600"/>
            <a:ext cx="99252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ReID:        --reid-* (8 flags)         Tracker:  --tracker {byte|fast}</a:t>
            </a:r>
            <a:endParaRPr b="0" lang="en-US" sz="1770" spc="-1" strike="noStrike"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914400" y="2652480"/>
            <a:ext cx="1032732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UI:          --webui / --openhd / --display / --record (mutex rules apply)</a:t>
            </a:r>
            <a:endParaRPr b="0" lang="en-US" sz="1770" spc="-1" strike="noStrike"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914400" y="2916720"/>
            <a:ext cx="9657000" cy="25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770" spc="-1" strike="noStrike">
                <a:solidFill>
                  <a:srgbClr val="1f2328"/>
                </a:solidFill>
                <a:latin typeface="Courier New"/>
              </a:rPr>
              <a:t>Controller:  every numeric ControllerConfig field (also live-tunable)</a:t>
            </a:r>
            <a:endParaRPr b="0" lang="en-US" sz="1770" spc="-1" strike="noStrike"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47720" y="3531600"/>
            <a:ext cx="5185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Config layering (lowest → highest priority):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914400" y="4223520"/>
            <a:ext cx="480744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ControllerConfig dataclass defaults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914400" y="4462920"/>
            <a:ext cx="189828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914400" y="4710960"/>
            <a:ext cx="189828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914400" y="4950360"/>
            <a:ext cx="316296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JSON file via --config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914400" y="5189760"/>
            <a:ext cx="1037304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           │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(configs/simulation.json, simulation_follow.json, df_params.json)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914400" y="5437800"/>
            <a:ext cx="189828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914400" y="5677200"/>
            <a:ext cx="531324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CLI flags (--kp-yaw=…, --max-forward=…)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914400" y="5916600"/>
            <a:ext cx="189828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914400" y="6164640"/>
            <a:ext cx="189828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914400" y="6404040"/>
            <a:ext cx="5439960" cy="23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60" spc="-1" strike="noStrike">
                <a:solidFill>
                  <a:srgbClr val="1f2328"/>
                </a:solidFill>
                <a:latin typeface="Courier New"/>
              </a:rPr>
              <a:t>Live UI sliders (web UI + OpenHD bridge)</a:t>
            </a:r>
            <a:endParaRPr b="0" lang="en-US" sz="1660" spc="-1" strike="noStrike"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16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55" name=""/>
          <p:cNvSpPr/>
          <p:nvPr/>
        </p:nvSpPr>
        <p:spPr>
          <a:xfrm>
            <a:off x="757080" y="1461960"/>
            <a:ext cx="10687320" cy="3743640"/>
          </a:xfrm>
          <a:custGeom>
            <a:avLst/>
            <a:gdLst/>
            <a:ahLst/>
            <a:rect l="0" t="0" r="r" b="b"/>
            <a:pathLst>
              <a:path w="29687" h="10399">
                <a:moveTo>
                  <a:pt x="0" y="10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0253"/>
                </a:lnTo>
                <a:cubicBezTo>
                  <a:pt x="29687" y="10263"/>
                  <a:pt x="29686" y="10272"/>
                  <a:pt x="29684" y="10282"/>
                </a:cubicBezTo>
                <a:cubicBezTo>
                  <a:pt x="29683" y="10291"/>
                  <a:pt x="29680" y="10300"/>
                  <a:pt x="29676" y="10309"/>
                </a:cubicBezTo>
                <a:cubicBezTo>
                  <a:pt x="29672" y="10318"/>
                  <a:pt x="29668" y="10326"/>
                  <a:pt x="29663" y="10334"/>
                </a:cubicBezTo>
                <a:cubicBezTo>
                  <a:pt x="29657" y="10342"/>
                  <a:pt x="29651" y="10350"/>
                  <a:pt x="29645" y="10356"/>
                </a:cubicBezTo>
                <a:cubicBezTo>
                  <a:pt x="29638" y="10363"/>
                  <a:pt x="29630" y="10369"/>
                  <a:pt x="29623" y="10374"/>
                </a:cubicBezTo>
                <a:cubicBezTo>
                  <a:pt x="29615" y="10380"/>
                  <a:pt x="29606" y="10384"/>
                  <a:pt x="29597" y="10388"/>
                </a:cubicBezTo>
                <a:cubicBezTo>
                  <a:pt x="29589" y="10392"/>
                  <a:pt x="29579" y="10394"/>
                  <a:pt x="29570" y="10396"/>
                </a:cubicBezTo>
                <a:cubicBezTo>
                  <a:pt x="29561" y="10398"/>
                  <a:pt x="29551" y="10399"/>
                  <a:pt x="29542" y="10399"/>
                </a:cubicBezTo>
                <a:lnTo>
                  <a:pt x="145" y="10399"/>
                </a:lnTo>
                <a:cubicBezTo>
                  <a:pt x="136" y="10399"/>
                  <a:pt x="126" y="10398"/>
                  <a:pt x="117" y="10396"/>
                </a:cubicBezTo>
                <a:cubicBezTo>
                  <a:pt x="108" y="10394"/>
                  <a:pt x="99" y="10392"/>
                  <a:pt x="90" y="10388"/>
                </a:cubicBezTo>
                <a:cubicBezTo>
                  <a:pt x="81" y="10384"/>
                  <a:pt x="73" y="10380"/>
                  <a:pt x="65" y="10374"/>
                </a:cubicBezTo>
                <a:cubicBezTo>
                  <a:pt x="57" y="10369"/>
                  <a:pt x="49" y="10363"/>
                  <a:pt x="43" y="10356"/>
                </a:cubicBezTo>
                <a:cubicBezTo>
                  <a:pt x="36" y="10350"/>
                  <a:pt x="30" y="10342"/>
                  <a:pt x="24" y="10334"/>
                </a:cubicBezTo>
                <a:cubicBezTo>
                  <a:pt x="19" y="10326"/>
                  <a:pt x="15" y="10318"/>
                  <a:pt x="11" y="10309"/>
                </a:cubicBezTo>
                <a:cubicBezTo>
                  <a:pt x="7" y="10300"/>
                  <a:pt x="5" y="10291"/>
                  <a:pt x="3" y="10282"/>
                </a:cubicBezTo>
                <a:cubicBezTo>
                  <a:pt x="1" y="10272"/>
                  <a:pt x="0" y="10263"/>
                  <a:pt x="0" y="10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656" name=""/>
          <p:cNvSpPr/>
          <p:nvPr/>
        </p:nvSpPr>
        <p:spPr>
          <a:xfrm>
            <a:off x="757080" y="1461960"/>
            <a:ext cx="10687320" cy="3743640"/>
          </a:xfrm>
          <a:custGeom>
            <a:avLst/>
            <a:gdLst/>
            <a:ahLst/>
            <a:rect l="0" t="0" r="r" b="b"/>
            <a:pathLst>
              <a:path w="29687" h="10399">
                <a:moveTo>
                  <a:pt x="0" y="10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0253"/>
                </a:lnTo>
                <a:cubicBezTo>
                  <a:pt x="29687" y="10263"/>
                  <a:pt x="29686" y="10272"/>
                  <a:pt x="29684" y="10282"/>
                </a:cubicBezTo>
                <a:cubicBezTo>
                  <a:pt x="29683" y="10291"/>
                  <a:pt x="29680" y="10300"/>
                  <a:pt x="29676" y="10309"/>
                </a:cubicBezTo>
                <a:cubicBezTo>
                  <a:pt x="29672" y="10318"/>
                  <a:pt x="29668" y="10326"/>
                  <a:pt x="29663" y="10334"/>
                </a:cubicBezTo>
                <a:cubicBezTo>
                  <a:pt x="29657" y="10342"/>
                  <a:pt x="29651" y="10350"/>
                  <a:pt x="29645" y="10356"/>
                </a:cubicBezTo>
                <a:cubicBezTo>
                  <a:pt x="29638" y="10363"/>
                  <a:pt x="29630" y="10369"/>
                  <a:pt x="29623" y="10374"/>
                </a:cubicBezTo>
                <a:cubicBezTo>
                  <a:pt x="29615" y="10380"/>
                  <a:pt x="29606" y="10384"/>
                  <a:pt x="29597" y="10388"/>
                </a:cubicBezTo>
                <a:cubicBezTo>
                  <a:pt x="29589" y="10392"/>
                  <a:pt x="29579" y="10394"/>
                  <a:pt x="29570" y="10396"/>
                </a:cubicBezTo>
                <a:cubicBezTo>
                  <a:pt x="29561" y="10398"/>
                  <a:pt x="29551" y="10399"/>
                  <a:pt x="29542" y="10399"/>
                </a:cubicBezTo>
                <a:lnTo>
                  <a:pt x="145" y="10399"/>
                </a:lnTo>
                <a:cubicBezTo>
                  <a:pt x="136" y="10399"/>
                  <a:pt x="126" y="10398"/>
                  <a:pt x="117" y="10396"/>
                </a:cubicBezTo>
                <a:cubicBezTo>
                  <a:pt x="108" y="10394"/>
                  <a:pt x="99" y="10392"/>
                  <a:pt x="90" y="10388"/>
                </a:cubicBezTo>
                <a:cubicBezTo>
                  <a:pt x="81" y="10384"/>
                  <a:pt x="73" y="10380"/>
                  <a:pt x="65" y="10374"/>
                </a:cubicBezTo>
                <a:cubicBezTo>
                  <a:pt x="57" y="10369"/>
                  <a:pt x="49" y="10363"/>
                  <a:pt x="43" y="10356"/>
                </a:cubicBezTo>
                <a:cubicBezTo>
                  <a:pt x="36" y="10350"/>
                  <a:pt x="30" y="10342"/>
                  <a:pt x="24" y="10334"/>
                </a:cubicBezTo>
                <a:cubicBezTo>
                  <a:pt x="19" y="10326"/>
                  <a:pt x="15" y="10318"/>
                  <a:pt x="11" y="10309"/>
                </a:cubicBezTo>
                <a:cubicBezTo>
                  <a:pt x="7" y="10300"/>
                  <a:pt x="5" y="10291"/>
                  <a:pt x="3" y="10282"/>
                </a:cubicBezTo>
                <a:cubicBezTo>
                  <a:pt x="1" y="10272"/>
                  <a:pt x="0" y="10263"/>
                  <a:pt x="0" y="10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657" name=""/>
          <p:cNvSpPr txBox="1"/>
          <p:nvPr/>
        </p:nvSpPr>
        <p:spPr>
          <a:xfrm>
            <a:off x="747720" y="770400"/>
            <a:ext cx="33382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Run-time scenarios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914400" y="1622880"/>
            <a:ext cx="772740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Dev: USB cam + real Cube                Sim: PX4 SITL + Gazebo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914400" y="1848600"/>
            <a:ext cx="986724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┌──────┐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USB   ┌─────────────┐        gz sim ──gz-transport──► video_bridge.py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914400" y="2082240"/>
            <a:ext cx="832176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│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laptop│◄────────│ drone-follow│                                  │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914400" y="2307960"/>
            <a:ext cx="1034244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│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+Cube│  serial │ --input usb │                       UDP 5600 ◄─┘   ► drone-follow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914400" y="2533680"/>
            <a:ext cx="951048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│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Or+  │◄────────│ --serial    │        ┌─UDP 14540────► PX4 SITL ◄─MAVSDK──┘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914400" y="2767320"/>
            <a:ext cx="416124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└──────┘         │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--webui     │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914400" y="2993040"/>
            <a:ext cx="416124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                 └─────────────┘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914400" y="3452400"/>
            <a:ext cx="594432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Real flight, Mode A (drone-follow owns CSI cam)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914400" y="3678120"/>
            <a:ext cx="998604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CSI ─► drone-follow ─► overlay+x264 ─► OpenHD air ─► WFB ─► OpenHD gnd ─► QOpenHD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914400" y="3903840"/>
            <a:ext cx="368568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   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(--input rpi --openhd)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914400" y="4363200"/>
            <a:ext cx="641988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Real flight, Mode B (OpenHD owns CSI cam, tees SHM)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914400" y="4588920"/>
            <a:ext cx="844092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CSI ─► OpenHD ─tee─► /tmp/openhd_raw_video ─► drone-follow (AI only)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752400" y="5410080"/>
            <a:ext cx="5820120" cy="362160"/>
          </a:xfrm>
          <a:custGeom>
            <a:avLst/>
            <a:gdLst/>
            <a:ahLst/>
            <a:rect l="0" t="0" r="r" b="b"/>
            <a:pathLst>
              <a:path w="16167" h="1006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6008" y="0"/>
                </a:lnTo>
                <a:cubicBezTo>
                  <a:pt x="16018" y="0"/>
                  <a:pt x="16029" y="1"/>
                  <a:pt x="16039" y="3"/>
                </a:cubicBezTo>
                <a:cubicBezTo>
                  <a:pt x="16049" y="5"/>
                  <a:pt x="16059" y="8"/>
                  <a:pt x="16069" y="12"/>
                </a:cubicBezTo>
                <a:cubicBezTo>
                  <a:pt x="16078" y="16"/>
                  <a:pt x="16088" y="21"/>
                  <a:pt x="16096" y="27"/>
                </a:cubicBezTo>
                <a:cubicBezTo>
                  <a:pt x="16105" y="32"/>
                  <a:pt x="16113" y="39"/>
                  <a:pt x="16120" y="46"/>
                </a:cubicBezTo>
                <a:cubicBezTo>
                  <a:pt x="16128" y="54"/>
                  <a:pt x="16134" y="62"/>
                  <a:pt x="16140" y="70"/>
                </a:cubicBezTo>
                <a:cubicBezTo>
                  <a:pt x="16146" y="79"/>
                  <a:pt x="16151" y="88"/>
                  <a:pt x="16155" y="98"/>
                </a:cubicBezTo>
                <a:cubicBezTo>
                  <a:pt x="16159" y="107"/>
                  <a:pt x="16162" y="117"/>
                  <a:pt x="16164" y="128"/>
                </a:cubicBezTo>
                <a:cubicBezTo>
                  <a:pt x="16166" y="138"/>
                  <a:pt x="16167" y="148"/>
                  <a:pt x="16167" y="159"/>
                </a:cubicBezTo>
                <a:lnTo>
                  <a:pt x="16167" y="847"/>
                </a:lnTo>
                <a:cubicBezTo>
                  <a:pt x="16167" y="858"/>
                  <a:pt x="16166" y="868"/>
                  <a:pt x="16164" y="878"/>
                </a:cubicBezTo>
                <a:cubicBezTo>
                  <a:pt x="16162" y="889"/>
                  <a:pt x="16159" y="899"/>
                  <a:pt x="16155" y="908"/>
                </a:cubicBezTo>
                <a:cubicBezTo>
                  <a:pt x="16151" y="918"/>
                  <a:pt x="16146" y="927"/>
                  <a:pt x="16140" y="936"/>
                </a:cubicBezTo>
                <a:cubicBezTo>
                  <a:pt x="16134" y="944"/>
                  <a:pt x="16128" y="952"/>
                  <a:pt x="16120" y="960"/>
                </a:cubicBezTo>
                <a:cubicBezTo>
                  <a:pt x="16113" y="967"/>
                  <a:pt x="16105" y="974"/>
                  <a:pt x="16096" y="979"/>
                </a:cubicBezTo>
                <a:cubicBezTo>
                  <a:pt x="16088" y="985"/>
                  <a:pt x="16078" y="990"/>
                  <a:pt x="16069" y="994"/>
                </a:cubicBezTo>
                <a:cubicBezTo>
                  <a:pt x="16059" y="998"/>
                  <a:pt x="16049" y="1001"/>
                  <a:pt x="16039" y="1003"/>
                </a:cubicBezTo>
                <a:cubicBezTo>
                  <a:pt x="16029" y="1005"/>
                  <a:pt x="16018" y="1006"/>
                  <a:pt x="16008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671" name=""/>
          <p:cNvSpPr txBox="1"/>
          <p:nvPr/>
        </p:nvSpPr>
        <p:spPr>
          <a:xfrm>
            <a:off x="914400" y="4822560"/>
            <a:ext cx="4399200" cy="22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                  └──► </a:t>
            </a:r>
            <a:r>
              <a:rPr b="0" lang="en-US" sz="1560" spc="-1" strike="noStrike">
                <a:solidFill>
                  <a:srgbClr val="1f2328"/>
                </a:solidFill>
                <a:latin typeface="Courier New"/>
              </a:rPr>
              <a:t>WFB ─► QOpenHD</a:t>
            </a:r>
            <a:endParaRPr b="0" lang="en-US" sz="1560" spc="-1" strike="noStrike"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841680" y="5461560"/>
            <a:ext cx="5609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scripts/start_air.sh --mode {stream|shm}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8429400" y="5410080"/>
            <a:ext cx="2153160" cy="362160"/>
          </a:xfrm>
          <a:custGeom>
            <a:avLst/>
            <a:gdLst/>
            <a:ahLst/>
            <a:rect l="0" t="0" r="r" b="b"/>
            <a:pathLst>
              <a:path w="5981" h="1006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822" y="0"/>
                </a:lnTo>
                <a:cubicBezTo>
                  <a:pt x="5832" y="0"/>
                  <a:pt x="5843" y="1"/>
                  <a:pt x="5853" y="3"/>
                </a:cubicBezTo>
                <a:cubicBezTo>
                  <a:pt x="5863" y="5"/>
                  <a:pt x="5873" y="8"/>
                  <a:pt x="5883" y="12"/>
                </a:cubicBezTo>
                <a:cubicBezTo>
                  <a:pt x="5892" y="16"/>
                  <a:pt x="5901" y="21"/>
                  <a:pt x="5910" y="27"/>
                </a:cubicBezTo>
                <a:cubicBezTo>
                  <a:pt x="5919" y="32"/>
                  <a:pt x="5927" y="39"/>
                  <a:pt x="5934" y="46"/>
                </a:cubicBezTo>
                <a:cubicBezTo>
                  <a:pt x="5942" y="54"/>
                  <a:pt x="5948" y="62"/>
                  <a:pt x="5954" y="70"/>
                </a:cubicBezTo>
                <a:cubicBezTo>
                  <a:pt x="5960" y="79"/>
                  <a:pt x="5965" y="88"/>
                  <a:pt x="5969" y="98"/>
                </a:cubicBezTo>
                <a:cubicBezTo>
                  <a:pt x="5973" y="107"/>
                  <a:pt x="5976" y="117"/>
                  <a:pt x="5978" y="128"/>
                </a:cubicBezTo>
                <a:cubicBezTo>
                  <a:pt x="5980" y="138"/>
                  <a:pt x="5981" y="148"/>
                  <a:pt x="5981" y="159"/>
                </a:cubicBezTo>
                <a:lnTo>
                  <a:pt x="5981" y="847"/>
                </a:lnTo>
                <a:cubicBezTo>
                  <a:pt x="5981" y="858"/>
                  <a:pt x="5980" y="868"/>
                  <a:pt x="5978" y="878"/>
                </a:cubicBezTo>
                <a:cubicBezTo>
                  <a:pt x="5976" y="889"/>
                  <a:pt x="5973" y="899"/>
                  <a:pt x="5969" y="908"/>
                </a:cubicBezTo>
                <a:cubicBezTo>
                  <a:pt x="5965" y="918"/>
                  <a:pt x="5960" y="927"/>
                  <a:pt x="5954" y="936"/>
                </a:cubicBezTo>
                <a:cubicBezTo>
                  <a:pt x="5948" y="944"/>
                  <a:pt x="5942" y="952"/>
                  <a:pt x="5934" y="960"/>
                </a:cubicBezTo>
                <a:cubicBezTo>
                  <a:pt x="5927" y="967"/>
                  <a:pt x="5919" y="974"/>
                  <a:pt x="5910" y="979"/>
                </a:cubicBezTo>
                <a:cubicBezTo>
                  <a:pt x="5901" y="985"/>
                  <a:pt x="5892" y="990"/>
                  <a:pt x="5883" y="994"/>
                </a:cubicBezTo>
                <a:cubicBezTo>
                  <a:pt x="5873" y="998"/>
                  <a:pt x="5863" y="1001"/>
                  <a:pt x="5853" y="1003"/>
                </a:cubicBezTo>
                <a:cubicBezTo>
                  <a:pt x="5843" y="1005"/>
                  <a:pt x="5832" y="1006"/>
                  <a:pt x="5822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674" name=""/>
          <p:cNvSpPr txBox="1"/>
          <p:nvPr/>
        </p:nvSpPr>
        <p:spPr>
          <a:xfrm>
            <a:off x="6569280" y="5407920"/>
            <a:ext cx="18586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selects mode;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8520840" y="5461560"/>
            <a:ext cx="1963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install_air.sh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0586880" y="5407920"/>
            <a:ext cx="676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must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747720" y="5826960"/>
            <a:ext cx="8298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match.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17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682" name=""/>
          <p:cNvSpPr/>
          <p:nvPr/>
        </p:nvSpPr>
        <p:spPr>
          <a:xfrm>
            <a:off x="757080" y="1471320"/>
            <a:ext cx="10687320" cy="4058280"/>
          </a:xfrm>
          <a:custGeom>
            <a:avLst/>
            <a:gdLst/>
            <a:ahLst/>
            <a:rect l="0" t="0" r="r" b="b"/>
            <a:pathLst>
              <a:path w="29687" h="11273">
                <a:moveTo>
                  <a:pt x="0" y="1112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1127"/>
                </a:lnTo>
                <a:cubicBezTo>
                  <a:pt x="29687" y="11137"/>
                  <a:pt x="29686" y="11146"/>
                  <a:pt x="29684" y="11155"/>
                </a:cubicBezTo>
                <a:cubicBezTo>
                  <a:pt x="29683" y="11165"/>
                  <a:pt x="29680" y="11174"/>
                  <a:pt x="29676" y="11183"/>
                </a:cubicBezTo>
                <a:cubicBezTo>
                  <a:pt x="29672" y="11192"/>
                  <a:pt x="29668" y="11200"/>
                  <a:pt x="29663" y="11208"/>
                </a:cubicBezTo>
                <a:cubicBezTo>
                  <a:pt x="29657" y="11216"/>
                  <a:pt x="29651" y="11223"/>
                  <a:pt x="29645" y="11230"/>
                </a:cubicBezTo>
                <a:cubicBezTo>
                  <a:pt x="29638" y="11237"/>
                  <a:pt x="29630" y="11243"/>
                  <a:pt x="29623" y="11248"/>
                </a:cubicBezTo>
                <a:cubicBezTo>
                  <a:pt x="29615" y="11253"/>
                  <a:pt x="29606" y="11258"/>
                  <a:pt x="29597" y="11261"/>
                </a:cubicBezTo>
                <a:cubicBezTo>
                  <a:pt x="29589" y="11265"/>
                  <a:pt x="29579" y="11268"/>
                  <a:pt x="29570" y="11270"/>
                </a:cubicBezTo>
                <a:cubicBezTo>
                  <a:pt x="29561" y="11272"/>
                  <a:pt x="29551" y="11273"/>
                  <a:pt x="29542" y="11273"/>
                </a:cubicBezTo>
                <a:lnTo>
                  <a:pt x="145" y="11273"/>
                </a:lnTo>
                <a:cubicBezTo>
                  <a:pt x="136" y="11273"/>
                  <a:pt x="126" y="11272"/>
                  <a:pt x="117" y="11270"/>
                </a:cubicBezTo>
                <a:cubicBezTo>
                  <a:pt x="108" y="11268"/>
                  <a:pt x="99" y="11265"/>
                  <a:pt x="90" y="11261"/>
                </a:cubicBezTo>
                <a:cubicBezTo>
                  <a:pt x="81" y="11258"/>
                  <a:pt x="73" y="11253"/>
                  <a:pt x="65" y="11248"/>
                </a:cubicBezTo>
                <a:cubicBezTo>
                  <a:pt x="57" y="11243"/>
                  <a:pt x="49" y="11237"/>
                  <a:pt x="43" y="11230"/>
                </a:cubicBezTo>
                <a:cubicBezTo>
                  <a:pt x="36" y="11223"/>
                  <a:pt x="30" y="11216"/>
                  <a:pt x="24" y="11208"/>
                </a:cubicBezTo>
                <a:cubicBezTo>
                  <a:pt x="19" y="11200"/>
                  <a:pt x="15" y="11192"/>
                  <a:pt x="11" y="11183"/>
                </a:cubicBezTo>
                <a:cubicBezTo>
                  <a:pt x="7" y="11174"/>
                  <a:pt x="5" y="11165"/>
                  <a:pt x="3" y="11155"/>
                </a:cubicBezTo>
                <a:cubicBezTo>
                  <a:pt x="1" y="11146"/>
                  <a:pt x="0" y="11137"/>
                  <a:pt x="0" y="1112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683" name=""/>
          <p:cNvSpPr/>
          <p:nvPr/>
        </p:nvSpPr>
        <p:spPr>
          <a:xfrm>
            <a:off x="757080" y="1471320"/>
            <a:ext cx="10687320" cy="4058280"/>
          </a:xfrm>
          <a:custGeom>
            <a:avLst/>
            <a:gdLst/>
            <a:ahLst/>
            <a:rect l="0" t="0" r="r" b="b"/>
            <a:pathLst>
              <a:path w="29687" h="11273">
                <a:moveTo>
                  <a:pt x="0" y="1112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1127"/>
                </a:lnTo>
                <a:cubicBezTo>
                  <a:pt x="29687" y="11137"/>
                  <a:pt x="29686" y="11146"/>
                  <a:pt x="29684" y="11155"/>
                </a:cubicBezTo>
                <a:cubicBezTo>
                  <a:pt x="29683" y="11165"/>
                  <a:pt x="29680" y="11174"/>
                  <a:pt x="29676" y="11183"/>
                </a:cubicBezTo>
                <a:cubicBezTo>
                  <a:pt x="29672" y="11192"/>
                  <a:pt x="29668" y="11200"/>
                  <a:pt x="29663" y="11208"/>
                </a:cubicBezTo>
                <a:cubicBezTo>
                  <a:pt x="29657" y="11216"/>
                  <a:pt x="29651" y="11223"/>
                  <a:pt x="29645" y="11230"/>
                </a:cubicBezTo>
                <a:cubicBezTo>
                  <a:pt x="29638" y="11237"/>
                  <a:pt x="29630" y="11243"/>
                  <a:pt x="29623" y="11248"/>
                </a:cubicBezTo>
                <a:cubicBezTo>
                  <a:pt x="29615" y="11253"/>
                  <a:pt x="29606" y="11258"/>
                  <a:pt x="29597" y="11261"/>
                </a:cubicBezTo>
                <a:cubicBezTo>
                  <a:pt x="29589" y="11265"/>
                  <a:pt x="29579" y="11268"/>
                  <a:pt x="29570" y="11270"/>
                </a:cubicBezTo>
                <a:cubicBezTo>
                  <a:pt x="29561" y="11272"/>
                  <a:pt x="29551" y="11273"/>
                  <a:pt x="29542" y="11273"/>
                </a:cubicBezTo>
                <a:lnTo>
                  <a:pt x="145" y="11273"/>
                </a:lnTo>
                <a:cubicBezTo>
                  <a:pt x="136" y="11273"/>
                  <a:pt x="126" y="11272"/>
                  <a:pt x="117" y="11270"/>
                </a:cubicBezTo>
                <a:cubicBezTo>
                  <a:pt x="108" y="11268"/>
                  <a:pt x="99" y="11265"/>
                  <a:pt x="90" y="11261"/>
                </a:cubicBezTo>
                <a:cubicBezTo>
                  <a:pt x="81" y="11258"/>
                  <a:pt x="73" y="11253"/>
                  <a:pt x="65" y="11248"/>
                </a:cubicBezTo>
                <a:cubicBezTo>
                  <a:pt x="57" y="11243"/>
                  <a:pt x="49" y="11237"/>
                  <a:pt x="43" y="11230"/>
                </a:cubicBezTo>
                <a:cubicBezTo>
                  <a:pt x="36" y="11223"/>
                  <a:pt x="30" y="11216"/>
                  <a:pt x="24" y="11208"/>
                </a:cubicBezTo>
                <a:cubicBezTo>
                  <a:pt x="19" y="11200"/>
                  <a:pt x="15" y="11192"/>
                  <a:pt x="11" y="11183"/>
                </a:cubicBezTo>
                <a:cubicBezTo>
                  <a:pt x="7" y="11174"/>
                  <a:pt x="5" y="11165"/>
                  <a:pt x="3" y="11155"/>
                </a:cubicBezTo>
                <a:cubicBezTo>
                  <a:pt x="1" y="11146"/>
                  <a:pt x="0" y="11137"/>
                  <a:pt x="0" y="111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684" name=""/>
          <p:cNvSpPr txBox="1"/>
          <p:nvPr/>
        </p:nvSpPr>
        <p:spPr>
          <a:xfrm>
            <a:off x="747720" y="770400"/>
            <a:ext cx="687852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Boot service (field deployment contract)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914400" y="1632600"/>
            <a:ext cx="12200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systemd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914400" y="186372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│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914400" y="210312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914400" y="2333880"/>
            <a:ext cx="1011996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/etc/systemd/system/drone-follow-boot.service     ◄── name preserved (RENAME-04)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914400" y="256500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│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914400" y="280440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914400" y="3035520"/>
            <a:ext cx="43898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scripts/boot/drone-follow-boot.sh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914400" y="326664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│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914400" y="350568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914400" y="3736800"/>
            <a:ext cx="103640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~/Desktop/drone-follow.conf       ENABLED=true               ◄── operator-editable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914400" y="3967920"/>
            <a:ext cx="63406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│                              </a:t>
            </a:r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MODE=stream|shm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914400" y="420732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914400" y="4438080"/>
            <a:ext cx="414612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scripts/start_air.sh [--mode …]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14400" y="466920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│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914400" y="4908600"/>
            <a:ext cx="85428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   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914400" y="5139720"/>
            <a:ext cx="914472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00" spc="-1" strike="noStrike">
                <a:solidFill>
                  <a:srgbClr val="1f2328"/>
                </a:solidFill>
                <a:latin typeface="Courier New"/>
              </a:rPr>
              <a:t>drone-follow --input rpi --openhd --connection tcpout://127.0.0.1:5760 …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747720" y="5731560"/>
            <a:ext cx="88156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Three Pis in the field share this contract. Breaking it = breaking the fleet.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18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06" name=""/>
          <p:cNvSpPr txBox="1"/>
          <p:nvPr/>
        </p:nvSpPr>
        <p:spPr>
          <a:xfrm>
            <a:off x="747720" y="2828880"/>
            <a:ext cx="4691520" cy="49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80" spc="-1" strike="noStrike">
                <a:solidFill>
                  <a:srgbClr val="224466"/>
                </a:solidFill>
                <a:latin typeface="Arial"/>
              </a:rPr>
              <a:t>Part 2 — v1.1 changes</a:t>
            </a:r>
            <a:endParaRPr b="0" lang="en-US" sz="3480" spc="-1" strike="noStrike"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1466640" y="3686040"/>
            <a:ext cx="3153240" cy="362160"/>
          </a:xfrm>
          <a:custGeom>
            <a:avLst/>
            <a:gdLst/>
            <a:ahLst/>
            <a:rect l="0" t="0" r="r" b="b"/>
            <a:pathLst>
              <a:path w="8759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600" y="0"/>
                </a:lnTo>
                <a:cubicBezTo>
                  <a:pt x="8610" y="0"/>
                  <a:pt x="8621" y="1"/>
                  <a:pt x="8631" y="3"/>
                </a:cubicBezTo>
                <a:cubicBezTo>
                  <a:pt x="8641" y="5"/>
                  <a:pt x="8651" y="8"/>
                  <a:pt x="8661" y="12"/>
                </a:cubicBezTo>
                <a:cubicBezTo>
                  <a:pt x="8670" y="16"/>
                  <a:pt x="8680" y="21"/>
                  <a:pt x="8688" y="27"/>
                </a:cubicBezTo>
                <a:cubicBezTo>
                  <a:pt x="8697" y="32"/>
                  <a:pt x="8705" y="39"/>
                  <a:pt x="8712" y="46"/>
                </a:cubicBezTo>
                <a:cubicBezTo>
                  <a:pt x="8720" y="54"/>
                  <a:pt x="8726" y="62"/>
                  <a:pt x="8732" y="70"/>
                </a:cubicBezTo>
                <a:cubicBezTo>
                  <a:pt x="8738" y="79"/>
                  <a:pt x="8743" y="88"/>
                  <a:pt x="8747" y="98"/>
                </a:cubicBezTo>
                <a:cubicBezTo>
                  <a:pt x="8751" y="108"/>
                  <a:pt x="8754" y="117"/>
                  <a:pt x="8756" y="128"/>
                </a:cubicBezTo>
                <a:cubicBezTo>
                  <a:pt x="8758" y="138"/>
                  <a:pt x="8759" y="148"/>
                  <a:pt x="8759" y="159"/>
                </a:cubicBezTo>
                <a:lnTo>
                  <a:pt x="8759" y="848"/>
                </a:lnTo>
                <a:cubicBezTo>
                  <a:pt x="8759" y="858"/>
                  <a:pt x="8758" y="868"/>
                  <a:pt x="8756" y="879"/>
                </a:cubicBezTo>
                <a:cubicBezTo>
                  <a:pt x="8754" y="889"/>
                  <a:pt x="8751" y="899"/>
                  <a:pt x="8747" y="908"/>
                </a:cubicBezTo>
                <a:cubicBezTo>
                  <a:pt x="8743" y="918"/>
                  <a:pt x="8738" y="927"/>
                  <a:pt x="8732" y="936"/>
                </a:cubicBezTo>
                <a:cubicBezTo>
                  <a:pt x="8726" y="944"/>
                  <a:pt x="8720" y="952"/>
                  <a:pt x="8712" y="960"/>
                </a:cubicBezTo>
                <a:cubicBezTo>
                  <a:pt x="8705" y="967"/>
                  <a:pt x="8697" y="974"/>
                  <a:pt x="8688" y="980"/>
                </a:cubicBezTo>
                <a:cubicBezTo>
                  <a:pt x="8680" y="985"/>
                  <a:pt x="8670" y="990"/>
                  <a:pt x="8661" y="994"/>
                </a:cubicBezTo>
                <a:cubicBezTo>
                  <a:pt x="8651" y="998"/>
                  <a:pt x="8641" y="1001"/>
                  <a:pt x="8631" y="1003"/>
                </a:cubicBezTo>
                <a:cubicBezTo>
                  <a:pt x="8621" y="1005"/>
                  <a:pt x="8610" y="1006"/>
                  <a:pt x="8600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708" name=""/>
          <p:cNvSpPr txBox="1"/>
          <p:nvPr/>
        </p:nvSpPr>
        <p:spPr>
          <a:xfrm>
            <a:off x="747720" y="3683880"/>
            <a:ext cx="721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What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563120" y="3737520"/>
            <a:ext cx="2945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feature/rover-support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4614840" y="3683880"/>
            <a:ext cx="7995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ships.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19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15" name=""/>
          <p:cNvSpPr/>
          <p:nvPr/>
        </p:nvSpPr>
        <p:spPr>
          <a:xfrm>
            <a:off x="752400" y="1457280"/>
            <a:ext cx="3962520" cy="543240"/>
          </a:xfrm>
          <a:custGeom>
            <a:avLst/>
            <a:gdLst/>
            <a:ahLst/>
            <a:rect l="0" t="0" r="r" b="b"/>
            <a:pathLst>
              <a:path w="11007" h="1509">
                <a:moveTo>
                  <a:pt x="0" y="0"/>
                </a:moveTo>
                <a:lnTo>
                  <a:pt x="11007" y="0"/>
                </a:lnTo>
                <a:lnTo>
                  <a:pt x="1100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16" name=""/>
          <p:cNvSpPr/>
          <p:nvPr/>
        </p:nvSpPr>
        <p:spPr>
          <a:xfrm>
            <a:off x="4714560" y="1457280"/>
            <a:ext cx="2638800" cy="543240"/>
          </a:xfrm>
          <a:custGeom>
            <a:avLst/>
            <a:gdLst/>
            <a:ahLst/>
            <a:rect l="0" t="0" r="r" b="b"/>
            <a:pathLst>
              <a:path w="7330" h="1509">
                <a:moveTo>
                  <a:pt x="0" y="0"/>
                </a:moveTo>
                <a:lnTo>
                  <a:pt x="7330" y="0"/>
                </a:lnTo>
                <a:lnTo>
                  <a:pt x="73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17" name=""/>
          <p:cNvSpPr/>
          <p:nvPr/>
        </p:nvSpPr>
        <p:spPr>
          <a:xfrm>
            <a:off x="7353000" y="1457280"/>
            <a:ext cx="5096520" cy="543240"/>
          </a:xfrm>
          <a:custGeom>
            <a:avLst/>
            <a:gdLst/>
            <a:ahLst/>
            <a:rect l="0" t="0" r="r" b="b"/>
            <a:pathLst>
              <a:path w="14157" h="1509">
                <a:moveTo>
                  <a:pt x="0" y="0"/>
                </a:moveTo>
                <a:lnTo>
                  <a:pt x="14157" y="0"/>
                </a:lnTo>
                <a:lnTo>
                  <a:pt x="1415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18" name=""/>
          <p:cNvSpPr/>
          <p:nvPr/>
        </p:nvSpPr>
        <p:spPr>
          <a:xfrm>
            <a:off x="752400" y="2000160"/>
            <a:ext cx="3962520" cy="952920"/>
          </a:xfrm>
          <a:custGeom>
            <a:avLst/>
            <a:gdLst/>
            <a:ahLst/>
            <a:rect l="0" t="0" r="r" b="b"/>
            <a:pathLst>
              <a:path w="11007" h="2647">
                <a:moveTo>
                  <a:pt x="0" y="0"/>
                </a:moveTo>
                <a:lnTo>
                  <a:pt x="11007" y="0"/>
                </a:lnTo>
                <a:lnTo>
                  <a:pt x="110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19" name=""/>
          <p:cNvSpPr/>
          <p:nvPr/>
        </p:nvSpPr>
        <p:spPr>
          <a:xfrm>
            <a:off x="4714560" y="2000160"/>
            <a:ext cx="2638800" cy="952920"/>
          </a:xfrm>
          <a:custGeom>
            <a:avLst/>
            <a:gdLst/>
            <a:ahLst/>
            <a:rect l="0" t="0" r="r" b="b"/>
            <a:pathLst>
              <a:path w="7330" h="2647">
                <a:moveTo>
                  <a:pt x="0" y="0"/>
                </a:moveTo>
                <a:lnTo>
                  <a:pt x="7330" y="0"/>
                </a:lnTo>
                <a:lnTo>
                  <a:pt x="733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20" name=""/>
          <p:cNvSpPr/>
          <p:nvPr/>
        </p:nvSpPr>
        <p:spPr>
          <a:xfrm>
            <a:off x="7353000" y="2000160"/>
            <a:ext cx="5096520" cy="952920"/>
          </a:xfrm>
          <a:custGeom>
            <a:avLst/>
            <a:gdLst/>
            <a:ahLst/>
            <a:rect l="0" t="0" r="r" b="b"/>
            <a:pathLst>
              <a:path w="14157" h="2647">
                <a:moveTo>
                  <a:pt x="0" y="0"/>
                </a:moveTo>
                <a:lnTo>
                  <a:pt x="14157" y="0"/>
                </a:lnTo>
                <a:lnTo>
                  <a:pt x="1415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21" name=""/>
          <p:cNvSpPr/>
          <p:nvPr/>
        </p:nvSpPr>
        <p:spPr>
          <a:xfrm>
            <a:off x="752400" y="2952720"/>
            <a:ext cx="3962520" cy="952560"/>
          </a:xfrm>
          <a:custGeom>
            <a:avLst/>
            <a:gdLst/>
            <a:ahLst/>
            <a:rect l="0" t="0" r="r" b="b"/>
            <a:pathLst>
              <a:path w="11007" h="2646">
                <a:moveTo>
                  <a:pt x="0" y="0"/>
                </a:moveTo>
                <a:lnTo>
                  <a:pt x="11007" y="0"/>
                </a:lnTo>
                <a:lnTo>
                  <a:pt x="1100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22" name=""/>
          <p:cNvSpPr/>
          <p:nvPr/>
        </p:nvSpPr>
        <p:spPr>
          <a:xfrm>
            <a:off x="4714560" y="2952720"/>
            <a:ext cx="2638800" cy="952560"/>
          </a:xfrm>
          <a:custGeom>
            <a:avLst/>
            <a:gdLst/>
            <a:ahLst/>
            <a:rect l="0" t="0" r="r" b="b"/>
            <a:pathLst>
              <a:path w="7330" h="2646">
                <a:moveTo>
                  <a:pt x="0" y="0"/>
                </a:moveTo>
                <a:lnTo>
                  <a:pt x="7330" y="0"/>
                </a:lnTo>
                <a:lnTo>
                  <a:pt x="7330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23" name=""/>
          <p:cNvSpPr/>
          <p:nvPr/>
        </p:nvSpPr>
        <p:spPr>
          <a:xfrm>
            <a:off x="7353000" y="2952720"/>
            <a:ext cx="5096520" cy="952560"/>
          </a:xfrm>
          <a:custGeom>
            <a:avLst/>
            <a:gdLst/>
            <a:ahLst/>
            <a:rect l="0" t="0" r="r" b="b"/>
            <a:pathLst>
              <a:path w="14157" h="2646">
                <a:moveTo>
                  <a:pt x="0" y="0"/>
                </a:moveTo>
                <a:lnTo>
                  <a:pt x="14157" y="0"/>
                </a:lnTo>
                <a:lnTo>
                  <a:pt x="1415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24" name=""/>
          <p:cNvSpPr/>
          <p:nvPr/>
        </p:nvSpPr>
        <p:spPr>
          <a:xfrm>
            <a:off x="752400" y="3904920"/>
            <a:ext cx="3962520" cy="952920"/>
          </a:xfrm>
          <a:custGeom>
            <a:avLst/>
            <a:gdLst/>
            <a:ahLst/>
            <a:rect l="0" t="0" r="r" b="b"/>
            <a:pathLst>
              <a:path w="11007" h="2647">
                <a:moveTo>
                  <a:pt x="0" y="0"/>
                </a:moveTo>
                <a:lnTo>
                  <a:pt x="11007" y="0"/>
                </a:lnTo>
                <a:lnTo>
                  <a:pt x="110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25" name=""/>
          <p:cNvSpPr/>
          <p:nvPr/>
        </p:nvSpPr>
        <p:spPr>
          <a:xfrm>
            <a:off x="4714560" y="3904920"/>
            <a:ext cx="2638800" cy="952920"/>
          </a:xfrm>
          <a:custGeom>
            <a:avLst/>
            <a:gdLst/>
            <a:ahLst/>
            <a:rect l="0" t="0" r="r" b="b"/>
            <a:pathLst>
              <a:path w="7330" h="2647">
                <a:moveTo>
                  <a:pt x="0" y="0"/>
                </a:moveTo>
                <a:lnTo>
                  <a:pt x="7330" y="0"/>
                </a:lnTo>
                <a:lnTo>
                  <a:pt x="733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26" name=""/>
          <p:cNvSpPr/>
          <p:nvPr/>
        </p:nvSpPr>
        <p:spPr>
          <a:xfrm>
            <a:off x="7353000" y="3904920"/>
            <a:ext cx="5096520" cy="952920"/>
          </a:xfrm>
          <a:custGeom>
            <a:avLst/>
            <a:gdLst/>
            <a:ahLst/>
            <a:rect l="0" t="0" r="r" b="b"/>
            <a:pathLst>
              <a:path w="14157" h="2647">
                <a:moveTo>
                  <a:pt x="0" y="0"/>
                </a:moveTo>
                <a:lnTo>
                  <a:pt x="14157" y="0"/>
                </a:lnTo>
                <a:lnTo>
                  <a:pt x="1415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27" name=""/>
          <p:cNvSpPr/>
          <p:nvPr/>
        </p:nvSpPr>
        <p:spPr>
          <a:xfrm>
            <a:off x="752400" y="4857480"/>
            <a:ext cx="3962520" cy="952920"/>
          </a:xfrm>
          <a:custGeom>
            <a:avLst/>
            <a:gdLst/>
            <a:ahLst/>
            <a:rect l="0" t="0" r="r" b="b"/>
            <a:pathLst>
              <a:path w="11007" h="2647">
                <a:moveTo>
                  <a:pt x="0" y="0"/>
                </a:moveTo>
                <a:lnTo>
                  <a:pt x="11007" y="0"/>
                </a:lnTo>
                <a:lnTo>
                  <a:pt x="110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28" name=""/>
          <p:cNvSpPr/>
          <p:nvPr/>
        </p:nvSpPr>
        <p:spPr>
          <a:xfrm>
            <a:off x="4714560" y="4857480"/>
            <a:ext cx="2638800" cy="952920"/>
          </a:xfrm>
          <a:custGeom>
            <a:avLst/>
            <a:gdLst/>
            <a:ahLst/>
            <a:rect l="0" t="0" r="r" b="b"/>
            <a:pathLst>
              <a:path w="7330" h="2647">
                <a:moveTo>
                  <a:pt x="0" y="0"/>
                </a:moveTo>
                <a:lnTo>
                  <a:pt x="7330" y="0"/>
                </a:lnTo>
                <a:lnTo>
                  <a:pt x="733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29" name=""/>
          <p:cNvSpPr/>
          <p:nvPr/>
        </p:nvSpPr>
        <p:spPr>
          <a:xfrm>
            <a:off x="7353000" y="4857480"/>
            <a:ext cx="5096520" cy="952920"/>
          </a:xfrm>
          <a:custGeom>
            <a:avLst/>
            <a:gdLst/>
            <a:ahLst/>
            <a:rect l="0" t="0" r="r" b="b"/>
            <a:pathLst>
              <a:path w="14157" h="2647">
                <a:moveTo>
                  <a:pt x="0" y="0"/>
                </a:moveTo>
                <a:lnTo>
                  <a:pt x="14157" y="0"/>
                </a:lnTo>
                <a:lnTo>
                  <a:pt x="1415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30" name=""/>
          <p:cNvSpPr/>
          <p:nvPr/>
        </p:nvSpPr>
        <p:spPr>
          <a:xfrm>
            <a:off x="752400" y="5810040"/>
            <a:ext cx="3962520" cy="952920"/>
          </a:xfrm>
          <a:custGeom>
            <a:avLst/>
            <a:gdLst/>
            <a:ahLst/>
            <a:rect l="0" t="0" r="r" b="b"/>
            <a:pathLst>
              <a:path w="11007" h="2647">
                <a:moveTo>
                  <a:pt x="0" y="0"/>
                </a:moveTo>
                <a:lnTo>
                  <a:pt x="11007" y="0"/>
                </a:lnTo>
                <a:lnTo>
                  <a:pt x="110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31" name=""/>
          <p:cNvSpPr/>
          <p:nvPr/>
        </p:nvSpPr>
        <p:spPr>
          <a:xfrm>
            <a:off x="4714560" y="5810040"/>
            <a:ext cx="2638800" cy="952920"/>
          </a:xfrm>
          <a:custGeom>
            <a:avLst/>
            <a:gdLst/>
            <a:ahLst/>
            <a:rect l="0" t="0" r="r" b="b"/>
            <a:pathLst>
              <a:path w="7330" h="2647">
                <a:moveTo>
                  <a:pt x="0" y="0"/>
                </a:moveTo>
                <a:lnTo>
                  <a:pt x="7330" y="0"/>
                </a:lnTo>
                <a:lnTo>
                  <a:pt x="733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32" name=""/>
          <p:cNvSpPr/>
          <p:nvPr/>
        </p:nvSpPr>
        <p:spPr>
          <a:xfrm>
            <a:off x="7353000" y="5810040"/>
            <a:ext cx="5096520" cy="952920"/>
          </a:xfrm>
          <a:custGeom>
            <a:avLst/>
            <a:gdLst/>
            <a:ahLst/>
            <a:rect l="0" t="0" r="r" b="b"/>
            <a:pathLst>
              <a:path w="14157" h="2647">
                <a:moveTo>
                  <a:pt x="0" y="0"/>
                </a:moveTo>
                <a:lnTo>
                  <a:pt x="14157" y="0"/>
                </a:lnTo>
                <a:lnTo>
                  <a:pt x="1415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733" name=""/>
          <p:cNvSpPr/>
          <p:nvPr/>
        </p:nvSpPr>
        <p:spPr>
          <a:xfrm>
            <a:off x="752400" y="6762600"/>
            <a:ext cx="3962520" cy="952920"/>
          </a:xfrm>
          <a:custGeom>
            <a:avLst/>
            <a:gdLst/>
            <a:ahLst/>
            <a:rect l="0" t="0" r="r" b="b"/>
            <a:pathLst>
              <a:path w="11007" h="2647">
                <a:moveTo>
                  <a:pt x="0" y="0"/>
                </a:moveTo>
                <a:lnTo>
                  <a:pt x="11007" y="0"/>
                </a:lnTo>
                <a:lnTo>
                  <a:pt x="1100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34" name=""/>
          <p:cNvSpPr/>
          <p:nvPr/>
        </p:nvSpPr>
        <p:spPr>
          <a:xfrm>
            <a:off x="4714560" y="6762600"/>
            <a:ext cx="2638800" cy="952920"/>
          </a:xfrm>
          <a:custGeom>
            <a:avLst/>
            <a:gdLst/>
            <a:ahLst/>
            <a:rect l="0" t="0" r="r" b="b"/>
            <a:pathLst>
              <a:path w="7330" h="2647">
                <a:moveTo>
                  <a:pt x="0" y="0"/>
                </a:moveTo>
                <a:lnTo>
                  <a:pt x="7330" y="0"/>
                </a:lnTo>
                <a:lnTo>
                  <a:pt x="733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35" name=""/>
          <p:cNvSpPr/>
          <p:nvPr/>
        </p:nvSpPr>
        <p:spPr>
          <a:xfrm>
            <a:off x="7353000" y="6762600"/>
            <a:ext cx="5096520" cy="952920"/>
          </a:xfrm>
          <a:custGeom>
            <a:avLst/>
            <a:gdLst/>
            <a:ahLst/>
            <a:rect l="0" t="0" r="r" b="b"/>
            <a:pathLst>
              <a:path w="14157" h="2647">
                <a:moveTo>
                  <a:pt x="0" y="0"/>
                </a:moveTo>
                <a:lnTo>
                  <a:pt x="14157" y="0"/>
                </a:lnTo>
                <a:lnTo>
                  <a:pt x="1415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736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37" name=""/>
          <p:cNvSpPr/>
          <p:nvPr/>
        </p:nvSpPr>
        <p:spPr>
          <a:xfrm>
            <a:off x="752400" y="145728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38" name=""/>
          <p:cNvSpPr/>
          <p:nvPr/>
        </p:nvSpPr>
        <p:spPr>
          <a:xfrm>
            <a:off x="471456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39" name=""/>
          <p:cNvSpPr/>
          <p:nvPr/>
        </p:nvSpPr>
        <p:spPr>
          <a:xfrm>
            <a:off x="4724280" y="1457280"/>
            <a:ext cx="2629080" cy="9720"/>
          </a:xfrm>
          <a:custGeom>
            <a:avLst/>
            <a:gdLst/>
            <a:ahLst/>
            <a:rect l="0" t="0" r="r" b="b"/>
            <a:pathLst>
              <a:path w="7303" h="27">
                <a:moveTo>
                  <a:pt x="0" y="0"/>
                </a:moveTo>
                <a:lnTo>
                  <a:pt x="7303" y="0"/>
                </a:lnTo>
                <a:lnTo>
                  <a:pt x="7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0" name=""/>
          <p:cNvSpPr/>
          <p:nvPr/>
        </p:nvSpPr>
        <p:spPr>
          <a:xfrm>
            <a:off x="734364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1" name=""/>
          <p:cNvSpPr/>
          <p:nvPr/>
        </p:nvSpPr>
        <p:spPr>
          <a:xfrm>
            <a:off x="7353000" y="1457280"/>
            <a:ext cx="5096520" cy="9720"/>
          </a:xfrm>
          <a:custGeom>
            <a:avLst/>
            <a:gdLst/>
            <a:ahLst/>
            <a:rect l="0" t="0" r="r" b="b"/>
            <a:pathLst>
              <a:path w="14157" h="27">
                <a:moveTo>
                  <a:pt x="0" y="0"/>
                </a:moveTo>
                <a:lnTo>
                  <a:pt x="14157" y="0"/>
                </a:lnTo>
                <a:lnTo>
                  <a:pt x="141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2" name=""/>
          <p:cNvSpPr/>
          <p:nvPr/>
        </p:nvSpPr>
        <p:spPr>
          <a:xfrm>
            <a:off x="752400" y="1990440"/>
            <a:ext cx="3972240" cy="10080"/>
          </a:xfrm>
          <a:custGeom>
            <a:avLst/>
            <a:gdLst/>
            <a:ahLst/>
            <a:rect l="0" t="0" r="r" b="b"/>
            <a:pathLst>
              <a:path w="11034" h="28">
                <a:moveTo>
                  <a:pt x="0" y="0"/>
                </a:moveTo>
                <a:lnTo>
                  <a:pt x="11034" y="0"/>
                </a:lnTo>
                <a:lnTo>
                  <a:pt x="110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3" name=""/>
          <p:cNvSpPr/>
          <p:nvPr/>
        </p:nvSpPr>
        <p:spPr>
          <a:xfrm>
            <a:off x="4724280" y="1990440"/>
            <a:ext cx="2629080" cy="10080"/>
          </a:xfrm>
          <a:custGeom>
            <a:avLst/>
            <a:gdLst/>
            <a:ahLst/>
            <a:rect l="0" t="0" r="r" b="b"/>
            <a:pathLst>
              <a:path w="7303" h="28">
                <a:moveTo>
                  <a:pt x="0" y="0"/>
                </a:moveTo>
                <a:lnTo>
                  <a:pt x="7303" y="0"/>
                </a:lnTo>
                <a:lnTo>
                  <a:pt x="7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4" name=""/>
          <p:cNvSpPr/>
          <p:nvPr/>
        </p:nvSpPr>
        <p:spPr>
          <a:xfrm>
            <a:off x="7353000" y="1990440"/>
            <a:ext cx="5096520" cy="10080"/>
          </a:xfrm>
          <a:custGeom>
            <a:avLst/>
            <a:gdLst/>
            <a:ahLst/>
            <a:rect l="0" t="0" r="r" b="b"/>
            <a:pathLst>
              <a:path w="14157" h="28">
                <a:moveTo>
                  <a:pt x="0" y="0"/>
                </a:moveTo>
                <a:lnTo>
                  <a:pt x="14157" y="0"/>
                </a:lnTo>
                <a:lnTo>
                  <a:pt x="141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5" name=""/>
          <p:cNvSpPr/>
          <p:nvPr/>
        </p:nvSpPr>
        <p:spPr>
          <a:xfrm>
            <a:off x="75240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6" name=""/>
          <p:cNvSpPr/>
          <p:nvPr/>
        </p:nvSpPr>
        <p:spPr>
          <a:xfrm>
            <a:off x="4714560" y="2000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7" name=""/>
          <p:cNvSpPr/>
          <p:nvPr/>
        </p:nvSpPr>
        <p:spPr>
          <a:xfrm>
            <a:off x="734364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8" name=""/>
          <p:cNvSpPr/>
          <p:nvPr/>
        </p:nvSpPr>
        <p:spPr>
          <a:xfrm>
            <a:off x="75240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49" name=""/>
          <p:cNvSpPr/>
          <p:nvPr/>
        </p:nvSpPr>
        <p:spPr>
          <a:xfrm>
            <a:off x="752400" y="2943000"/>
            <a:ext cx="3972240" cy="10080"/>
          </a:xfrm>
          <a:custGeom>
            <a:avLst/>
            <a:gdLst/>
            <a:ahLst/>
            <a:rect l="0" t="0" r="r" b="b"/>
            <a:pathLst>
              <a:path w="11034" h="28">
                <a:moveTo>
                  <a:pt x="0" y="0"/>
                </a:moveTo>
                <a:lnTo>
                  <a:pt x="11034" y="0"/>
                </a:lnTo>
                <a:lnTo>
                  <a:pt x="110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0" name=""/>
          <p:cNvSpPr/>
          <p:nvPr/>
        </p:nvSpPr>
        <p:spPr>
          <a:xfrm>
            <a:off x="4714560" y="295272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1" name=""/>
          <p:cNvSpPr/>
          <p:nvPr/>
        </p:nvSpPr>
        <p:spPr>
          <a:xfrm>
            <a:off x="4724280" y="2943000"/>
            <a:ext cx="2629080" cy="10080"/>
          </a:xfrm>
          <a:custGeom>
            <a:avLst/>
            <a:gdLst/>
            <a:ahLst/>
            <a:rect l="0" t="0" r="r" b="b"/>
            <a:pathLst>
              <a:path w="7303" h="28">
                <a:moveTo>
                  <a:pt x="0" y="0"/>
                </a:moveTo>
                <a:lnTo>
                  <a:pt x="7303" y="0"/>
                </a:lnTo>
                <a:lnTo>
                  <a:pt x="7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2" name=""/>
          <p:cNvSpPr/>
          <p:nvPr/>
        </p:nvSpPr>
        <p:spPr>
          <a:xfrm>
            <a:off x="734364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3" name=""/>
          <p:cNvSpPr/>
          <p:nvPr/>
        </p:nvSpPr>
        <p:spPr>
          <a:xfrm>
            <a:off x="7353000" y="2943000"/>
            <a:ext cx="5096520" cy="10080"/>
          </a:xfrm>
          <a:custGeom>
            <a:avLst/>
            <a:gdLst/>
            <a:ahLst/>
            <a:rect l="0" t="0" r="r" b="b"/>
            <a:pathLst>
              <a:path w="14157" h="28">
                <a:moveTo>
                  <a:pt x="0" y="0"/>
                </a:moveTo>
                <a:lnTo>
                  <a:pt x="14157" y="0"/>
                </a:lnTo>
                <a:lnTo>
                  <a:pt x="1415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4" name=""/>
          <p:cNvSpPr/>
          <p:nvPr/>
        </p:nvSpPr>
        <p:spPr>
          <a:xfrm>
            <a:off x="752400" y="390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5" name=""/>
          <p:cNvSpPr/>
          <p:nvPr/>
        </p:nvSpPr>
        <p:spPr>
          <a:xfrm>
            <a:off x="752400" y="389556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6" name=""/>
          <p:cNvSpPr/>
          <p:nvPr/>
        </p:nvSpPr>
        <p:spPr>
          <a:xfrm>
            <a:off x="4714560" y="39049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7" name=""/>
          <p:cNvSpPr/>
          <p:nvPr/>
        </p:nvSpPr>
        <p:spPr>
          <a:xfrm>
            <a:off x="4724280" y="3895560"/>
            <a:ext cx="2629080" cy="9720"/>
          </a:xfrm>
          <a:custGeom>
            <a:avLst/>
            <a:gdLst/>
            <a:ahLst/>
            <a:rect l="0" t="0" r="r" b="b"/>
            <a:pathLst>
              <a:path w="7303" h="27">
                <a:moveTo>
                  <a:pt x="0" y="0"/>
                </a:moveTo>
                <a:lnTo>
                  <a:pt x="7303" y="0"/>
                </a:lnTo>
                <a:lnTo>
                  <a:pt x="7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8" name=""/>
          <p:cNvSpPr/>
          <p:nvPr/>
        </p:nvSpPr>
        <p:spPr>
          <a:xfrm>
            <a:off x="7343640" y="390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59" name=""/>
          <p:cNvSpPr/>
          <p:nvPr/>
        </p:nvSpPr>
        <p:spPr>
          <a:xfrm>
            <a:off x="7353000" y="3895560"/>
            <a:ext cx="5096520" cy="9720"/>
          </a:xfrm>
          <a:custGeom>
            <a:avLst/>
            <a:gdLst/>
            <a:ahLst/>
            <a:rect l="0" t="0" r="r" b="b"/>
            <a:pathLst>
              <a:path w="14157" h="27">
                <a:moveTo>
                  <a:pt x="0" y="0"/>
                </a:moveTo>
                <a:lnTo>
                  <a:pt x="14157" y="0"/>
                </a:lnTo>
                <a:lnTo>
                  <a:pt x="141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0" name=""/>
          <p:cNvSpPr/>
          <p:nvPr/>
        </p:nvSpPr>
        <p:spPr>
          <a:xfrm>
            <a:off x="752400" y="4857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1" name=""/>
          <p:cNvSpPr/>
          <p:nvPr/>
        </p:nvSpPr>
        <p:spPr>
          <a:xfrm>
            <a:off x="752400" y="484812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2" name=""/>
          <p:cNvSpPr/>
          <p:nvPr/>
        </p:nvSpPr>
        <p:spPr>
          <a:xfrm>
            <a:off x="4714560" y="485748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3" name=""/>
          <p:cNvSpPr/>
          <p:nvPr/>
        </p:nvSpPr>
        <p:spPr>
          <a:xfrm>
            <a:off x="4724280" y="4848120"/>
            <a:ext cx="2629080" cy="9720"/>
          </a:xfrm>
          <a:custGeom>
            <a:avLst/>
            <a:gdLst/>
            <a:ahLst/>
            <a:rect l="0" t="0" r="r" b="b"/>
            <a:pathLst>
              <a:path w="7303" h="27">
                <a:moveTo>
                  <a:pt x="0" y="0"/>
                </a:moveTo>
                <a:lnTo>
                  <a:pt x="7303" y="0"/>
                </a:lnTo>
                <a:lnTo>
                  <a:pt x="7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4" name=""/>
          <p:cNvSpPr/>
          <p:nvPr/>
        </p:nvSpPr>
        <p:spPr>
          <a:xfrm>
            <a:off x="7343640" y="4857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5" name=""/>
          <p:cNvSpPr/>
          <p:nvPr/>
        </p:nvSpPr>
        <p:spPr>
          <a:xfrm>
            <a:off x="7353000" y="4848120"/>
            <a:ext cx="5096520" cy="9720"/>
          </a:xfrm>
          <a:custGeom>
            <a:avLst/>
            <a:gdLst/>
            <a:ahLst/>
            <a:rect l="0" t="0" r="r" b="b"/>
            <a:pathLst>
              <a:path w="14157" h="27">
                <a:moveTo>
                  <a:pt x="0" y="0"/>
                </a:moveTo>
                <a:lnTo>
                  <a:pt x="14157" y="0"/>
                </a:lnTo>
                <a:lnTo>
                  <a:pt x="141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6" name=""/>
          <p:cNvSpPr/>
          <p:nvPr/>
        </p:nvSpPr>
        <p:spPr>
          <a:xfrm>
            <a:off x="752400" y="58100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7" name=""/>
          <p:cNvSpPr/>
          <p:nvPr/>
        </p:nvSpPr>
        <p:spPr>
          <a:xfrm>
            <a:off x="752400" y="5800680"/>
            <a:ext cx="3972240" cy="9720"/>
          </a:xfrm>
          <a:custGeom>
            <a:avLst/>
            <a:gdLst/>
            <a:ahLst/>
            <a:rect l="0" t="0" r="r" b="b"/>
            <a:pathLst>
              <a:path w="11034" h="27">
                <a:moveTo>
                  <a:pt x="0" y="0"/>
                </a:moveTo>
                <a:lnTo>
                  <a:pt x="11034" y="0"/>
                </a:lnTo>
                <a:lnTo>
                  <a:pt x="110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8" name=""/>
          <p:cNvSpPr/>
          <p:nvPr/>
        </p:nvSpPr>
        <p:spPr>
          <a:xfrm>
            <a:off x="4714560" y="581004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69" name=""/>
          <p:cNvSpPr/>
          <p:nvPr/>
        </p:nvSpPr>
        <p:spPr>
          <a:xfrm>
            <a:off x="4724280" y="5800680"/>
            <a:ext cx="2629080" cy="9720"/>
          </a:xfrm>
          <a:custGeom>
            <a:avLst/>
            <a:gdLst/>
            <a:ahLst/>
            <a:rect l="0" t="0" r="r" b="b"/>
            <a:pathLst>
              <a:path w="7303" h="27">
                <a:moveTo>
                  <a:pt x="0" y="0"/>
                </a:moveTo>
                <a:lnTo>
                  <a:pt x="7303" y="0"/>
                </a:lnTo>
                <a:lnTo>
                  <a:pt x="7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0" name=""/>
          <p:cNvSpPr/>
          <p:nvPr/>
        </p:nvSpPr>
        <p:spPr>
          <a:xfrm>
            <a:off x="7343640" y="58100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1" name=""/>
          <p:cNvSpPr/>
          <p:nvPr/>
        </p:nvSpPr>
        <p:spPr>
          <a:xfrm>
            <a:off x="7353000" y="5800680"/>
            <a:ext cx="5096520" cy="9720"/>
          </a:xfrm>
          <a:custGeom>
            <a:avLst/>
            <a:gdLst/>
            <a:ahLst/>
            <a:rect l="0" t="0" r="r" b="b"/>
            <a:pathLst>
              <a:path w="14157" h="27">
                <a:moveTo>
                  <a:pt x="0" y="0"/>
                </a:moveTo>
                <a:lnTo>
                  <a:pt x="14157" y="0"/>
                </a:lnTo>
                <a:lnTo>
                  <a:pt x="1415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2" name=""/>
          <p:cNvSpPr/>
          <p:nvPr/>
        </p:nvSpPr>
        <p:spPr>
          <a:xfrm>
            <a:off x="752400" y="67626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3" name=""/>
          <p:cNvSpPr/>
          <p:nvPr/>
        </p:nvSpPr>
        <p:spPr>
          <a:xfrm>
            <a:off x="752400" y="6752880"/>
            <a:ext cx="3972240" cy="10440"/>
          </a:xfrm>
          <a:custGeom>
            <a:avLst/>
            <a:gdLst/>
            <a:ahLst/>
            <a:rect l="0" t="0" r="r" b="b"/>
            <a:pathLst>
              <a:path w="11034" h="29">
                <a:moveTo>
                  <a:pt x="0" y="0"/>
                </a:moveTo>
                <a:lnTo>
                  <a:pt x="11034" y="0"/>
                </a:lnTo>
                <a:lnTo>
                  <a:pt x="11034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4" name=""/>
          <p:cNvSpPr/>
          <p:nvPr/>
        </p:nvSpPr>
        <p:spPr>
          <a:xfrm>
            <a:off x="4714560" y="67626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5" name=""/>
          <p:cNvSpPr/>
          <p:nvPr/>
        </p:nvSpPr>
        <p:spPr>
          <a:xfrm>
            <a:off x="4724280" y="6752880"/>
            <a:ext cx="2629080" cy="10440"/>
          </a:xfrm>
          <a:custGeom>
            <a:avLst/>
            <a:gdLst/>
            <a:ahLst/>
            <a:rect l="0" t="0" r="r" b="b"/>
            <a:pathLst>
              <a:path w="7303" h="29">
                <a:moveTo>
                  <a:pt x="0" y="0"/>
                </a:moveTo>
                <a:lnTo>
                  <a:pt x="7303" y="0"/>
                </a:lnTo>
                <a:lnTo>
                  <a:pt x="730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6" name=""/>
          <p:cNvSpPr/>
          <p:nvPr/>
        </p:nvSpPr>
        <p:spPr>
          <a:xfrm>
            <a:off x="7343640" y="67626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7" name=""/>
          <p:cNvSpPr/>
          <p:nvPr/>
        </p:nvSpPr>
        <p:spPr>
          <a:xfrm>
            <a:off x="7353000" y="6752880"/>
            <a:ext cx="5096520" cy="10440"/>
          </a:xfrm>
          <a:custGeom>
            <a:avLst/>
            <a:gdLst/>
            <a:ahLst/>
            <a:rect l="0" t="0" r="r" b="b"/>
            <a:pathLst>
              <a:path w="14157" h="29">
                <a:moveTo>
                  <a:pt x="0" y="0"/>
                </a:moveTo>
                <a:lnTo>
                  <a:pt x="14157" y="0"/>
                </a:lnTo>
                <a:lnTo>
                  <a:pt x="14157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778" name=""/>
          <p:cNvSpPr txBox="1"/>
          <p:nvPr/>
        </p:nvSpPr>
        <p:spPr>
          <a:xfrm>
            <a:off x="747720" y="770400"/>
            <a:ext cx="84772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Where the drone-only assumption leaks (11 sites)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2313360" y="1569240"/>
            <a:ext cx="844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Where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5721120" y="1569240"/>
            <a:ext cx="6318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Leak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885600" y="2314440"/>
            <a:ext cx="2858040" cy="362160"/>
          </a:xfrm>
          <a:custGeom>
            <a:avLst/>
            <a:gdLst/>
            <a:ahLst/>
            <a:rect l="0" t="0" r="r" b="b"/>
            <a:pathLst>
              <a:path w="7939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780" y="0"/>
                </a:lnTo>
                <a:cubicBezTo>
                  <a:pt x="7790" y="0"/>
                  <a:pt x="7801" y="1"/>
                  <a:pt x="7811" y="3"/>
                </a:cubicBezTo>
                <a:cubicBezTo>
                  <a:pt x="7821" y="5"/>
                  <a:pt x="7831" y="8"/>
                  <a:pt x="7841" y="12"/>
                </a:cubicBezTo>
                <a:cubicBezTo>
                  <a:pt x="7850" y="16"/>
                  <a:pt x="7859" y="21"/>
                  <a:pt x="7868" y="27"/>
                </a:cubicBezTo>
                <a:cubicBezTo>
                  <a:pt x="7877" y="32"/>
                  <a:pt x="7885" y="39"/>
                  <a:pt x="7892" y="46"/>
                </a:cubicBezTo>
                <a:cubicBezTo>
                  <a:pt x="7899" y="54"/>
                  <a:pt x="7906" y="62"/>
                  <a:pt x="7912" y="70"/>
                </a:cubicBezTo>
                <a:cubicBezTo>
                  <a:pt x="7918" y="79"/>
                  <a:pt x="7923" y="88"/>
                  <a:pt x="7927" y="98"/>
                </a:cubicBezTo>
                <a:cubicBezTo>
                  <a:pt x="7931" y="109"/>
                  <a:pt x="7934" y="118"/>
                  <a:pt x="7936" y="129"/>
                </a:cubicBezTo>
                <a:cubicBezTo>
                  <a:pt x="7938" y="139"/>
                  <a:pt x="7939" y="149"/>
                  <a:pt x="7939" y="160"/>
                </a:cubicBezTo>
                <a:lnTo>
                  <a:pt x="7939" y="848"/>
                </a:lnTo>
                <a:cubicBezTo>
                  <a:pt x="7939" y="858"/>
                  <a:pt x="7938" y="868"/>
                  <a:pt x="7936" y="879"/>
                </a:cubicBezTo>
                <a:cubicBezTo>
                  <a:pt x="7934" y="889"/>
                  <a:pt x="7931" y="899"/>
                  <a:pt x="7927" y="908"/>
                </a:cubicBezTo>
                <a:cubicBezTo>
                  <a:pt x="7923" y="918"/>
                  <a:pt x="7918" y="927"/>
                  <a:pt x="7912" y="936"/>
                </a:cubicBezTo>
                <a:cubicBezTo>
                  <a:pt x="7906" y="944"/>
                  <a:pt x="7899" y="952"/>
                  <a:pt x="7892" y="960"/>
                </a:cubicBezTo>
                <a:cubicBezTo>
                  <a:pt x="7885" y="967"/>
                  <a:pt x="7877" y="974"/>
                  <a:pt x="7868" y="980"/>
                </a:cubicBezTo>
                <a:cubicBezTo>
                  <a:pt x="7859" y="985"/>
                  <a:pt x="7850" y="990"/>
                  <a:pt x="7841" y="994"/>
                </a:cubicBezTo>
                <a:cubicBezTo>
                  <a:pt x="7831" y="998"/>
                  <a:pt x="7821" y="1001"/>
                  <a:pt x="7811" y="1003"/>
                </a:cubicBezTo>
                <a:cubicBezTo>
                  <a:pt x="7801" y="1005"/>
                  <a:pt x="7790" y="1006"/>
                  <a:pt x="7780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782" name=""/>
          <p:cNvSpPr txBox="1"/>
          <p:nvPr/>
        </p:nvSpPr>
        <p:spPr>
          <a:xfrm>
            <a:off x="9700200" y="1569240"/>
            <a:ext cx="399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Fix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4848120" y="2114280"/>
            <a:ext cx="1733760" cy="352800"/>
          </a:xfrm>
          <a:custGeom>
            <a:avLst/>
            <a:gdLst/>
            <a:ahLst/>
            <a:rect l="0" t="0" r="r" b="b"/>
            <a:pathLst>
              <a:path w="4816" h="980">
                <a:moveTo>
                  <a:pt x="0" y="821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657" y="0"/>
                </a:lnTo>
                <a:cubicBezTo>
                  <a:pt x="4668" y="0"/>
                  <a:pt x="4678" y="1"/>
                  <a:pt x="4688" y="3"/>
                </a:cubicBezTo>
                <a:cubicBezTo>
                  <a:pt x="4699" y="5"/>
                  <a:pt x="4709" y="8"/>
                  <a:pt x="4718" y="12"/>
                </a:cubicBezTo>
                <a:cubicBezTo>
                  <a:pt x="4728" y="16"/>
                  <a:pt x="4737" y="21"/>
                  <a:pt x="4746" y="27"/>
                </a:cubicBezTo>
                <a:cubicBezTo>
                  <a:pt x="4754" y="33"/>
                  <a:pt x="4762" y="39"/>
                  <a:pt x="4770" y="47"/>
                </a:cubicBezTo>
                <a:cubicBezTo>
                  <a:pt x="4777" y="54"/>
                  <a:pt x="4784" y="62"/>
                  <a:pt x="4789" y="71"/>
                </a:cubicBezTo>
                <a:cubicBezTo>
                  <a:pt x="4795" y="79"/>
                  <a:pt x="4800" y="89"/>
                  <a:pt x="4804" y="98"/>
                </a:cubicBezTo>
                <a:cubicBezTo>
                  <a:pt x="4808" y="108"/>
                  <a:pt x="4811" y="118"/>
                  <a:pt x="4813" y="128"/>
                </a:cubicBezTo>
                <a:cubicBezTo>
                  <a:pt x="4815" y="138"/>
                  <a:pt x="4816" y="149"/>
                  <a:pt x="4816" y="159"/>
                </a:cubicBezTo>
                <a:lnTo>
                  <a:pt x="4816" y="821"/>
                </a:lnTo>
                <a:cubicBezTo>
                  <a:pt x="4816" y="832"/>
                  <a:pt x="4815" y="842"/>
                  <a:pt x="4813" y="852"/>
                </a:cubicBezTo>
                <a:cubicBezTo>
                  <a:pt x="4811" y="863"/>
                  <a:pt x="4808" y="873"/>
                  <a:pt x="4804" y="882"/>
                </a:cubicBezTo>
                <a:cubicBezTo>
                  <a:pt x="4800" y="892"/>
                  <a:pt x="4795" y="901"/>
                  <a:pt x="4789" y="910"/>
                </a:cubicBezTo>
                <a:cubicBezTo>
                  <a:pt x="4784" y="918"/>
                  <a:pt x="4777" y="926"/>
                  <a:pt x="4770" y="934"/>
                </a:cubicBezTo>
                <a:cubicBezTo>
                  <a:pt x="4762" y="941"/>
                  <a:pt x="4754" y="948"/>
                  <a:pt x="4746" y="953"/>
                </a:cubicBezTo>
                <a:cubicBezTo>
                  <a:pt x="4737" y="959"/>
                  <a:pt x="4728" y="964"/>
                  <a:pt x="4718" y="968"/>
                </a:cubicBezTo>
                <a:cubicBezTo>
                  <a:pt x="4709" y="972"/>
                  <a:pt x="4699" y="975"/>
                  <a:pt x="4688" y="977"/>
                </a:cubicBezTo>
                <a:cubicBezTo>
                  <a:pt x="4678" y="979"/>
                  <a:pt x="4668" y="980"/>
                  <a:pt x="4657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8"/>
                  <a:pt x="54" y="941"/>
                  <a:pt x="46" y="934"/>
                </a:cubicBezTo>
                <a:cubicBezTo>
                  <a:pt x="39" y="926"/>
                  <a:pt x="32" y="918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784" name=""/>
          <p:cNvSpPr txBox="1"/>
          <p:nvPr/>
        </p:nvSpPr>
        <p:spPr>
          <a:xfrm>
            <a:off x="974880" y="2365920"/>
            <a:ext cx="2664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drone_follow_app.py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4941000" y="2165760"/>
            <a:ext cx="1542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run_drone()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6584400" y="210276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7476840" y="2314440"/>
            <a:ext cx="1743480" cy="362160"/>
          </a:xfrm>
          <a:custGeom>
            <a:avLst/>
            <a:gdLst/>
            <a:ahLst/>
            <a:rect l="0" t="0" r="r" b="b"/>
            <a:pathLst>
              <a:path w="4843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684" y="0"/>
                </a:lnTo>
                <a:cubicBezTo>
                  <a:pt x="4695" y="0"/>
                  <a:pt x="4705" y="1"/>
                  <a:pt x="4715" y="3"/>
                </a:cubicBezTo>
                <a:cubicBezTo>
                  <a:pt x="4726" y="5"/>
                  <a:pt x="4736" y="8"/>
                  <a:pt x="4745" y="12"/>
                </a:cubicBezTo>
                <a:cubicBezTo>
                  <a:pt x="4755" y="16"/>
                  <a:pt x="4764" y="21"/>
                  <a:pt x="4773" y="27"/>
                </a:cubicBezTo>
                <a:cubicBezTo>
                  <a:pt x="4781" y="32"/>
                  <a:pt x="4789" y="39"/>
                  <a:pt x="4797" y="46"/>
                </a:cubicBezTo>
                <a:cubicBezTo>
                  <a:pt x="4804" y="54"/>
                  <a:pt x="4811" y="62"/>
                  <a:pt x="4816" y="70"/>
                </a:cubicBezTo>
                <a:cubicBezTo>
                  <a:pt x="4822" y="79"/>
                  <a:pt x="4827" y="88"/>
                  <a:pt x="4831" y="98"/>
                </a:cubicBezTo>
                <a:cubicBezTo>
                  <a:pt x="4835" y="109"/>
                  <a:pt x="4838" y="118"/>
                  <a:pt x="4840" y="129"/>
                </a:cubicBezTo>
                <a:cubicBezTo>
                  <a:pt x="4842" y="139"/>
                  <a:pt x="4843" y="149"/>
                  <a:pt x="4843" y="160"/>
                </a:cubicBezTo>
                <a:lnTo>
                  <a:pt x="4843" y="848"/>
                </a:lnTo>
                <a:cubicBezTo>
                  <a:pt x="4843" y="858"/>
                  <a:pt x="4842" y="868"/>
                  <a:pt x="4840" y="879"/>
                </a:cubicBezTo>
                <a:cubicBezTo>
                  <a:pt x="4838" y="889"/>
                  <a:pt x="4835" y="899"/>
                  <a:pt x="4831" y="908"/>
                </a:cubicBezTo>
                <a:cubicBezTo>
                  <a:pt x="4827" y="918"/>
                  <a:pt x="4822" y="927"/>
                  <a:pt x="4816" y="936"/>
                </a:cubicBezTo>
                <a:cubicBezTo>
                  <a:pt x="4811" y="944"/>
                  <a:pt x="4804" y="952"/>
                  <a:pt x="4797" y="960"/>
                </a:cubicBezTo>
                <a:cubicBezTo>
                  <a:pt x="4789" y="967"/>
                  <a:pt x="4781" y="974"/>
                  <a:pt x="4773" y="980"/>
                </a:cubicBezTo>
                <a:cubicBezTo>
                  <a:pt x="4764" y="985"/>
                  <a:pt x="4755" y="990"/>
                  <a:pt x="4745" y="994"/>
                </a:cubicBezTo>
                <a:cubicBezTo>
                  <a:pt x="4736" y="998"/>
                  <a:pt x="4726" y="1001"/>
                  <a:pt x="4715" y="1003"/>
                </a:cubicBezTo>
                <a:cubicBezTo>
                  <a:pt x="4705" y="1005"/>
                  <a:pt x="4695" y="1006"/>
                  <a:pt x="4684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788" name=""/>
          <p:cNvSpPr txBox="1"/>
          <p:nvPr/>
        </p:nvSpPr>
        <p:spPr>
          <a:xfrm>
            <a:off x="4847040" y="2521800"/>
            <a:ext cx="2243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drone args always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7575480" y="2365920"/>
            <a:ext cx="1542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run_robot()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10858320" y="2314440"/>
            <a:ext cx="1181520" cy="362160"/>
          </a:xfrm>
          <a:custGeom>
            <a:avLst/>
            <a:gdLst/>
            <a:ahLst/>
            <a:rect l="0" t="0" r="r" b="b"/>
            <a:pathLst>
              <a:path w="3282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23" y="0"/>
                </a:lnTo>
                <a:cubicBezTo>
                  <a:pt x="3134" y="0"/>
                  <a:pt x="3144" y="1"/>
                  <a:pt x="3154" y="3"/>
                </a:cubicBezTo>
                <a:cubicBezTo>
                  <a:pt x="3164" y="5"/>
                  <a:pt x="3174" y="8"/>
                  <a:pt x="3184" y="12"/>
                </a:cubicBezTo>
                <a:cubicBezTo>
                  <a:pt x="3193" y="16"/>
                  <a:pt x="3203" y="21"/>
                  <a:pt x="3211" y="27"/>
                </a:cubicBezTo>
                <a:cubicBezTo>
                  <a:pt x="3220" y="32"/>
                  <a:pt x="3228" y="39"/>
                  <a:pt x="3235" y="46"/>
                </a:cubicBezTo>
                <a:cubicBezTo>
                  <a:pt x="3243" y="54"/>
                  <a:pt x="3249" y="62"/>
                  <a:pt x="3255" y="70"/>
                </a:cubicBezTo>
                <a:cubicBezTo>
                  <a:pt x="3261" y="79"/>
                  <a:pt x="3266" y="88"/>
                  <a:pt x="3270" y="98"/>
                </a:cubicBezTo>
                <a:cubicBezTo>
                  <a:pt x="3274" y="109"/>
                  <a:pt x="3277" y="118"/>
                  <a:pt x="3279" y="129"/>
                </a:cubicBezTo>
                <a:cubicBezTo>
                  <a:pt x="3281" y="139"/>
                  <a:pt x="3282" y="149"/>
                  <a:pt x="3282" y="160"/>
                </a:cubicBezTo>
                <a:lnTo>
                  <a:pt x="3282" y="848"/>
                </a:lnTo>
                <a:cubicBezTo>
                  <a:pt x="3282" y="858"/>
                  <a:pt x="3281" y="868"/>
                  <a:pt x="3279" y="879"/>
                </a:cubicBezTo>
                <a:cubicBezTo>
                  <a:pt x="3277" y="889"/>
                  <a:pt x="3274" y="899"/>
                  <a:pt x="3270" y="908"/>
                </a:cubicBezTo>
                <a:cubicBezTo>
                  <a:pt x="3266" y="918"/>
                  <a:pt x="3261" y="927"/>
                  <a:pt x="3255" y="936"/>
                </a:cubicBezTo>
                <a:cubicBezTo>
                  <a:pt x="3249" y="944"/>
                  <a:pt x="3243" y="952"/>
                  <a:pt x="3235" y="960"/>
                </a:cubicBezTo>
                <a:cubicBezTo>
                  <a:pt x="3228" y="967"/>
                  <a:pt x="3220" y="974"/>
                  <a:pt x="3211" y="980"/>
                </a:cubicBezTo>
                <a:cubicBezTo>
                  <a:pt x="3203" y="985"/>
                  <a:pt x="3193" y="990"/>
                  <a:pt x="3184" y="994"/>
                </a:cubicBezTo>
                <a:cubicBezTo>
                  <a:pt x="3174" y="998"/>
                  <a:pt x="3164" y="1001"/>
                  <a:pt x="3154" y="1003"/>
                </a:cubicBezTo>
                <a:cubicBezTo>
                  <a:pt x="3144" y="1005"/>
                  <a:pt x="3134" y="1006"/>
                  <a:pt x="312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791" name=""/>
          <p:cNvSpPr txBox="1"/>
          <p:nvPr/>
        </p:nvSpPr>
        <p:spPr>
          <a:xfrm>
            <a:off x="9218880" y="2312280"/>
            <a:ext cx="1643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dispatch on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885600" y="3267000"/>
            <a:ext cx="2858040" cy="362160"/>
          </a:xfrm>
          <a:custGeom>
            <a:avLst/>
            <a:gdLst/>
            <a:ahLst/>
            <a:rect l="0" t="0" r="r" b="b"/>
            <a:pathLst>
              <a:path w="7939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780" y="0"/>
                </a:lnTo>
                <a:cubicBezTo>
                  <a:pt x="7790" y="0"/>
                  <a:pt x="7801" y="1"/>
                  <a:pt x="7811" y="3"/>
                </a:cubicBezTo>
                <a:cubicBezTo>
                  <a:pt x="7821" y="5"/>
                  <a:pt x="7831" y="8"/>
                  <a:pt x="7841" y="12"/>
                </a:cubicBezTo>
                <a:cubicBezTo>
                  <a:pt x="7850" y="16"/>
                  <a:pt x="7859" y="21"/>
                  <a:pt x="7868" y="26"/>
                </a:cubicBezTo>
                <a:cubicBezTo>
                  <a:pt x="7877" y="32"/>
                  <a:pt x="7885" y="39"/>
                  <a:pt x="7892" y="46"/>
                </a:cubicBezTo>
                <a:cubicBezTo>
                  <a:pt x="7899" y="54"/>
                  <a:pt x="7906" y="62"/>
                  <a:pt x="7912" y="70"/>
                </a:cubicBezTo>
                <a:cubicBezTo>
                  <a:pt x="7918" y="79"/>
                  <a:pt x="7923" y="88"/>
                  <a:pt x="7927" y="98"/>
                </a:cubicBezTo>
                <a:cubicBezTo>
                  <a:pt x="7931" y="107"/>
                  <a:pt x="7934" y="117"/>
                  <a:pt x="7936" y="127"/>
                </a:cubicBezTo>
                <a:cubicBezTo>
                  <a:pt x="7938" y="138"/>
                  <a:pt x="7939" y="148"/>
                  <a:pt x="7939" y="158"/>
                </a:cubicBezTo>
                <a:lnTo>
                  <a:pt x="7939" y="847"/>
                </a:lnTo>
                <a:cubicBezTo>
                  <a:pt x="7939" y="858"/>
                  <a:pt x="7938" y="868"/>
                  <a:pt x="7936" y="878"/>
                </a:cubicBezTo>
                <a:cubicBezTo>
                  <a:pt x="7934" y="889"/>
                  <a:pt x="7931" y="898"/>
                  <a:pt x="7927" y="908"/>
                </a:cubicBezTo>
                <a:cubicBezTo>
                  <a:pt x="7923" y="918"/>
                  <a:pt x="7918" y="927"/>
                  <a:pt x="7912" y="936"/>
                </a:cubicBezTo>
                <a:cubicBezTo>
                  <a:pt x="7906" y="944"/>
                  <a:pt x="7899" y="952"/>
                  <a:pt x="7892" y="960"/>
                </a:cubicBezTo>
                <a:cubicBezTo>
                  <a:pt x="7885" y="967"/>
                  <a:pt x="7877" y="974"/>
                  <a:pt x="7868" y="979"/>
                </a:cubicBezTo>
                <a:cubicBezTo>
                  <a:pt x="7859" y="985"/>
                  <a:pt x="7850" y="990"/>
                  <a:pt x="7841" y="994"/>
                </a:cubicBezTo>
                <a:cubicBezTo>
                  <a:pt x="7831" y="998"/>
                  <a:pt x="7821" y="1001"/>
                  <a:pt x="7811" y="1003"/>
                </a:cubicBezTo>
                <a:cubicBezTo>
                  <a:pt x="7801" y="1005"/>
                  <a:pt x="7790" y="1006"/>
                  <a:pt x="7780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793" name=""/>
          <p:cNvSpPr txBox="1"/>
          <p:nvPr/>
        </p:nvSpPr>
        <p:spPr>
          <a:xfrm>
            <a:off x="10955880" y="2365920"/>
            <a:ext cx="561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--ro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4848120" y="3066840"/>
            <a:ext cx="2295720" cy="352800"/>
          </a:xfrm>
          <a:custGeom>
            <a:avLst/>
            <a:gdLst/>
            <a:ahLst/>
            <a:rect l="0" t="0" r="r" b="b"/>
            <a:pathLst>
              <a:path w="6377" h="98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218" y="0"/>
                </a:lnTo>
                <a:cubicBezTo>
                  <a:pt x="6229" y="0"/>
                  <a:pt x="6239" y="1"/>
                  <a:pt x="6249" y="3"/>
                </a:cubicBezTo>
                <a:cubicBezTo>
                  <a:pt x="6260" y="5"/>
                  <a:pt x="6270" y="8"/>
                  <a:pt x="6279" y="12"/>
                </a:cubicBezTo>
                <a:cubicBezTo>
                  <a:pt x="6289" y="16"/>
                  <a:pt x="6298" y="21"/>
                  <a:pt x="6307" y="27"/>
                </a:cubicBezTo>
                <a:cubicBezTo>
                  <a:pt x="6315" y="33"/>
                  <a:pt x="6323" y="39"/>
                  <a:pt x="6331" y="47"/>
                </a:cubicBezTo>
                <a:cubicBezTo>
                  <a:pt x="6338" y="54"/>
                  <a:pt x="6345" y="62"/>
                  <a:pt x="6350" y="71"/>
                </a:cubicBezTo>
                <a:cubicBezTo>
                  <a:pt x="6356" y="79"/>
                  <a:pt x="6361" y="88"/>
                  <a:pt x="6365" y="98"/>
                </a:cubicBezTo>
                <a:cubicBezTo>
                  <a:pt x="6369" y="108"/>
                  <a:pt x="6372" y="118"/>
                  <a:pt x="6374" y="128"/>
                </a:cubicBezTo>
                <a:cubicBezTo>
                  <a:pt x="6376" y="138"/>
                  <a:pt x="6377" y="148"/>
                  <a:pt x="6377" y="159"/>
                </a:cubicBezTo>
                <a:lnTo>
                  <a:pt x="6377" y="821"/>
                </a:lnTo>
                <a:cubicBezTo>
                  <a:pt x="6377" y="832"/>
                  <a:pt x="6376" y="842"/>
                  <a:pt x="6374" y="852"/>
                </a:cubicBezTo>
                <a:cubicBezTo>
                  <a:pt x="6372" y="862"/>
                  <a:pt x="6369" y="872"/>
                  <a:pt x="6365" y="882"/>
                </a:cubicBezTo>
                <a:cubicBezTo>
                  <a:pt x="6361" y="892"/>
                  <a:pt x="6356" y="901"/>
                  <a:pt x="6350" y="909"/>
                </a:cubicBezTo>
                <a:cubicBezTo>
                  <a:pt x="6345" y="918"/>
                  <a:pt x="6338" y="926"/>
                  <a:pt x="6331" y="934"/>
                </a:cubicBezTo>
                <a:cubicBezTo>
                  <a:pt x="6323" y="941"/>
                  <a:pt x="6315" y="947"/>
                  <a:pt x="6307" y="953"/>
                </a:cubicBezTo>
                <a:cubicBezTo>
                  <a:pt x="6298" y="959"/>
                  <a:pt x="6289" y="964"/>
                  <a:pt x="6279" y="968"/>
                </a:cubicBezTo>
                <a:cubicBezTo>
                  <a:pt x="6270" y="972"/>
                  <a:pt x="6260" y="975"/>
                  <a:pt x="6249" y="977"/>
                </a:cubicBezTo>
                <a:cubicBezTo>
                  <a:pt x="6239" y="979"/>
                  <a:pt x="6229" y="980"/>
                  <a:pt x="6218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4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795" name=""/>
          <p:cNvSpPr txBox="1"/>
          <p:nvPr/>
        </p:nvSpPr>
        <p:spPr>
          <a:xfrm>
            <a:off x="974880" y="3318480"/>
            <a:ext cx="2664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follow_api/types.py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4941000" y="3118320"/>
            <a:ext cx="2103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VelocityCommand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4848120" y="3476520"/>
            <a:ext cx="1314720" cy="362160"/>
          </a:xfrm>
          <a:custGeom>
            <a:avLst/>
            <a:gdLst/>
            <a:ahLst/>
            <a:rect l="0" t="0" r="r" b="b"/>
            <a:pathLst>
              <a:path w="3652" h="1006">
                <a:moveTo>
                  <a:pt x="0" y="84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4" y="5"/>
                  <a:pt x="3544" y="8"/>
                  <a:pt x="3554" y="12"/>
                </a:cubicBezTo>
                <a:cubicBezTo>
                  <a:pt x="3564" y="16"/>
                  <a:pt x="3573" y="21"/>
                  <a:pt x="3581" y="27"/>
                </a:cubicBezTo>
                <a:cubicBezTo>
                  <a:pt x="3590" y="32"/>
                  <a:pt x="3598" y="39"/>
                  <a:pt x="3606" y="46"/>
                </a:cubicBezTo>
                <a:cubicBezTo>
                  <a:pt x="3613" y="54"/>
                  <a:pt x="3619" y="62"/>
                  <a:pt x="3625" y="70"/>
                </a:cubicBezTo>
                <a:cubicBezTo>
                  <a:pt x="3631" y="79"/>
                  <a:pt x="3636" y="88"/>
                  <a:pt x="3640" y="98"/>
                </a:cubicBezTo>
                <a:cubicBezTo>
                  <a:pt x="3644" y="107"/>
                  <a:pt x="3647" y="117"/>
                  <a:pt x="3649" y="128"/>
                </a:cubicBezTo>
                <a:cubicBezTo>
                  <a:pt x="3651" y="138"/>
                  <a:pt x="3652" y="148"/>
                  <a:pt x="3652" y="159"/>
                </a:cubicBezTo>
                <a:lnTo>
                  <a:pt x="3652" y="846"/>
                </a:lnTo>
                <a:cubicBezTo>
                  <a:pt x="3652" y="857"/>
                  <a:pt x="3651" y="867"/>
                  <a:pt x="3649" y="877"/>
                </a:cubicBezTo>
                <a:cubicBezTo>
                  <a:pt x="3647" y="888"/>
                  <a:pt x="3644" y="899"/>
                  <a:pt x="3640" y="908"/>
                </a:cubicBezTo>
                <a:cubicBezTo>
                  <a:pt x="3636" y="918"/>
                  <a:pt x="3631" y="927"/>
                  <a:pt x="3625" y="936"/>
                </a:cubicBezTo>
                <a:cubicBezTo>
                  <a:pt x="3619" y="944"/>
                  <a:pt x="3613" y="952"/>
                  <a:pt x="3606" y="960"/>
                </a:cubicBezTo>
                <a:cubicBezTo>
                  <a:pt x="3598" y="967"/>
                  <a:pt x="3590" y="974"/>
                  <a:pt x="3581" y="979"/>
                </a:cubicBezTo>
                <a:cubicBezTo>
                  <a:pt x="3573" y="985"/>
                  <a:pt x="3564" y="990"/>
                  <a:pt x="3554" y="994"/>
                </a:cubicBezTo>
                <a:cubicBezTo>
                  <a:pt x="3544" y="998"/>
                  <a:pt x="3534" y="1001"/>
                  <a:pt x="3524" y="1003"/>
                </a:cubicBezTo>
                <a:cubicBezTo>
                  <a:pt x="3514" y="1005"/>
                  <a:pt x="3504" y="1006"/>
                  <a:pt x="3493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8"/>
                  <a:pt x="3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798" name=""/>
          <p:cNvSpPr txBox="1"/>
          <p:nvPr/>
        </p:nvSpPr>
        <p:spPr>
          <a:xfrm>
            <a:off x="7147800" y="30553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476840" y="3267000"/>
            <a:ext cx="1886400" cy="362160"/>
          </a:xfrm>
          <a:custGeom>
            <a:avLst/>
            <a:gdLst/>
            <a:ahLst/>
            <a:rect l="0" t="0" r="r" b="b"/>
            <a:pathLst>
              <a:path w="5240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81" y="0"/>
                </a:lnTo>
                <a:cubicBezTo>
                  <a:pt x="5092" y="0"/>
                  <a:pt x="5102" y="1"/>
                  <a:pt x="5112" y="3"/>
                </a:cubicBezTo>
                <a:cubicBezTo>
                  <a:pt x="5122" y="5"/>
                  <a:pt x="5132" y="8"/>
                  <a:pt x="5142" y="12"/>
                </a:cubicBezTo>
                <a:cubicBezTo>
                  <a:pt x="5152" y="16"/>
                  <a:pt x="5161" y="21"/>
                  <a:pt x="5169" y="26"/>
                </a:cubicBezTo>
                <a:cubicBezTo>
                  <a:pt x="5178" y="32"/>
                  <a:pt x="5186" y="39"/>
                  <a:pt x="5194" y="46"/>
                </a:cubicBezTo>
                <a:cubicBezTo>
                  <a:pt x="5201" y="54"/>
                  <a:pt x="5207" y="62"/>
                  <a:pt x="5213" y="70"/>
                </a:cubicBezTo>
                <a:cubicBezTo>
                  <a:pt x="5219" y="79"/>
                  <a:pt x="5224" y="88"/>
                  <a:pt x="5228" y="98"/>
                </a:cubicBezTo>
                <a:cubicBezTo>
                  <a:pt x="5232" y="107"/>
                  <a:pt x="5235" y="117"/>
                  <a:pt x="5237" y="127"/>
                </a:cubicBezTo>
                <a:cubicBezTo>
                  <a:pt x="5239" y="138"/>
                  <a:pt x="5240" y="148"/>
                  <a:pt x="5240" y="158"/>
                </a:cubicBezTo>
                <a:lnTo>
                  <a:pt x="5240" y="847"/>
                </a:lnTo>
                <a:cubicBezTo>
                  <a:pt x="5240" y="858"/>
                  <a:pt x="5239" y="868"/>
                  <a:pt x="5237" y="878"/>
                </a:cubicBezTo>
                <a:cubicBezTo>
                  <a:pt x="5235" y="889"/>
                  <a:pt x="5232" y="898"/>
                  <a:pt x="5228" y="908"/>
                </a:cubicBezTo>
                <a:cubicBezTo>
                  <a:pt x="5224" y="918"/>
                  <a:pt x="5219" y="927"/>
                  <a:pt x="5213" y="936"/>
                </a:cubicBezTo>
                <a:cubicBezTo>
                  <a:pt x="5207" y="944"/>
                  <a:pt x="5201" y="952"/>
                  <a:pt x="5194" y="960"/>
                </a:cubicBezTo>
                <a:cubicBezTo>
                  <a:pt x="5186" y="967"/>
                  <a:pt x="5178" y="974"/>
                  <a:pt x="5169" y="979"/>
                </a:cubicBezTo>
                <a:cubicBezTo>
                  <a:pt x="5161" y="985"/>
                  <a:pt x="5152" y="990"/>
                  <a:pt x="5142" y="994"/>
                </a:cubicBezTo>
                <a:cubicBezTo>
                  <a:pt x="5132" y="998"/>
                  <a:pt x="5122" y="1001"/>
                  <a:pt x="5112" y="1003"/>
                </a:cubicBezTo>
                <a:cubicBezTo>
                  <a:pt x="5102" y="1005"/>
                  <a:pt x="5092" y="1006"/>
                  <a:pt x="5081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00" name=""/>
          <p:cNvSpPr txBox="1"/>
          <p:nvPr/>
        </p:nvSpPr>
        <p:spPr>
          <a:xfrm>
            <a:off x="4941000" y="3528000"/>
            <a:ext cx="11224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down_m_s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7575480" y="3318480"/>
            <a:ext cx="16833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RobotCommand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885600" y="4219560"/>
            <a:ext cx="3562920" cy="362160"/>
          </a:xfrm>
          <a:custGeom>
            <a:avLst/>
            <a:gdLst/>
            <a:ahLst/>
            <a:rect l="0" t="0" r="r" b="b"/>
            <a:pathLst>
              <a:path w="9897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738" y="0"/>
                </a:lnTo>
                <a:cubicBezTo>
                  <a:pt x="9748" y="0"/>
                  <a:pt x="9759" y="1"/>
                  <a:pt x="9769" y="3"/>
                </a:cubicBezTo>
                <a:cubicBezTo>
                  <a:pt x="9779" y="5"/>
                  <a:pt x="9789" y="8"/>
                  <a:pt x="9799" y="12"/>
                </a:cubicBezTo>
                <a:cubicBezTo>
                  <a:pt x="9808" y="16"/>
                  <a:pt x="9817" y="21"/>
                  <a:pt x="9826" y="26"/>
                </a:cubicBezTo>
                <a:cubicBezTo>
                  <a:pt x="9835" y="32"/>
                  <a:pt x="9843" y="39"/>
                  <a:pt x="9850" y="46"/>
                </a:cubicBezTo>
                <a:cubicBezTo>
                  <a:pt x="9857" y="53"/>
                  <a:pt x="9864" y="61"/>
                  <a:pt x="9870" y="70"/>
                </a:cubicBezTo>
                <a:cubicBezTo>
                  <a:pt x="9876" y="79"/>
                  <a:pt x="9880" y="88"/>
                  <a:pt x="9884" y="98"/>
                </a:cubicBezTo>
                <a:cubicBezTo>
                  <a:pt x="9888" y="107"/>
                  <a:pt x="9891" y="117"/>
                  <a:pt x="9893" y="127"/>
                </a:cubicBezTo>
                <a:cubicBezTo>
                  <a:pt x="9896" y="138"/>
                  <a:pt x="9897" y="148"/>
                  <a:pt x="9897" y="158"/>
                </a:cubicBezTo>
                <a:lnTo>
                  <a:pt x="9897" y="847"/>
                </a:lnTo>
                <a:cubicBezTo>
                  <a:pt x="9897" y="858"/>
                  <a:pt x="9896" y="868"/>
                  <a:pt x="9893" y="878"/>
                </a:cubicBezTo>
                <a:cubicBezTo>
                  <a:pt x="9891" y="888"/>
                  <a:pt x="9888" y="898"/>
                  <a:pt x="9884" y="908"/>
                </a:cubicBezTo>
                <a:cubicBezTo>
                  <a:pt x="9880" y="918"/>
                  <a:pt x="9876" y="927"/>
                  <a:pt x="9870" y="935"/>
                </a:cubicBezTo>
                <a:cubicBezTo>
                  <a:pt x="9864" y="944"/>
                  <a:pt x="9857" y="952"/>
                  <a:pt x="9850" y="959"/>
                </a:cubicBezTo>
                <a:cubicBezTo>
                  <a:pt x="9843" y="967"/>
                  <a:pt x="9835" y="973"/>
                  <a:pt x="9826" y="979"/>
                </a:cubicBezTo>
                <a:cubicBezTo>
                  <a:pt x="9817" y="985"/>
                  <a:pt x="9808" y="990"/>
                  <a:pt x="9799" y="994"/>
                </a:cubicBezTo>
                <a:cubicBezTo>
                  <a:pt x="9789" y="998"/>
                  <a:pt x="9779" y="1001"/>
                  <a:pt x="9769" y="1003"/>
                </a:cubicBezTo>
                <a:cubicBezTo>
                  <a:pt x="9759" y="1005"/>
                  <a:pt x="9748" y="1006"/>
                  <a:pt x="9738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3"/>
                  <a:pt x="54" y="967"/>
                  <a:pt x="47" y="959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03" name=""/>
          <p:cNvSpPr txBox="1"/>
          <p:nvPr/>
        </p:nvSpPr>
        <p:spPr>
          <a:xfrm>
            <a:off x="9359640" y="3264840"/>
            <a:ext cx="2086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; altitude optional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974880" y="4271040"/>
            <a:ext cx="3365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follow_api/controller.py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4847040" y="4007520"/>
            <a:ext cx="11512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altitude P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4847040" y="4426920"/>
            <a:ext cx="16297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unconditional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8476920" y="4219560"/>
            <a:ext cx="1877040" cy="362160"/>
          </a:xfrm>
          <a:custGeom>
            <a:avLst/>
            <a:gdLst/>
            <a:ahLst/>
            <a:rect l="0" t="0" r="r" b="b"/>
            <a:pathLst>
              <a:path w="5214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9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54" y="0"/>
                </a:lnTo>
                <a:cubicBezTo>
                  <a:pt x="5064" y="0"/>
                  <a:pt x="5075" y="1"/>
                  <a:pt x="5085" y="3"/>
                </a:cubicBezTo>
                <a:cubicBezTo>
                  <a:pt x="5095" y="5"/>
                  <a:pt x="5105" y="8"/>
                  <a:pt x="5115" y="12"/>
                </a:cubicBezTo>
                <a:cubicBezTo>
                  <a:pt x="5125" y="16"/>
                  <a:pt x="5134" y="21"/>
                  <a:pt x="5143" y="26"/>
                </a:cubicBezTo>
                <a:cubicBezTo>
                  <a:pt x="5152" y="32"/>
                  <a:pt x="5160" y="39"/>
                  <a:pt x="5167" y="46"/>
                </a:cubicBezTo>
                <a:cubicBezTo>
                  <a:pt x="5175" y="53"/>
                  <a:pt x="5181" y="61"/>
                  <a:pt x="5187" y="70"/>
                </a:cubicBezTo>
                <a:cubicBezTo>
                  <a:pt x="5193" y="79"/>
                  <a:pt x="5198" y="88"/>
                  <a:pt x="5202" y="98"/>
                </a:cubicBezTo>
                <a:cubicBezTo>
                  <a:pt x="5206" y="107"/>
                  <a:pt x="5209" y="117"/>
                  <a:pt x="5211" y="127"/>
                </a:cubicBezTo>
                <a:cubicBezTo>
                  <a:pt x="5213" y="138"/>
                  <a:pt x="5214" y="148"/>
                  <a:pt x="5214" y="158"/>
                </a:cubicBezTo>
                <a:lnTo>
                  <a:pt x="5214" y="847"/>
                </a:lnTo>
                <a:cubicBezTo>
                  <a:pt x="5214" y="858"/>
                  <a:pt x="5213" y="868"/>
                  <a:pt x="5211" y="878"/>
                </a:cubicBezTo>
                <a:cubicBezTo>
                  <a:pt x="5209" y="888"/>
                  <a:pt x="5206" y="898"/>
                  <a:pt x="5202" y="908"/>
                </a:cubicBezTo>
                <a:cubicBezTo>
                  <a:pt x="5198" y="918"/>
                  <a:pt x="5193" y="927"/>
                  <a:pt x="5187" y="935"/>
                </a:cubicBezTo>
                <a:cubicBezTo>
                  <a:pt x="5181" y="944"/>
                  <a:pt x="5175" y="952"/>
                  <a:pt x="5167" y="959"/>
                </a:cubicBezTo>
                <a:cubicBezTo>
                  <a:pt x="5160" y="967"/>
                  <a:pt x="5152" y="973"/>
                  <a:pt x="5143" y="979"/>
                </a:cubicBezTo>
                <a:cubicBezTo>
                  <a:pt x="5134" y="985"/>
                  <a:pt x="5125" y="990"/>
                  <a:pt x="5115" y="994"/>
                </a:cubicBezTo>
                <a:cubicBezTo>
                  <a:pt x="5105" y="998"/>
                  <a:pt x="5095" y="1001"/>
                  <a:pt x="5085" y="1003"/>
                </a:cubicBezTo>
                <a:cubicBezTo>
                  <a:pt x="5075" y="1005"/>
                  <a:pt x="5064" y="1006"/>
                  <a:pt x="5054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3"/>
                  <a:pt x="54" y="967"/>
                  <a:pt x="47" y="959"/>
                </a:cubicBezTo>
                <a:cubicBezTo>
                  <a:pt x="40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9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08" name=""/>
          <p:cNvSpPr txBox="1"/>
          <p:nvPr/>
        </p:nvSpPr>
        <p:spPr>
          <a:xfrm>
            <a:off x="7481880" y="4217400"/>
            <a:ext cx="9990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gate on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885600" y="5171760"/>
            <a:ext cx="3562920" cy="362520"/>
          </a:xfrm>
          <a:custGeom>
            <a:avLst/>
            <a:gdLst/>
            <a:ahLst/>
            <a:rect l="0" t="0" r="r" b="b"/>
            <a:pathLst>
              <a:path w="9897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738" y="0"/>
                </a:lnTo>
                <a:cubicBezTo>
                  <a:pt x="9748" y="0"/>
                  <a:pt x="9759" y="1"/>
                  <a:pt x="9769" y="3"/>
                </a:cubicBezTo>
                <a:cubicBezTo>
                  <a:pt x="9779" y="5"/>
                  <a:pt x="9789" y="8"/>
                  <a:pt x="9799" y="12"/>
                </a:cubicBezTo>
                <a:cubicBezTo>
                  <a:pt x="9808" y="16"/>
                  <a:pt x="9817" y="21"/>
                  <a:pt x="9826" y="27"/>
                </a:cubicBezTo>
                <a:cubicBezTo>
                  <a:pt x="9835" y="33"/>
                  <a:pt x="9843" y="39"/>
                  <a:pt x="9850" y="47"/>
                </a:cubicBezTo>
                <a:cubicBezTo>
                  <a:pt x="9857" y="54"/>
                  <a:pt x="9864" y="62"/>
                  <a:pt x="9870" y="71"/>
                </a:cubicBezTo>
                <a:cubicBezTo>
                  <a:pt x="9876" y="80"/>
                  <a:pt x="9880" y="89"/>
                  <a:pt x="9884" y="98"/>
                </a:cubicBezTo>
                <a:cubicBezTo>
                  <a:pt x="9888" y="108"/>
                  <a:pt x="9891" y="118"/>
                  <a:pt x="9893" y="128"/>
                </a:cubicBezTo>
                <a:cubicBezTo>
                  <a:pt x="9896" y="138"/>
                  <a:pt x="9897" y="149"/>
                  <a:pt x="9897" y="159"/>
                </a:cubicBezTo>
                <a:lnTo>
                  <a:pt x="9897" y="848"/>
                </a:lnTo>
                <a:cubicBezTo>
                  <a:pt x="9897" y="858"/>
                  <a:pt x="9896" y="869"/>
                  <a:pt x="9893" y="879"/>
                </a:cubicBezTo>
                <a:cubicBezTo>
                  <a:pt x="9891" y="889"/>
                  <a:pt x="9888" y="899"/>
                  <a:pt x="9884" y="909"/>
                </a:cubicBezTo>
                <a:cubicBezTo>
                  <a:pt x="9880" y="918"/>
                  <a:pt x="9876" y="928"/>
                  <a:pt x="9870" y="936"/>
                </a:cubicBezTo>
                <a:cubicBezTo>
                  <a:pt x="9864" y="945"/>
                  <a:pt x="9857" y="953"/>
                  <a:pt x="9850" y="960"/>
                </a:cubicBezTo>
                <a:cubicBezTo>
                  <a:pt x="9843" y="968"/>
                  <a:pt x="9835" y="974"/>
                  <a:pt x="9826" y="980"/>
                </a:cubicBezTo>
                <a:cubicBezTo>
                  <a:pt x="9817" y="986"/>
                  <a:pt x="9808" y="991"/>
                  <a:pt x="9799" y="995"/>
                </a:cubicBezTo>
                <a:cubicBezTo>
                  <a:pt x="9789" y="999"/>
                  <a:pt x="9779" y="1002"/>
                  <a:pt x="9769" y="1004"/>
                </a:cubicBezTo>
                <a:cubicBezTo>
                  <a:pt x="9759" y="1006"/>
                  <a:pt x="9748" y="1007"/>
                  <a:pt x="9738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10" name=""/>
          <p:cNvSpPr txBox="1"/>
          <p:nvPr/>
        </p:nvSpPr>
        <p:spPr>
          <a:xfrm>
            <a:off x="8574120" y="4271040"/>
            <a:ext cx="16833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has_altitude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974880" y="5223240"/>
            <a:ext cx="3365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follow_api/controller.py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4847040" y="4960080"/>
            <a:ext cx="1789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bottom-edge =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4847040" y="5379120"/>
            <a:ext cx="1806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retreat-from-tilt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885600" y="6124320"/>
            <a:ext cx="3562920" cy="362520"/>
          </a:xfrm>
          <a:custGeom>
            <a:avLst/>
            <a:gdLst/>
            <a:ahLst/>
            <a:rect l="0" t="0" r="r" b="b"/>
            <a:pathLst>
              <a:path w="9897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738" y="0"/>
                </a:lnTo>
                <a:cubicBezTo>
                  <a:pt x="9748" y="0"/>
                  <a:pt x="9759" y="1"/>
                  <a:pt x="9769" y="3"/>
                </a:cubicBezTo>
                <a:cubicBezTo>
                  <a:pt x="9779" y="5"/>
                  <a:pt x="9789" y="8"/>
                  <a:pt x="9799" y="12"/>
                </a:cubicBezTo>
                <a:cubicBezTo>
                  <a:pt x="9808" y="16"/>
                  <a:pt x="9817" y="21"/>
                  <a:pt x="9826" y="27"/>
                </a:cubicBezTo>
                <a:cubicBezTo>
                  <a:pt x="9835" y="33"/>
                  <a:pt x="9843" y="39"/>
                  <a:pt x="9850" y="47"/>
                </a:cubicBezTo>
                <a:cubicBezTo>
                  <a:pt x="9857" y="54"/>
                  <a:pt x="9864" y="62"/>
                  <a:pt x="9870" y="71"/>
                </a:cubicBezTo>
                <a:cubicBezTo>
                  <a:pt x="9876" y="79"/>
                  <a:pt x="9880" y="89"/>
                  <a:pt x="9884" y="98"/>
                </a:cubicBezTo>
                <a:cubicBezTo>
                  <a:pt x="9888" y="108"/>
                  <a:pt x="9891" y="118"/>
                  <a:pt x="9893" y="128"/>
                </a:cubicBezTo>
                <a:cubicBezTo>
                  <a:pt x="9896" y="138"/>
                  <a:pt x="9897" y="149"/>
                  <a:pt x="9897" y="159"/>
                </a:cubicBezTo>
                <a:lnTo>
                  <a:pt x="9897" y="848"/>
                </a:lnTo>
                <a:cubicBezTo>
                  <a:pt x="9897" y="858"/>
                  <a:pt x="9896" y="869"/>
                  <a:pt x="9893" y="879"/>
                </a:cubicBezTo>
                <a:cubicBezTo>
                  <a:pt x="9891" y="889"/>
                  <a:pt x="9888" y="899"/>
                  <a:pt x="9884" y="909"/>
                </a:cubicBezTo>
                <a:cubicBezTo>
                  <a:pt x="9880" y="918"/>
                  <a:pt x="9876" y="927"/>
                  <a:pt x="9870" y="936"/>
                </a:cubicBezTo>
                <a:cubicBezTo>
                  <a:pt x="9864" y="945"/>
                  <a:pt x="9857" y="953"/>
                  <a:pt x="9850" y="960"/>
                </a:cubicBezTo>
                <a:cubicBezTo>
                  <a:pt x="9843" y="967"/>
                  <a:pt x="9835" y="974"/>
                  <a:pt x="9826" y="980"/>
                </a:cubicBezTo>
                <a:cubicBezTo>
                  <a:pt x="9817" y="986"/>
                  <a:pt x="9808" y="991"/>
                  <a:pt x="9799" y="995"/>
                </a:cubicBezTo>
                <a:cubicBezTo>
                  <a:pt x="9789" y="999"/>
                  <a:pt x="9779" y="1002"/>
                  <a:pt x="9769" y="1004"/>
                </a:cubicBezTo>
                <a:cubicBezTo>
                  <a:pt x="9759" y="1006"/>
                  <a:pt x="9748" y="1007"/>
                  <a:pt x="9738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15" name=""/>
          <p:cNvSpPr txBox="1"/>
          <p:nvPr/>
        </p:nvSpPr>
        <p:spPr>
          <a:xfrm>
            <a:off x="7481880" y="5169600"/>
            <a:ext cx="40302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capability-gate, rover = slow/stop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974880" y="6175800"/>
            <a:ext cx="3365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follow_api/controller.py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4847040" y="5912640"/>
            <a:ext cx="2044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yaw-spin on loss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4847040" y="6331680"/>
            <a:ext cx="21373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assumed allowed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7481880" y="6122160"/>
            <a:ext cx="16740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capability flag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20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8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8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824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825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826" name=""/>
          <p:cNvSpPr txBox="1"/>
          <p:nvPr/>
        </p:nvSpPr>
        <p:spPr>
          <a:xfrm>
            <a:off x="747720" y="770400"/>
            <a:ext cx="227772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The 6 phases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914400" y="1622520"/>
            <a:ext cx="54320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Phase 1 ── Rename                Phase 2 ── Cleanup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914400" y="1814040"/>
            <a:ext cx="67399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drone_follow → robot_follow      Dead code, dups, hot-path races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914400" y="2012040"/>
            <a:ext cx="50299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(mechanical)                     (CLEAN-01..18)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914400" y="2203560"/>
            <a:ext cx="44265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│                    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914400" y="2395080"/>
            <a:ext cx="44265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└─────────────►◄───────────────────┘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914400" y="2593440"/>
            <a:ext cx="24148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914400" y="2784600"/>
            <a:ext cx="24148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914400" y="2976120"/>
            <a:ext cx="48286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╔═══════════════════════════════════════════╗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914400" y="3174480"/>
            <a:ext cx="48286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║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Phase 3 ── Robot protocol + Capabilities ║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914400" y="3366000"/>
            <a:ext cx="48286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║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MavsdkDroneAdapter; --robot flag         ║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914400" y="3557160"/>
            <a:ext cx="48286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║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CRITICAL GATE                            ║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914400" y="3755520"/>
            <a:ext cx="48286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║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drone SITL must pass end-to-end here     ║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914400" y="3947040"/>
            <a:ext cx="48286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╚════════════════════╤══════════════════════╝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914400" y="4138560"/>
            <a:ext cx="25153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914400" y="4336560"/>
            <a:ext cx="3722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┌───────────┴───────────┐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914400" y="4528080"/>
            <a:ext cx="3722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▼         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914400" y="4726440"/>
            <a:ext cx="49291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Phase 4 ── Rover adapter  Phase 5 ── Rover sim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914400" y="4917600"/>
            <a:ext cx="48286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rclpy + Twist + cmd_vel   Gazebo Garden SDF +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914400" y="5109120"/>
            <a:ext cx="45270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SIGINT-safe thread        cmd_vel bridge +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914400" y="5307480"/>
            <a:ext cx="50299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            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video_bridge.py reuse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914400" y="5499000"/>
            <a:ext cx="3722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│         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914400" y="5690160"/>
            <a:ext cx="3722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└───────────┬───────────┘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914400" y="5888520"/>
            <a:ext cx="25153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914400" y="6080040"/>
            <a:ext cx="29174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Phase 6 ── Sim integration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914400" y="6271560"/>
            <a:ext cx="46274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rover-safe defaults, bottom-edge repurpose,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914400" y="6469560"/>
            <a:ext cx="38228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ByteTracker config, end-to-end test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21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8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8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857" name=""/>
          <p:cNvSpPr/>
          <p:nvPr/>
        </p:nvSpPr>
        <p:spPr>
          <a:xfrm>
            <a:off x="757080" y="2852640"/>
            <a:ext cx="10687320" cy="3200760"/>
          </a:xfrm>
          <a:custGeom>
            <a:avLst/>
            <a:gdLst/>
            <a:ahLst/>
            <a:rect l="0" t="0" r="r" b="b"/>
            <a:pathLst>
              <a:path w="29687" h="8891">
                <a:moveTo>
                  <a:pt x="0" y="8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745"/>
                </a:lnTo>
                <a:cubicBezTo>
                  <a:pt x="29687" y="8755"/>
                  <a:pt x="29686" y="8764"/>
                  <a:pt x="29684" y="8774"/>
                </a:cubicBezTo>
                <a:cubicBezTo>
                  <a:pt x="29683" y="8783"/>
                  <a:pt x="29680" y="8792"/>
                  <a:pt x="29676" y="8801"/>
                </a:cubicBezTo>
                <a:cubicBezTo>
                  <a:pt x="29672" y="8810"/>
                  <a:pt x="29668" y="8818"/>
                  <a:pt x="29663" y="8826"/>
                </a:cubicBezTo>
                <a:cubicBezTo>
                  <a:pt x="29657" y="8834"/>
                  <a:pt x="29651" y="8841"/>
                  <a:pt x="29645" y="8848"/>
                </a:cubicBezTo>
                <a:cubicBezTo>
                  <a:pt x="29638" y="8855"/>
                  <a:pt x="29630" y="8861"/>
                  <a:pt x="29623" y="8866"/>
                </a:cubicBezTo>
                <a:cubicBezTo>
                  <a:pt x="29615" y="8872"/>
                  <a:pt x="29606" y="8876"/>
                  <a:pt x="29597" y="8880"/>
                </a:cubicBezTo>
                <a:cubicBezTo>
                  <a:pt x="29589" y="8883"/>
                  <a:pt x="29579" y="8886"/>
                  <a:pt x="29570" y="8888"/>
                </a:cubicBezTo>
                <a:cubicBezTo>
                  <a:pt x="29561" y="8890"/>
                  <a:pt x="29551" y="8891"/>
                  <a:pt x="29542" y="8891"/>
                </a:cubicBezTo>
                <a:lnTo>
                  <a:pt x="145" y="8891"/>
                </a:lnTo>
                <a:cubicBezTo>
                  <a:pt x="136" y="8891"/>
                  <a:pt x="126" y="8890"/>
                  <a:pt x="117" y="8888"/>
                </a:cubicBezTo>
                <a:cubicBezTo>
                  <a:pt x="108" y="8886"/>
                  <a:pt x="99" y="8883"/>
                  <a:pt x="90" y="8880"/>
                </a:cubicBezTo>
                <a:cubicBezTo>
                  <a:pt x="81" y="8876"/>
                  <a:pt x="73" y="8872"/>
                  <a:pt x="65" y="8866"/>
                </a:cubicBezTo>
                <a:cubicBezTo>
                  <a:pt x="57" y="8861"/>
                  <a:pt x="49" y="8855"/>
                  <a:pt x="43" y="8848"/>
                </a:cubicBezTo>
                <a:cubicBezTo>
                  <a:pt x="36" y="8841"/>
                  <a:pt x="30" y="8834"/>
                  <a:pt x="24" y="8826"/>
                </a:cubicBezTo>
                <a:cubicBezTo>
                  <a:pt x="19" y="8818"/>
                  <a:pt x="15" y="8810"/>
                  <a:pt x="11" y="8801"/>
                </a:cubicBezTo>
                <a:cubicBezTo>
                  <a:pt x="7" y="8792"/>
                  <a:pt x="5" y="8783"/>
                  <a:pt x="3" y="8774"/>
                </a:cubicBezTo>
                <a:cubicBezTo>
                  <a:pt x="1" y="8764"/>
                  <a:pt x="0" y="8755"/>
                  <a:pt x="0" y="8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858" name=""/>
          <p:cNvSpPr/>
          <p:nvPr/>
        </p:nvSpPr>
        <p:spPr>
          <a:xfrm>
            <a:off x="757080" y="2852640"/>
            <a:ext cx="10687320" cy="3200760"/>
          </a:xfrm>
          <a:custGeom>
            <a:avLst/>
            <a:gdLst/>
            <a:ahLst/>
            <a:rect l="0" t="0" r="r" b="b"/>
            <a:pathLst>
              <a:path w="29687" h="8891">
                <a:moveTo>
                  <a:pt x="0" y="874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745"/>
                </a:lnTo>
                <a:cubicBezTo>
                  <a:pt x="29687" y="8755"/>
                  <a:pt x="29686" y="8764"/>
                  <a:pt x="29684" y="8774"/>
                </a:cubicBezTo>
                <a:cubicBezTo>
                  <a:pt x="29683" y="8783"/>
                  <a:pt x="29680" y="8792"/>
                  <a:pt x="29676" y="8801"/>
                </a:cubicBezTo>
                <a:cubicBezTo>
                  <a:pt x="29672" y="8810"/>
                  <a:pt x="29668" y="8818"/>
                  <a:pt x="29663" y="8826"/>
                </a:cubicBezTo>
                <a:cubicBezTo>
                  <a:pt x="29657" y="8834"/>
                  <a:pt x="29651" y="8841"/>
                  <a:pt x="29645" y="8848"/>
                </a:cubicBezTo>
                <a:cubicBezTo>
                  <a:pt x="29638" y="8855"/>
                  <a:pt x="29630" y="8861"/>
                  <a:pt x="29623" y="8866"/>
                </a:cubicBezTo>
                <a:cubicBezTo>
                  <a:pt x="29615" y="8872"/>
                  <a:pt x="29606" y="8876"/>
                  <a:pt x="29597" y="8880"/>
                </a:cubicBezTo>
                <a:cubicBezTo>
                  <a:pt x="29589" y="8883"/>
                  <a:pt x="29579" y="8886"/>
                  <a:pt x="29570" y="8888"/>
                </a:cubicBezTo>
                <a:cubicBezTo>
                  <a:pt x="29561" y="8890"/>
                  <a:pt x="29551" y="8891"/>
                  <a:pt x="29542" y="8891"/>
                </a:cubicBezTo>
                <a:lnTo>
                  <a:pt x="145" y="8891"/>
                </a:lnTo>
                <a:cubicBezTo>
                  <a:pt x="136" y="8891"/>
                  <a:pt x="126" y="8890"/>
                  <a:pt x="117" y="8888"/>
                </a:cubicBezTo>
                <a:cubicBezTo>
                  <a:pt x="108" y="8886"/>
                  <a:pt x="99" y="8883"/>
                  <a:pt x="90" y="8880"/>
                </a:cubicBezTo>
                <a:cubicBezTo>
                  <a:pt x="81" y="8876"/>
                  <a:pt x="73" y="8872"/>
                  <a:pt x="65" y="8866"/>
                </a:cubicBezTo>
                <a:cubicBezTo>
                  <a:pt x="57" y="8861"/>
                  <a:pt x="49" y="8855"/>
                  <a:pt x="43" y="8848"/>
                </a:cubicBezTo>
                <a:cubicBezTo>
                  <a:pt x="36" y="8841"/>
                  <a:pt x="30" y="8834"/>
                  <a:pt x="24" y="8826"/>
                </a:cubicBezTo>
                <a:cubicBezTo>
                  <a:pt x="19" y="8818"/>
                  <a:pt x="15" y="8810"/>
                  <a:pt x="11" y="8801"/>
                </a:cubicBezTo>
                <a:cubicBezTo>
                  <a:pt x="7" y="8792"/>
                  <a:pt x="5" y="8783"/>
                  <a:pt x="3" y="8774"/>
                </a:cubicBezTo>
                <a:cubicBezTo>
                  <a:pt x="1" y="8764"/>
                  <a:pt x="0" y="8755"/>
                  <a:pt x="0" y="8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859" name=""/>
          <p:cNvSpPr txBox="1"/>
          <p:nvPr/>
        </p:nvSpPr>
        <p:spPr>
          <a:xfrm>
            <a:off x="747720" y="770400"/>
            <a:ext cx="331704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1 — Rename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1533240" y="1504800"/>
            <a:ext cx="3143880" cy="362160"/>
          </a:xfrm>
          <a:custGeom>
            <a:avLst/>
            <a:gdLst/>
            <a:ahLst/>
            <a:rect l="0" t="0" r="r" b="b"/>
            <a:pathLst>
              <a:path w="8733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8574" y="0"/>
                </a:lnTo>
                <a:cubicBezTo>
                  <a:pt x="8584" y="0"/>
                  <a:pt x="8595" y="1"/>
                  <a:pt x="8605" y="3"/>
                </a:cubicBezTo>
                <a:cubicBezTo>
                  <a:pt x="8615" y="5"/>
                  <a:pt x="8625" y="8"/>
                  <a:pt x="8635" y="12"/>
                </a:cubicBezTo>
                <a:cubicBezTo>
                  <a:pt x="8644" y="16"/>
                  <a:pt x="8653" y="21"/>
                  <a:pt x="8662" y="27"/>
                </a:cubicBezTo>
                <a:cubicBezTo>
                  <a:pt x="8671" y="32"/>
                  <a:pt x="8679" y="39"/>
                  <a:pt x="8686" y="46"/>
                </a:cubicBezTo>
                <a:cubicBezTo>
                  <a:pt x="8693" y="54"/>
                  <a:pt x="8700" y="62"/>
                  <a:pt x="8706" y="70"/>
                </a:cubicBezTo>
                <a:cubicBezTo>
                  <a:pt x="8712" y="79"/>
                  <a:pt x="8716" y="88"/>
                  <a:pt x="8720" y="98"/>
                </a:cubicBezTo>
                <a:cubicBezTo>
                  <a:pt x="8724" y="108"/>
                  <a:pt x="8727" y="117"/>
                  <a:pt x="8729" y="128"/>
                </a:cubicBezTo>
                <a:cubicBezTo>
                  <a:pt x="8732" y="138"/>
                  <a:pt x="8733" y="148"/>
                  <a:pt x="8733" y="159"/>
                </a:cubicBezTo>
                <a:lnTo>
                  <a:pt x="8733" y="848"/>
                </a:lnTo>
                <a:cubicBezTo>
                  <a:pt x="8733" y="858"/>
                  <a:pt x="8732" y="868"/>
                  <a:pt x="8729" y="879"/>
                </a:cubicBezTo>
                <a:cubicBezTo>
                  <a:pt x="8727" y="889"/>
                  <a:pt x="8724" y="899"/>
                  <a:pt x="8720" y="908"/>
                </a:cubicBezTo>
                <a:cubicBezTo>
                  <a:pt x="8716" y="918"/>
                  <a:pt x="8712" y="927"/>
                  <a:pt x="8706" y="936"/>
                </a:cubicBezTo>
                <a:cubicBezTo>
                  <a:pt x="8700" y="944"/>
                  <a:pt x="8693" y="952"/>
                  <a:pt x="8686" y="960"/>
                </a:cubicBezTo>
                <a:cubicBezTo>
                  <a:pt x="8679" y="967"/>
                  <a:pt x="8671" y="974"/>
                  <a:pt x="8662" y="980"/>
                </a:cubicBezTo>
                <a:cubicBezTo>
                  <a:pt x="8653" y="985"/>
                  <a:pt x="8644" y="990"/>
                  <a:pt x="8635" y="994"/>
                </a:cubicBezTo>
                <a:cubicBezTo>
                  <a:pt x="8625" y="998"/>
                  <a:pt x="8615" y="1001"/>
                  <a:pt x="8605" y="1003"/>
                </a:cubicBezTo>
                <a:cubicBezTo>
                  <a:pt x="8595" y="1005"/>
                  <a:pt x="8584" y="1006"/>
                  <a:pt x="8574" y="1006"/>
                </a:cubicBezTo>
                <a:lnTo>
                  <a:pt x="160" y="1006"/>
                </a:lnTo>
                <a:cubicBezTo>
                  <a:pt x="150" y="1006"/>
                  <a:pt x="139" y="1005"/>
                  <a:pt x="129" y="1003"/>
                </a:cubicBezTo>
                <a:cubicBezTo>
                  <a:pt x="119" y="1001"/>
                  <a:pt x="109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61" name=""/>
          <p:cNvSpPr txBox="1"/>
          <p:nvPr/>
        </p:nvSpPr>
        <p:spPr>
          <a:xfrm>
            <a:off x="747720" y="1502640"/>
            <a:ext cx="7826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Goal: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624320" y="1556280"/>
            <a:ext cx="2945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pip show robot_follow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5628960" y="1504800"/>
            <a:ext cx="3143880" cy="362160"/>
          </a:xfrm>
          <a:custGeom>
            <a:avLst/>
            <a:gdLst/>
            <a:ahLst/>
            <a:rect l="0" t="0" r="r" b="b"/>
            <a:pathLst>
              <a:path w="8733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574" y="0"/>
                </a:lnTo>
                <a:cubicBezTo>
                  <a:pt x="8584" y="0"/>
                  <a:pt x="8595" y="1"/>
                  <a:pt x="8605" y="3"/>
                </a:cubicBezTo>
                <a:cubicBezTo>
                  <a:pt x="8615" y="5"/>
                  <a:pt x="8625" y="8"/>
                  <a:pt x="8635" y="12"/>
                </a:cubicBezTo>
                <a:cubicBezTo>
                  <a:pt x="8644" y="16"/>
                  <a:pt x="8653" y="21"/>
                  <a:pt x="8662" y="27"/>
                </a:cubicBezTo>
                <a:cubicBezTo>
                  <a:pt x="8671" y="32"/>
                  <a:pt x="8679" y="39"/>
                  <a:pt x="8686" y="46"/>
                </a:cubicBezTo>
                <a:cubicBezTo>
                  <a:pt x="8693" y="54"/>
                  <a:pt x="8700" y="62"/>
                  <a:pt x="8706" y="70"/>
                </a:cubicBezTo>
                <a:cubicBezTo>
                  <a:pt x="8712" y="79"/>
                  <a:pt x="8717" y="88"/>
                  <a:pt x="8721" y="98"/>
                </a:cubicBezTo>
                <a:cubicBezTo>
                  <a:pt x="8725" y="108"/>
                  <a:pt x="8728" y="117"/>
                  <a:pt x="8730" y="128"/>
                </a:cubicBezTo>
                <a:cubicBezTo>
                  <a:pt x="8732" y="138"/>
                  <a:pt x="8733" y="148"/>
                  <a:pt x="8733" y="159"/>
                </a:cubicBezTo>
                <a:lnTo>
                  <a:pt x="8733" y="848"/>
                </a:lnTo>
                <a:cubicBezTo>
                  <a:pt x="8733" y="858"/>
                  <a:pt x="8732" y="868"/>
                  <a:pt x="8730" y="879"/>
                </a:cubicBezTo>
                <a:cubicBezTo>
                  <a:pt x="8728" y="889"/>
                  <a:pt x="8725" y="899"/>
                  <a:pt x="8721" y="908"/>
                </a:cubicBezTo>
                <a:cubicBezTo>
                  <a:pt x="8717" y="918"/>
                  <a:pt x="8712" y="927"/>
                  <a:pt x="8706" y="936"/>
                </a:cubicBezTo>
                <a:cubicBezTo>
                  <a:pt x="8700" y="944"/>
                  <a:pt x="8693" y="952"/>
                  <a:pt x="8686" y="960"/>
                </a:cubicBezTo>
                <a:cubicBezTo>
                  <a:pt x="8679" y="967"/>
                  <a:pt x="8671" y="974"/>
                  <a:pt x="8662" y="980"/>
                </a:cubicBezTo>
                <a:cubicBezTo>
                  <a:pt x="8653" y="985"/>
                  <a:pt x="8644" y="990"/>
                  <a:pt x="8635" y="994"/>
                </a:cubicBezTo>
                <a:cubicBezTo>
                  <a:pt x="8625" y="998"/>
                  <a:pt x="8615" y="1001"/>
                  <a:pt x="8605" y="1003"/>
                </a:cubicBezTo>
                <a:cubicBezTo>
                  <a:pt x="8595" y="1005"/>
                  <a:pt x="8584" y="1006"/>
                  <a:pt x="8574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2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64" name=""/>
          <p:cNvSpPr txBox="1"/>
          <p:nvPr/>
        </p:nvSpPr>
        <p:spPr>
          <a:xfrm>
            <a:off x="4676040" y="1502640"/>
            <a:ext cx="951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works,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5721840" y="1556280"/>
            <a:ext cx="2945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pip show drone_follow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752400" y="1923840"/>
            <a:ext cx="2857680" cy="352800"/>
          </a:xfrm>
          <a:custGeom>
            <a:avLst/>
            <a:gdLst/>
            <a:ahLst/>
            <a:rect l="0" t="0" r="r" b="b"/>
            <a:pathLst>
              <a:path w="7938" h="980">
                <a:moveTo>
                  <a:pt x="0" y="821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7779" y="0"/>
                </a:lnTo>
                <a:cubicBezTo>
                  <a:pt x="7790" y="0"/>
                  <a:pt x="7800" y="1"/>
                  <a:pt x="7810" y="3"/>
                </a:cubicBezTo>
                <a:cubicBezTo>
                  <a:pt x="7821" y="5"/>
                  <a:pt x="7831" y="8"/>
                  <a:pt x="7840" y="12"/>
                </a:cubicBezTo>
                <a:cubicBezTo>
                  <a:pt x="7850" y="16"/>
                  <a:pt x="7859" y="21"/>
                  <a:pt x="7868" y="27"/>
                </a:cubicBezTo>
                <a:cubicBezTo>
                  <a:pt x="7876" y="33"/>
                  <a:pt x="7884" y="40"/>
                  <a:pt x="7892" y="48"/>
                </a:cubicBezTo>
                <a:cubicBezTo>
                  <a:pt x="7899" y="55"/>
                  <a:pt x="7906" y="63"/>
                  <a:pt x="7911" y="72"/>
                </a:cubicBezTo>
                <a:cubicBezTo>
                  <a:pt x="7917" y="80"/>
                  <a:pt x="7922" y="89"/>
                  <a:pt x="7926" y="99"/>
                </a:cubicBezTo>
                <a:cubicBezTo>
                  <a:pt x="7930" y="109"/>
                  <a:pt x="7933" y="119"/>
                  <a:pt x="7935" y="129"/>
                </a:cubicBezTo>
                <a:cubicBezTo>
                  <a:pt x="7937" y="139"/>
                  <a:pt x="7938" y="149"/>
                  <a:pt x="7938" y="160"/>
                </a:cubicBezTo>
                <a:lnTo>
                  <a:pt x="7938" y="821"/>
                </a:lnTo>
                <a:cubicBezTo>
                  <a:pt x="7938" y="832"/>
                  <a:pt x="7937" y="842"/>
                  <a:pt x="7935" y="852"/>
                </a:cubicBezTo>
                <a:cubicBezTo>
                  <a:pt x="7933" y="862"/>
                  <a:pt x="7930" y="872"/>
                  <a:pt x="7926" y="882"/>
                </a:cubicBezTo>
                <a:cubicBezTo>
                  <a:pt x="7922" y="892"/>
                  <a:pt x="7917" y="901"/>
                  <a:pt x="7911" y="909"/>
                </a:cubicBezTo>
                <a:cubicBezTo>
                  <a:pt x="7906" y="918"/>
                  <a:pt x="7899" y="926"/>
                  <a:pt x="7892" y="934"/>
                </a:cubicBezTo>
                <a:cubicBezTo>
                  <a:pt x="7884" y="941"/>
                  <a:pt x="7876" y="947"/>
                  <a:pt x="7868" y="953"/>
                </a:cubicBezTo>
                <a:cubicBezTo>
                  <a:pt x="7859" y="959"/>
                  <a:pt x="7850" y="964"/>
                  <a:pt x="7840" y="968"/>
                </a:cubicBezTo>
                <a:cubicBezTo>
                  <a:pt x="7831" y="972"/>
                  <a:pt x="7821" y="975"/>
                  <a:pt x="7810" y="977"/>
                </a:cubicBezTo>
                <a:cubicBezTo>
                  <a:pt x="7800" y="979"/>
                  <a:pt x="7790" y="980"/>
                  <a:pt x="7779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4"/>
                </a:cubicBezTo>
                <a:cubicBezTo>
                  <a:pt x="39" y="926"/>
                  <a:pt x="32" y="918"/>
                  <a:pt x="26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67" name=""/>
          <p:cNvSpPr txBox="1"/>
          <p:nvPr/>
        </p:nvSpPr>
        <p:spPr>
          <a:xfrm>
            <a:off x="8773560" y="1502640"/>
            <a:ext cx="26402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returns nothing. Both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841680" y="1975320"/>
            <a:ext cx="2664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drone-follow --help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4228920" y="1923840"/>
            <a:ext cx="2857680" cy="352800"/>
          </a:xfrm>
          <a:custGeom>
            <a:avLst/>
            <a:gdLst/>
            <a:ahLst/>
            <a:rect l="0" t="0" r="r" b="b"/>
            <a:pathLst>
              <a:path w="7938" h="980">
                <a:moveTo>
                  <a:pt x="0" y="821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5"/>
                  <a:pt x="46" y="48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60" y="0"/>
                </a:cubicBezTo>
                <a:lnTo>
                  <a:pt x="7780" y="0"/>
                </a:lnTo>
                <a:cubicBezTo>
                  <a:pt x="7790" y="0"/>
                  <a:pt x="7800" y="1"/>
                  <a:pt x="7811" y="3"/>
                </a:cubicBezTo>
                <a:cubicBezTo>
                  <a:pt x="7821" y="5"/>
                  <a:pt x="7831" y="8"/>
                  <a:pt x="7840" y="12"/>
                </a:cubicBezTo>
                <a:cubicBezTo>
                  <a:pt x="7850" y="16"/>
                  <a:pt x="7859" y="21"/>
                  <a:pt x="7868" y="27"/>
                </a:cubicBezTo>
                <a:cubicBezTo>
                  <a:pt x="7877" y="33"/>
                  <a:pt x="7885" y="40"/>
                  <a:pt x="7892" y="48"/>
                </a:cubicBezTo>
                <a:cubicBezTo>
                  <a:pt x="7899" y="55"/>
                  <a:pt x="7906" y="63"/>
                  <a:pt x="7912" y="72"/>
                </a:cubicBezTo>
                <a:cubicBezTo>
                  <a:pt x="7918" y="80"/>
                  <a:pt x="7922" y="89"/>
                  <a:pt x="7926" y="99"/>
                </a:cubicBezTo>
                <a:cubicBezTo>
                  <a:pt x="7930" y="109"/>
                  <a:pt x="7933" y="119"/>
                  <a:pt x="7935" y="129"/>
                </a:cubicBezTo>
                <a:cubicBezTo>
                  <a:pt x="7937" y="139"/>
                  <a:pt x="7938" y="149"/>
                  <a:pt x="7938" y="160"/>
                </a:cubicBezTo>
                <a:lnTo>
                  <a:pt x="7938" y="821"/>
                </a:lnTo>
                <a:cubicBezTo>
                  <a:pt x="7938" y="832"/>
                  <a:pt x="7937" y="842"/>
                  <a:pt x="7935" y="852"/>
                </a:cubicBezTo>
                <a:cubicBezTo>
                  <a:pt x="7933" y="862"/>
                  <a:pt x="7930" y="872"/>
                  <a:pt x="7926" y="882"/>
                </a:cubicBezTo>
                <a:cubicBezTo>
                  <a:pt x="7922" y="892"/>
                  <a:pt x="7918" y="901"/>
                  <a:pt x="7912" y="909"/>
                </a:cubicBezTo>
                <a:cubicBezTo>
                  <a:pt x="7906" y="918"/>
                  <a:pt x="7899" y="926"/>
                  <a:pt x="7892" y="934"/>
                </a:cubicBezTo>
                <a:cubicBezTo>
                  <a:pt x="7885" y="941"/>
                  <a:pt x="7877" y="947"/>
                  <a:pt x="7868" y="953"/>
                </a:cubicBezTo>
                <a:cubicBezTo>
                  <a:pt x="7859" y="959"/>
                  <a:pt x="7850" y="964"/>
                  <a:pt x="7840" y="968"/>
                </a:cubicBezTo>
                <a:cubicBezTo>
                  <a:pt x="7831" y="972"/>
                  <a:pt x="7821" y="975"/>
                  <a:pt x="7811" y="977"/>
                </a:cubicBezTo>
                <a:cubicBezTo>
                  <a:pt x="7800" y="979"/>
                  <a:pt x="7790" y="980"/>
                  <a:pt x="7780" y="980"/>
                </a:cubicBezTo>
                <a:lnTo>
                  <a:pt x="160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8" y="964"/>
                  <a:pt x="79" y="959"/>
                  <a:pt x="71" y="953"/>
                </a:cubicBezTo>
                <a:cubicBezTo>
                  <a:pt x="62" y="947"/>
                  <a:pt x="54" y="941"/>
                  <a:pt x="46" y="934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70" name=""/>
          <p:cNvSpPr txBox="1"/>
          <p:nvPr/>
        </p:nvSpPr>
        <p:spPr>
          <a:xfrm>
            <a:off x="3611520" y="1912320"/>
            <a:ext cx="614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and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4320000" y="1975320"/>
            <a:ext cx="2664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robot-follow --help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7089840" y="1912320"/>
            <a:ext cx="3731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produce identical output. Boot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747720" y="2331360"/>
            <a:ext cx="43012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service unit file unchanged on disk.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914400" y="3013920"/>
            <a:ext cx="812340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git mv drone_follow robot_follow      ◄── single atomic commit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914400" y="3250440"/>
            <a:ext cx="162540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914400" y="3495240"/>
            <a:ext cx="549936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├─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48 internal imports rewritten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914400" y="3731760"/>
            <a:ext cx="724896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├─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drone_follow_app.py  →  robot_follow_app.py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914400" y="3968280"/>
            <a:ext cx="67489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├─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pyproject.toml:   name = "robot-follow"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914400" y="4213080"/>
            <a:ext cx="962316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│                  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scripts: robot-follow + drone-follow (alias)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914400" y="4449600"/>
            <a:ext cx="93733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├─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install.sh:       pip uninstall drone-follow -y  (defensive)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914400" y="4686120"/>
            <a:ext cx="962316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├─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shell scripts:    setup_env.sh / install_air.sh / start_air.sh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914400" y="4931280"/>
            <a:ext cx="899856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├─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docs:             every example rewritten; one alias note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914400" y="5167800"/>
            <a:ext cx="67489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│                  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in README + CLAUDE.md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914400" y="5404320"/>
            <a:ext cx="1037304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└─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git grep gate:    drone_follow|from drone_follow|import drone_follow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914400" y="5649120"/>
            <a:ext cx="87487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                     →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only docs/history whitelist matches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2162160" y="6257880"/>
            <a:ext cx="1590840" cy="362160"/>
          </a:xfrm>
          <a:custGeom>
            <a:avLst/>
            <a:gdLst/>
            <a:ahLst/>
            <a:rect l="0" t="0" r="r" b="b"/>
            <a:pathLst>
              <a:path w="4419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3" y="39"/>
                  <a:pt x="61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260" y="0"/>
                </a:lnTo>
                <a:cubicBezTo>
                  <a:pt x="4271" y="0"/>
                  <a:pt x="4281" y="1"/>
                  <a:pt x="4291" y="3"/>
                </a:cubicBezTo>
                <a:cubicBezTo>
                  <a:pt x="4302" y="5"/>
                  <a:pt x="4311" y="8"/>
                  <a:pt x="4321" y="12"/>
                </a:cubicBezTo>
                <a:cubicBezTo>
                  <a:pt x="4331" y="16"/>
                  <a:pt x="4340" y="21"/>
                  <a:pt x="4349" y="26"/>
                </a:cubicBezTo>
                <a:cubicBezTo>
                  <a:pt x="4357" y="32"/>
                  <a:pt x="4365" y="39"/>
                  <a:pt x="4373" y="46"/>
                </a:cubicBezTo>
                <a:cubicBezTo>
                  <a:pt x="4380" y="53"/>
                  <a:pt x="4387" y="62"/>
                  <a:pt x="4392" y="70"/>
                </a:cubicBezTo>
                <a:cubicBezTo>
                  <a:pt x="4398" y="79"/>
                  <a:pt x="4403" y="88"/>
                  <a:pt x="4407" y="98"/>
                </a:cubicBezTo>
                <a:cubicBezTo>
                  <a:pt x="4411" y="107"/>
                  <a:pt x="4414" y="117"/>
                  <a:pt x="4416" y="127"/>
                </a:cubicBezTo>
                <a:cubicBezTo>
                  <a:pt x="4418" y="138"/>
                  <a:pt x="4419" y="148"/>
                  <a:pt x="4419" y="158"/>
                </a:cubicBezTo>
                <a:lnTo>
                  <a:pt x="4419" y="847"/>
                </a:lnTo>
                <a:cubicBezTo>
                  <a:pt x="4419" y="858"/>
                  <a:pt x="4418" y="868"/>
                  <a:pt x="4416" y="878"/>
                </a:cubicBezTo>
                <a:cubicBezTo>
                  <a:pt x="4414" y="888"/>
                  <a:pt x="4411" y="898"/>
                  <a:pt x="4407" y="908"/>
                </a:cubicBezTo>
                <a:cubicBezTo>
                  <a:pt x="4403" y="918"/>
                  <a:pt x="4398" y="927"/>
                  <a:pt x="4392" y="935"/>
                </a:cubicBezTo>
                <a:cubicBezTo>
                  <a:pt x="4387" y="944"/>
                  <a:pt x="4380" y="952"/>
                  <a:pt x="4373" y="960"/>
                </a:cubicBezTo>
                <a:cubicBezTo>
                  <a:pt x="4365" y="967"/>
                  <a:pt x="4357" y="973"/>
                  <a:pt x="4349" y="979"/>
                </a:cubicBezTo>
                <a:cubicBezTo>
                  <a:pt x="4340" y="985"/>
                  <a:pt x="4331" y="990"/>
                  <a:pt x="4321" y="994"/>
                </a:cubicBezTo>
                <a:cubicBezTo>
                  <a:pt x="4311" y="998"/>
                  <a:pt x="4302" y="1001"/>
                  <a:pt x="4291" y="1003"/>
                </a:cubicBezTo>
                <a:cubicBezTo>
                  <a:pt x="4281" y="1005"/>
                  <a:pt x="4271" y="1006"/>
                  <a:pt x="4260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8"/>
                  <a:pt x="98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1" y="973"/>
                  <a:pt x="53" y="967"/>
                  <a:pt x="46" y="960"/>
                </a:cubicBezTo>
                <a:cubicBezTo>
                  <a:pt x="39" y="952"/>
                  <a:pt x="32" y="944"/>
                  <a:pt x="26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87" name=""/>
          <p:cNvSpPr txBox="1"/>
          <p:nvPr/>
        </p:nvSpPr>
        <p:spPr>
          <a:xfrm>
            <a:off x="747720" y="6255720"/>
            <a:ext cx="1411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Stays put: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2253600" y="6309360"/>
            <a:ext cx="1402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drone_api/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7457760" y="6257880"/>
            <a:ext cx="610200" cy="362160"/>
          </a:xfrm>
          <a:custGeom>
            <a:avLst/>
            <a:gdLst/>
            <a:ahLst/>
            <a:rect l="0" t="0" r="r" b="b"/>
            <a:pathLst>
              <a:path w="1695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536" y="0"/>
                </a:lnTo>
                <a:cubicBezTo>
                  <a:pt x="1546" y="0"/>
                  <a:pt x="1557" y="1"/>
                  <a:pt x="1567" y="3"/>
                </a:cubicBezTo>
                <a:cubicBezTo>
                  <a:pt x="1577" y="5"/>
                  <a:pt x="1587" y="8"/>
                  <a:pt x="1597" y="12"/>
                </a:cubicBezTo>
                <a:cubicBezTo>
                  <a:pt x="1606" y="16"/>
                  <a:pt x="1615" y="21"/>
                  <a:pt x="1624" y="26"/>
                </a:cubicBezTo>
                <a:cubicBezTo>
                  <a:pt x="1633" y="32"/>
                  <a:pt x="1641" y="39"/>
                  <a:pt x="1648" y="46"/>
                </a:cubicBezTo>
                <a:cubicBezTo>
                  <a:pt x="1656" y="53"/>
                  <a:pt x="1662" y="62"/>
                  <a:pt x="1668" y="70"/>
                </a:cubicBezTo>
                <a:cubicBezTo>
                  <a:pt x="1674" y="79"/>
                  <a:pt x="1679" y="88"/>
                  <a:pt x="1683" y="98"/>
                </a:cubicBezTo>
                <a:cubicBezTo>
                  <a:pt x="1687" y="107"/>
                  <a:pt x="1690" y="117"/>
                  <a:pt x="1692" y="127"/>
                </a:cubicBezTo>
                <a:cubicBezTo>
                  <a:pt x="1694" y="138"/>
                  <a:pt x="1695" y="148"/>
                  <a:pt x="1695" y="158"/>
                </a:cubicBezTo>
                <a:lnTo>
                  <a:pt x="1695" y="847"/>
                </a:lnTo>
                <a:cubicBezTo>
                  <a:pt x="1695" y="858"/>
                  <a:pt x="1694" y="868"/>
                  <a:pt x="1692" y="878"/>
                </a:cubicBezTo>
                <a:cubicBezTo>
                  <a:pt x="1690" y="888"/>
                  <a:pt x="1687" y="898"/>
                  <a:pt x="1683" y="908"/>
                </a:cubicBezTo>
                <a:cubicBezTo>
                  <a:pt x="1679" y="918"/>
                  <a:pt x="1674" y="927"/>
                  <a:pt x="1668" y="935"/>
                </a:cubicBezTo>
                <a:cubicBezTo>
                  <a:pt x="1662" y="944"/>
                  <a:pt x="1656" y="952"/>
                  <a:pt x="1648" y="960"/>
                </a:cubicBezTo>
                <a:cubicBezTo>
                  <a:pt x="1641" y="967"/>
                  <a:pt x="1633" y="973"/>
                  <a:pt x="1624" y="979"/>
                </a:cubicBezTo>
                <a:cubicBezTo>
                  <a:pt x="1615" y="985"/>
                  <a:pt x="1606" y="990"/>
                  <a:pt x="1597" y="994"/>
                </a:cubicBezTo>
                <a:cubicBezTo>
                  <a:pt x="1587" y="998"/>
                  <a:pt x="1577" y="1001"/>
                  <a:pt x="1567" y="1003"/>
                </a:cubicBezTo>
                <a:cubicBezTo>
                  <a:pt x="1557" y="1005"/>
                  <a:pt x="1546" y="1006"/>
                  <a:pt x="1536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90" name=""/>
          <p:cNvSpPr txBox="1"/>
          <p:nvPr/>
        </p:nvSpPr>
        <p:spPr>
          <a:xfrm>
            <a:off x="3756240" y="6255720"/>
            <a:ext cx="36997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subdir (renames in Phase 3),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7550280" y="6309360"/>
            <a:ext cx="421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ui/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8219880" y="6257880"/>
            <a:ext cx="1733760" cy="362160"/>
          </a:xfrm>
          <a:custGeom>
            <a:avLst/>
            <a:gdLst/>
            <a:ahLst/>
            <a:rect l="0" t="0" r="r" b="b"/>
            <a:pathLst>
              <a:path w="4816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658" y="0"/>
                </a:lnTo>
                <a:cubicBezTo>
                  <a:pt x="4668" y="0"/>
                  <a:pt x="4678" y="1"/>
                  <a:pt x="4689" y="3"/>
                </a:cubicBezTo>
                <a:cubicBezTo>
                  <a:pt x="4699" y="5"/>
                  <a:pt x="4709" y="8"/>
                  <a:pt x="4718" y="12"/>
                </a:cubicBezTo>
                <a:cubicBezTo>
                  <a:pt x="4728" y="16"/>
                  <a:pt x="4737" y="21"/>
                  <a:pt x="4746" y="26"/>
                </a:cubicBezTo>
                <a:cubicBezTo>
                  <a:pt x="4755" y="32"/>
                  <a:pt x="4763" y="39"/>
                  <a:pt x="4770" y="46"/>
                </a:cubicBezTo>
                <a:cubicBezTo>
                  <a:pt x="4777" y="53"/>
                  <a:pt x="4784" y="62"/>
                  <a:pt x="4790" y="70"/>
                </a:cubicBezTo>
                <a:cubicBezTo>
                  <a:pt x="4795" y="79"/>
                  <a:pt x="4800" y="88"/>
                  <a:pt x="4804" y="98"/>
                </a:cubicBezTo>
                <a:cubicBezTo>
                  <a:pt x="4808" y="107"/>
                  <a:pt x="4811" y="117"/>
                  <a:pt x="4813" y="127"/>
                </a:cubicBezTo>
                <a:cubicBezTo>
                  <a:pt x="4815" y="138"/>
                  <a:pt x="4816" y="148"/>
                  <a:pt x="4816" y="158"/>
                </a:cubicBezTo>
                <a:lnTo>
                  <a:pt x="4816" y="847"/>
                </a:lnTo>
                <a:cubicBezTo>
                  <a:pt x="4816" y="858"/>
                  <a:pt x="4815" y="868"/>
                  <a:pt x="4813" y="878"/>
                </a:cubicBezTo>
                <a:cubicBezTo>
                  <a:pt x="4811" y="888"/>
                  <a:pt x="4808" y="898"/>
                  <a:pt x="4804" y="908"/>
                </a:cubicBezTo>
                <a:cubicBezTo>
                  <a:pt x="4800" y="918"/>
                  <a:pt x="4795" y="927"/>
                  <a:pt x="4790" y="935"/>
                </a:cubicBezTo>
                <a:cubicBezTo>
                  <a:pt x="4784" y="944"/>
                  <a:pt x="4777" y="952"/>
                  <a:pt x="4770" y="960"/>
                </a:cubicBezTo>
                <a:cubicBezTo>
                  <a:pt x="4763" y="967"/>
                  <a:pt x="4755" y="973"/>
                  <a:pt x="4746" y="979"/>
                </a:cubicBezTo>
                <a:cubicBezTo>
                  <a:pt x="4737" y="985"/>
                  <a:pt x="4728" y="990"/>
                  <a:pt x="4718" y="994"/>
                </a:cubicBezTo>
                <a:cubicBezTo>
                  <a:pt x="4709" y="998"/>
                  <a:pt x="4699" y="1001"/>
                  <a:pt x="4689" y="1003"/>
                </a:cubicBezTo>
                <a:cubicBezTo>
                  <a:pt x="4678" y="1005"/>
                  <a:pt x="4668" y="1006"/>
                  <a:pt x="4658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93" name=""/>
          <p:cNvSpPr txBox="1"/>
          <p:nvPr/>
        </p:nvSpPr>
        <p:spPr>
          <a:xfrm>
            <a:off x="8066880" y="62557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8314200" y="6309360"/>
            <a:ext cx="1542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recordings/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9957600" y="6255720"/>
            <a:ext cx="1212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boot unit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1257120" y="6667200"/>
            <a:ext cx="3991320" cy="362520"/>
          </a:xfrm>
          <a:custGeom>
            <a:avLst/>
            <a:gdLst/>
            <a:ahLst/>
            <a:rect l="0" t="0" r="r" b="b"/>
            <a:pathLst>
              <a:path w="11087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928" y="0"/>
                </a:lnTo>
                <a:cubicBezTo>
                  <a:pt x="10939" y="0"/>
                  <a:pt x="10949" y="1"/>
                  <a:pt x="10959" y="3"/>
                </a:cubicBezTo>
                <a:cubicBezTo>
                  <a:pt x="10969" y="5"/>
                  <a:pt x="10979" y="8"/>
                  <a:pt x="10989" y="12"/>
                </a:cubicBezTo>
                <a:cubicBezTo>
                  <a:pt x="10999" y="16"/>
                  <a:pt x="11008" y="21"/>
                  <a:pt x="11016" y="27"/>
                </a:cubicBezTo>
                <a:cubicBezTo>
                  <a:pt x="11025" y="33"/>
                  <a:pt x="11033" y="39"/>
                  <a:pt x="11041" y="47"/>
                </a:cubicBezTo>
                <a:cubicBezTo>
                  <a:pt x="11048" y="54"/>
                  <a:pt x="11054" y="62"/>
                  <a:pt x="11060" y="71"/>
                </a:cubicBezTo>
                <a:cubicBezTo>
                  <a:pt x="11066" y="81"/>
                  <a:pt x="11071" y="90"/>
                  <a:pt x="11075" y="99"/>
                </a:cubicBezTo>
                <a:cubicBezTo>
                  <a:pt x="11079" y="109"/>
                  <a:pt x="11082" y="119"/>
                  <a:pt x="11084" y="129"/>
                </a:cubicBezTo>
                <a:cubicBezTo>
                  <a:pt x="11086" y="139"/>
                  <a:pt x="11087" y="150"/>
                  <a:pt x="11087" y="160"/>
                </a:cubicBezTo>
                <a:lnTo>
                  <a:pt x="11087" y="848"/>
                </a:lnTo>
                <a:cubicBezTo>
                  <a:pt x="11087" y="858"/>
                  <a:pt x="11086" y="869"/>
                  <a:pt x="11084" y="879"/>
                </a:cubicBezTo>
                <a:cubicBezTo>
                  <a:pt x="11082" y="889"/>
                  <a:pt x="11079" y="899"/>
                  <a:pt x="11075" y="909"/>
                </a:cubicBezTo>
                <a:cubicBezTo>
                  <a:pt x="11071" y="918"/>
                  <a:pt x="11066" y="928"/>
                  <a:pt x="11060" y="936"/>
                </a:cubicBezTo>
                <a:cubicBezTo>
                  <a:pt x="11054" y="945"/>
                  <a:pt x="11048" y="953"/>
                  <a:pt x="11041" y="960"/>
                </a:cubicBezTo>
                <a:cubicBezTo>
                  <a:pt x="11033" y="968"/>
                  <a:pt x="11025" y="974"/>
                  <a:pt x="11016" y="980"/>
                </a:cubicBezTo>
                <a:cubicBezTo>
                  <a:pt x="11008" y="986"/>
                  <a:pt x="10999" y="991"/>
                  <a:pt x="10989" y="995"/>
                </a:cubicBezTo>
                <a:cubicBezTo>
                  <a:pt x="10979" y="999"/>
                  <a:pt x="10969" y="1002"/>
                  <a:pt x="10959" y="1004"/>
                </a:cubicBezTo>
                <a:cubicBezTo>
                  <a:pt x="10949" y="1006"/>
                  <a:pt x="10939" y="1007"/>
                  <a:pt x="10928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897" name=""/>
          <p:cNvSpPr txBox="1"/>
          <p:nvPr/>
        </p:nvSpPr>
        <p:spPr>
          <a:xfrm>
            <a:off x="747720" y="6665040"/>
            <a:ext cx="3528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file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1348200" y="6718680"/>
            <a:ext cx="37864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~/Desktop/drone-follow conf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8991360" y="6667200"/>
            <a:ext cx="3143520" cy="362520"/>
          </a:xfrm>
          <a:custGeom>
            <a:avLst/>
            <a:gdLst/>
            <a:ahLst/>
            <a:rect l="0" t="0" r="r" b="b"/>
            <a:pathLst>
              <a:path w="8732" h="1007">
                <a:moveTo>
                  <a:pt x="0" y="848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732" y="0"/>
                </a:lnTo>
                <a:lnTo>
                  <a:pt x="8732" y="1007"/>
                </a:ln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900" name=""/>
          <p:cNvSpPr txBox="1"/>
          <p:nvPr/>
        </p:nvSpPr>
        <p:spPr>
          <a:xfrm>
            <a:off x="5398560" y="6665040"/>
            <a:ext cx="35182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Branch scope: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lives only on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9084960" y="6718680"/>
            <a:ext cx="1963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feature/rover-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22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06" name=""/>
          <p:cNvSpPr/>
          <p:nvPr/>
        </p:nvSpPr>
        <p:spPr>
          <a:xfrm>
            <a:off x="752400" y="1457280"/>
            <a:ext cx="4010400" cy="543240"/>
          </a:xfrm>
          <a:custGeom>
            <a:avLst/>
            <a:gdLst/>
            <a:ahLst/>
            <a:rect l="0" t="0" r="r" b="b"/>
            <a:pathLst>
              <a:path w="11140" h="1509">
                <a:moveTo>
                  <a:pt x="0" y="0"/>
                </a:moveTo>
                <a:lnTo>
                  <a:pt x="11140" y="0"/>
                </a:lnTo>
                <a:lnTo>
                  <a:pt x="1114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07" name=""/>
          <p:cNvSpPr/>
          <p:nvPr/>
        </p:nvSpPr>
        <p:spPr>
          <a:xfrm>
            <a:off x="4762440" y="1457280"/>
            <a:ext cx="3238560" cy="543240"/>
          </a:xfrm>
          <a:custGeom>
            <a:avLst/>
            <a:gdLst/>
            <a:ahLst/>
            <a:rect l="0" t="0" r="r" b="b"/>
            <a:pathLst>
              <a:path w="8996" h="1509">
                <a:moveTo>
                  <a:pt x="0" y="0"/>
                </a:moveTo>
                <a:lnTo>
                  <a:pt x="8996" y="0"/>
                </a:lnTo>
                <a:lnTo>
                  <a:pt x="899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08" name=""/>
          <p:cNvSpPr/>
          <p:nvPr/>
        </p:nvSpPr>
        <p:spPr>
          <a:xfrm>
            <a:off x="8000640" y="1457280"/>
            <a:ext cx="3439080" cy="543240"/>
          </a:xfrm>
          <a:custGeom>
            <a:avLst/>
            <a:gdLst/>
            <a:ahLst/>
            <a:rect l="0" t="0" r="r" b="b"/>
            <a:pathLst>
              <a:path w="9553" h="1509">
                <a:moveTo>
                  <a:pt x="0" y="0"/>
                </a:moveTo>
                <a:lnTo>
                  <a:pt x="9553" y="0"/>
                </a:lnTo>
                <a:lnTo>
                  <a:pt x="955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09" name=""/>
          <p:cNvSpPr/>
          <p:nvPr/>
        </p:nvSpPr>
        <p:spPr>
          <a:xfrm>
            <a:off x="752400" y="2000160"/>
            <a:ext cx="4010400" cy="952920"/>
          </a:xfrm>
          <a:custGeom>
            <a:avLst/>
            <a:gdLst/>
            <a:ahLst/>
            <a:rect l="0" t="0" r="r" b="b"/>
            <a:pathLst>
              <a:path w="11140" h="2647">
                <a:moveTo>
                  <a:pt x="0" y="0"/>
                </a:moveTo>
                <a:lnTo>
                  <a:pt x="11140" y="0"/>
                </a:lnTo>
                <a:lnTo>
                  <a:pt x="1114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10" name=""/>
          <p:cNvSpPr/>
          <p:nvPr/>
        </p:nvSpPr>
        <p:spPr>
          <a:xfrm>
            <a:off x="4762440" y="2000160"/>
            <a:ext cx="3238560" cy="952920"/>
          </a:xfrm>
          <a:custGeom>
            <a:avLst/>
            <a:gdLst/>
            <a:ahLst/>
            <a:rect l="0" t="0" r="r" b="b"/>
            <a:pathLst>
              <a:path w="8996" h="2647">
                <a:moveTo>
                  <a:pt x="0" y="0"/>
                </a:moveTo>
                <a:lnTo>
                  <a:pt x="8996" y="0"/>
                </a:lnTo>
                <a:lnTo>
                  <a:pt x="899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11" name=""/>
          <p:cNvSpPr/>
          <p:nvPr/>
        </p:nvSpPr>
        <p:spPr>
          <a:xfrm>
            <a:off x="8000640" y="2000160"/>
            <a:ext cx="3439080" cy="952920"/>
          </a:xfrm>
          <a:custGeom>
            <a:avLst/>
            <a:gdLst/>
            <a:ahLst/>
            <a:rect l="0" t="0" r="r" b="b"/>
            <a:pathLst>
              <a:path w="9553" h="2647">
                <a:moveTo>
                  <a:pt x="0" y="0"/>
                </a:moveTo>
                <a:lnTo>
                  <a:pt x="9553" y="0"/>
                </a:lnTo>
                <a:lnTo>
                  <a:pt x="955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12" name=""/>
          <p:cNvSpPr/>
          <p:nvPr/>
        </p:nvSpPr>
        <p:spPr>
          <a:xfrm>
            <a:off x="752400" y="2952720"/>
            <a:ext cx="4010400" cy="952560"/>
          </a:xfrm>
          <a:custGeom>
            <a:avLst/>
            <a:gdLst/>
            <a:ahLst/>
            <a:rect l="0" t="0" r="r" b="b"/>
            <a:pathLst>
              <a:path w="11140" h="2646">
                <a:moveTo>
                  <a:pt x="0" y="0"/>
                </a:moveTo>
                <a:lnTo>
                  <a:pt x="11140" y="0"/>
                </a:lnTo>
                <a:lnTo>
                  <a:pt x="11140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13" name=""/>
          <p:cNvSpPr/>
          <p:nvPr/>
        </p:nvSpPr>
        <p:spPr>
          <a:xfrm>
            <a:off x="4762440" y="2952720"/>
            <a:ext cx="3238560" cy="952560"/>
          </a:xfrm>
          <a:custGeom>
            <a:avLst/>
            <a:gdLst/>
            <a:ahLst/>
            <a:rect l="0" t="0" r="r" b="b"/>
            <a:pathLst>
              <a:path w="8996" h="2646">
                <a:moveTo>
                  <a:pt x="0" y="0"/>
                </a:moveTo>
                <a:lnTo>
                  <a:pt x="8996" y="0"/>
                </a:lnTo>
                <a:lnTo>
                  <a:pt x="8996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14" name=""/>
          <p:cNvSpPr/>
          <p:nvPr/>
        </p:nvSpPr>
        <p:spPr>
          <a:xfrm>
            <a:off x="8000640" y="2952720"/>
            <a:ext cx="3439080" cy="952560"/>
          </a:xfrm>
          <a:custGeom>
            <a:avLst/>
            <a:gdLst/>
            <a:ahLst/>
            <a:rect l="0" t="0" r="r" b="b"/>
            <a:pathLst>
              <a:path w="9553" h="2646">
                <a:moveTo>
                  <a:pt x="0" y="0"/>
                </a:moveTo>
                <a:lnTo>
                  <a:pt x="9553" y="0"/>
                </a:lnTo>
                <a:lnTo>
                  <a:pt x="9553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15" name=""/>
          <p:cNvSpPr/>
          <p:nvPr/>
        </p:nvSpPr>
        <p:spPr>
          <a:xfrm>
            <a:off x="752400" y="3904920"/>
            <a:ext cx="4010400" cy="952920"/>
          </a:xfrm>
          <a:custGeom>
            <a:avLst/>
            <a:gdLst/>
            <a:ahLst/>
            <a:rect l="0" t="0" r="r" b="b"/>
            <a:pathLst>
              <a:path w="11140" h="2647">
                <a:moveTo>
                  <a:pt x="0" y="0"/>
                </a:moveTo>
                <a:lnTo>
                  <a:pt x="11140" y="0"/>
                </a:lnTo>
                <a:lnTo>
                  <a:pt x="1114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16" name=""/>
          <p:cNvSpPr/>
          <p:nvPr/>
        </p:nvSpPr>
        <p:spPr>
          <a:xfrm>
            <a:off x="4762440" y="3904920"/>
            <a:ext cx="3238560" cy="952920"/>
          </a:xfrm>
          <a:custGeom>
            <a:avLst/>
            <a:gdLst/>
            <a:ahLst/>
            <a:rect l="0" t="0" r="r" b="b"/>
            <a:pathLst>
              <a:path w="8996" h="2647">
                <a:moveTo>
                  <a:pt x="0" y="0"/>
                </a:moveTo>
                <a:lnTo>
                  <a:pt x="8996" y="0"/>
                </a:lnTo>
                <a:lnTo>
                  <a:pt x="899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17" name=""/>
          <p:cNvSpPr/>
          <p:nvPr/>
        </p:nvSpPr>
        <p:spPr>
          <a:xfrm>
            <a:off x="8000640" y="3904920"/>
            <a:ext cx="3439080" cy="952920"/>
          </a:xfrm>
          <a:custGeom>
            <a:avLst/>
            <a:gdLst/>
            <a:ahLst/>
            <a:rect l="0" t="0" r="r" b="b"/>
            <a:pathLst>
              <a:path w="9553" h="2647">
                <a:moveTo>
                  <a:pt x="0" y="0"/>
                </a:moveTo>
                <a:lnTo>
                  <a:pt x="9553" y="0"/>
                </a:lnTo>
                <a:lnTo>
                  <a:pt x="955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18" name=""/>
          <p:cNvSpPr/>
          <p:nvPr/>
        </p:nvSpPr>
        <p:spPr>
          <a:xfrm>
            <a:off x="752400" y="4857480"/>
            <a:ext cx="4010400" cy="952920"/>
          </a:xfrm>
          <a:custGeom>
            <a:avLst/>
            <a:gdLst/>
            <a:ahLst/>
            <a:rect l="0" t="0" r="r" b="b"/>
            <a:pathLst>
              <a:path w="11140" h="2647">
                <a:moveTo>
                  <a:pt x="0" y="0"/>
                </a:moveTo>
                <a:lnTo>
                  <a:pt x="11140" y="0"/>
                </a:lnTo>
                <a:lnTo>
                  <a:pt x="1114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19" name=""/>
          <p:cNvSpPr/>
          <p:nvPr/>
        </p:nvSpPr>
        <p:spPr>
          <a:xfrm>
            <a:off x="4762440" y="4857480"/>
            <a:ext cx="3238560" cy="952920"/>
          </a:xfrm>
          <a:custGeom>
            <a:avLst/>
            <a:gdLst/>
            <a:ahLst/>
            <a:rect l="0" t="0" r="r" b="b"/>
            <a:pathLst>
              <a:path w="8996" h="2647">
                <a:moveTo>
                  <a:pt x="0" y="0"/>
                </a:moveTo>
                <a:lnTo>
                  <a:pt x="8996" y="0"/>
                </a:lnTo>
                <a:lnTo>
                  <a:pt x="899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20" name=""/>
          <p:cNvSpPr/>
          <p:nvPr/>
        </p:nvSpPr>
        <p:spPr>
          <a:xfrm>
            <a:off x="8000640" y="4857480"/>
            <a:ext cx="3439080" cy="952920"/>
          </a:xfrm>
          <a:custGeom>
            <a:avLst/>
            <a:gdLst/>
            <a:ahLst/>
            <a:rect l="0" t="0" r="r" b="b"/>
            <a:pathLst>
              <a:path w="9553" h="2647">
                <a:moveTo>
                  <a:pt x="0" y="0"/>
                </a:moveTo>
                <a:lnTo>
                  <a:pt x="9553" y="0"/>
                </a:lnTo>
                <a:lnTo>
                  <a:pt x="955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21" name=""/>
          <p:cNvSpPr/>
          <p:nvPr/>
        </p:nvSpPr>
        <p:spPr>
          <a:xfrm>
            <a:off x="752400" y="5810040"/>
            <a:ext cx="4010400" cy="952920"/>
          </a:xfrm>
          <a:custGeom>
            <a:avLst/>
            <a:gdLst/>
            <a:ahLst/>
            <a:rect l="0" t="0" r="r" b="b"/>
            <a:pathLst>
              <a:path w="11140" h="2647">
                <a:moveTo>
                  <a:pt x="0" y="0"/>
                </a:moveTo>
                <a:lnTo>
                  <a:pt x="11140" y="0"/>
                </a:lnTo>
                <a:lnTo>
                  <a:pt x="11140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22" name=""/>
          <p:cNvSpPr/>
          <p:nvPr/>
        </p:nvSpPr>
        <p:spPr>
          <a:xfrm>
            <a:off x="4762440" y="5810040"/>
            <a:ext cx="3238560" cy="952920"/>
          </a:xfrm>
          <a:custGeom>
            <a:avLst/>
            <a:gdLst/>
            <a:ahLst/>
            <a:rect l="0" t="0" r="r" b="b"/>
            <a:pathLst>
              <a:path w="8996" h="2647">
                <a:moveTo>
                  <a:pt x="0" y="0"/>
                </a:moveTo>
                <a:lnTo>
                  <a:pt x="8996" y="0"/>
                </a:lnTo>
                <a:lnTo>
                  <a:pt x="8996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23" name=""/>
          <p:cNvSpPr/>
          <p:nvPr/>
        </p:nvSpPr>
        <p:spPr>
          <a:xfrm>
            <a:off x="8000640" y="5810040"/>
            <a:ext cx="3439080" cy="952920"/>
          </a:xfrm>
          <a:custGeom>
            <a:avLst/>
            <a:gdLst/>
            <a:ahLst/>
            <a:rect l="0" t="0" r="r" b="b"/>
            <a:pathLst>
              <a:path w="9553" h="2647">
                <a:moveTo>
                  <a:pt x="0" y="0"/>
                </a:moveTo>
                <a:lnTo>
                  <a:pt x="9553" y="0"/>
                </a:lnTo>
                <a:lnTo>
                  <a:pt x="955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924" name=""/>
          <p:cNvSpPr/>
          <p:nvPr/>
        </p:nvSpPr>
        <p:spPr>
          <a:xfrm>
            <a:off x="752400" y="6762600"/>
            <a:ext cx="4010400" cy="533880"/>
          </a:xfrm>
          <a:custGeom>
            <a:avLst/>
            <a:gdLst/>
            <a:ahLst/>
            <a:rect l="0" t="0" r="r" b="b"/>
            <a:pathLst>
              <a:path w="11140" h="1483">
                <a:moveTo>
                  <a:pt x="0" y="0"/>
                </a:moveTo>
                <a:lnTo>
                  <a:pt x="11140" y="0"/>
                </a:lnTo>
                <a:lnTo>
                  <a:pt x="1114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25" name=""/>
          <p:cNvSpPr/>
          <p:nvPr/>
        </p:nvSpPr>
        <p:spPr>
          <a:xfrm>
            <a:off x="4762440" y="6762600"/>
            <a:ext cx="3238560" cy="533880"/>
          </a:xfrm>
          <a:custGeom>
            <a:avLst/>
            <a:gdLst/>
            <a:ahLst/>
            <a:rect l="0" t="0" r="r" b="b"/>
            <a:pathLst>
              <a:path w="8996" h="1483">
                <a:moveTo>
                  <a:pt x="0" y="0"/>
                </a:moveTo>
                <a:lnTo>
                  <a:pt x="8996" y="0"/>
                </a:lnTo>
                <a:lnTo>
                  <a:pt x="899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26" name=""/>
          <p:cNvSpPr/>
          <p:nvPr/>
        </p:nvSpPr>
        <p:spPr>
          <a:xfrm>
            <a:off x="8000640" y="6762600"/>
            <a:ext cx="3439080" cy="533880"/>
          </a:xfrm>
          <a:custGeom>
            <a:avLst/>
            <a:gdLst/>
            <a:ahLst/>
            <a:rect l="0" t="0" r="r" b="b"/>
            <a:pathLst>
              <a:path w="9553" h="1483">
                <a:moveTo>
                  <a:pt x="0" y="0"/>
                </a:moveTo>
                <a:lnTo>
                  <a:pt x="9553" y="0"/>
                </a:lnTo>
                <a:lnTo>
                  <a:pt x="955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927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28" name=""/>
          <p:cNvSpPr/>
          <p:nvPr/>
        </p:nvSpPr>
        <p:spPr>
          <a:xfrm>
            <a:off x="752400" y="1457280"/>
            <a:ext cx="4019760" cy="9720"/>
          </a:xfrm>
          <a:custGeom>
            <a:avLst/>
            <a:gdLst/>
            <a:ahLst/>
            <a:rect l="0" t="0" r="r" b="b"/>
            <a:pathLst>
              <a:path w="11166" h="27">
                <a:moveTo>
                  <a:pt x="0" y="0"/>
                </a:moveTo>
                <a:lnTo>
                  <a:pt x="11166" y="0"/>
                </a:lnTo>
                <a:lnTo>
                  <a:pt x="11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29" name=""/>
          <p:cNvSpPr/>
          <p:nvPr/>
        </p:nvSpPr>
        <p:spPr>
          <a:xfrm>
            <a:off x="476244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0" name=""/>
          <p:cNvSpPr/>
          <p:nvPr/>
        </p:nvSpPr>
        <p:spPr>
          <a:xfrm>
            <a:off x="4771800" y="145728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1" name=""/>
          <p:cNvSpPr/>
          <p:nvPr/>
        </p:nvSpPr>
        <p:spPr>
          <a:xfrm>
            <a:off x="799128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2" name=""/>
          <p:cNvSpPr/>
          <p:nvPr/>
        </p:nvSpPr>
        <p:spPr>
          <a:xfrm>
            <a:off x="8000640" y="1457280"/>
            <a:ext cx="3448440" cy="9720"/>
          </a:xfrm>
          <a:custGeom>
            <a:avLst/>
            <a:gdLst/>
            <a:ahLst/>
            <a:rect l="0" t="0" r="r" b="b"/>
            <a:pathLst>
              <a:path w="9579" h="27">
                <a:moveTo>
                  <a:pt x="0" y="0"/>
                </a:moveTo>
                <a:lnTo>
                  <a:pt x="9579" y="0"/>
                </a:lnTo>
                <a:lnTo>
                  <a:pt x="95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3" name=""/>
          <p:cNvSpPr/>
          <p:nvPr/>
        </p:nvSpPr>
        <p:spPr>
          <a:xfrm>
            <a:off x="1143936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4" name=""/>
          <p:cNvSpPr/>
          <p:nvPr/>
        </p:nvSpPr>
        <p:spPr>
          <a:xfrm>
            <a:off x="752400" y="1990440"/>
            <a:ext cx="4019760" cy="10080"/>
          </a:xfrm>
          <a:custGeom>
            <a:avLst/>
            <a:gdLst/>
            <a:ahLst/>
            <a:rect l="0" t="0" r="r" b="b"/>
            <a:pathLst>
              <a:path w="11166" h="28">
                <a:moveTo>
                  <a:pt x="0" y="0"/>
                </a:moveTo>
                <a:lnTo>
                  <a:pt x="11166" y="0"/>
                </a:lnTo>
                <a:lnTo>
                  <a:pt x="111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5" name=""/>
          <p:cNvSpPr/>
          <p:nvPr/>
        </p:nvSpPr>
        <p:spPr>
          <a:xfrm>
            <a:off x="4771800" y="1990440"/>
            <a:ext cx="3229200" cy="10080"/>
          </a:xfrm>
          <a:custGeom>
            <a:avLst/>
            <a:gdLst/>
            <a:ahLst/>
            <a:rect l="0" t="0" r="r" b="b"/>
            <a:pathLst>
              <a:path w="8970" h="28">
                <a:moveTo>
                  <a:pt x="0" y="0"/>
                </a:moveTo>
                <a:lnTo>
                  <a:pt x="8970" y="0"/>
                </a:lnTo>
                <a:lnTo>
                  <a:pt x="8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6" name=""/>
          <p:cNvSpPr/>
          <p:nvPr/>
        </p:nvSpPr>
        <p:spPr>
          <a:xfrm>
            <a:off x="8000640" y="1990440"/>
            <a:ext cx="3448440" cy="10080"/>
          </a:xfrm>
          <a:custGeom>
            <a:avLst/>
            <a:gdLst/>
            <a:ahLst/>
            <a:rect l="0" t="0" r="r" b="b"/>
            <a:pathLst>
              <a:path w="9579" h="28">
                <a:moveTo>
                  <a:pt x="0" y="0"/>
                </a:moveTo>
                <a:lnTo>
                  <a:pt x="9579" y="0"/>
                </a:lnTo>
                <a:lnTo>
                  <a:pt x="95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7" name=""/>
          <p:cNvSpPr/>
          <p:nvPr/>
        </p:nvSpPr>
        <p:spPr>
          <a:xfrm>
            <a:off x="75240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8" name=""/>
          <p:cNvSpPr/>
          <p:nvPr/>
        </p:nvSpPr>
        <p:spPr>
          <a:xfrm>
            <a:off x="476244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39" name=""/>
          <p:cNvSpPr/>
          <p:nvPr/>
        </p:nvSpPr>
        <p:spPr>
          <a:xfrm>
            <a:off x="799128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0" name=""/>
          <p:cNvSpPr/>
          <p:nvPr/>
        </p:nvSpPr>
        <p:spPr>
          <a:xfrm>
            <a:off x="1143936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1" name=""/>
          <p:cNvSpPr/>
          <p:nvPr/>
        </p:nvSpPr>
        <p:spPr>
          <a:xfrm>
            <a:off x="75240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2" name=""/>
          <p:cNvSpPr/>
          <p:nvPr/>
        </p:nvSpPr>
        <p:spPr>
          <a:xfrm>
            <a:off x="752400" y="2943000"/>
            <a:ext cx="4019760" cy="10080"/>
          </a:xfrm>
          <a:custGeom>
            <a:avLst/>
            <a:gdLst/>
            <a:ahLst/>
            <a:rect l="0" t="0" r="r" b="b"/>
            <a:pathLst>
              <a:path w="11166" h="28">
                <a:moveTo>
                  <a:pt x="0" y="0"/>
                </a:moveTo>
                <a:lnTo>
                  <a:pt x="11166" y="0"/>
                </a:lnTo>
                <a:lnTo>
                  <a:pt x="111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3" name=""/>
          <p:cNvSpPr/>
          <p:nvPr/>
        </p:nvSpPr>
        <p:spPr>
          <a:xfrm>
            <a:off x="476244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4" name=""/>
          <p:cNvSpPr/>
          <p:nvPr/>
        </p:nvSpPr>
        <p:spPr>
          <a:xfrm>
            <a:off x="4771800" y="2943000"/>
            <a:ext cx="3229200" cy="10080"/>
          </a:xfrm>
          <a:custGeom>
            <a:avLst/>
            <a:gdLst/>
            <a:ahLst/>
            <a:rect l="0" t="0" r="r" b="b"/>
            <a:pathLst>
              <a:path w="8970" h="28">
                <a:moveTo>
                  <a:pt x="0" y="0"/>
                </a:moveTo>
                <a:lnTo>
                  <a:pt x="8970" y="0"/>
                </a:lnTo>
                <a:lnTo>
                  <a:pt x="8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5" name=""/>
          <p:cNvSpPr/>
          <p:nvPr/>
        </p:nvSpPr>
        <p:spPr>
          <a:xfrm>
            <a:off x="799128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6" name=""/>
          <p:cNvSpPr/>
          <p:nvPr/>
        </p:nvSpPr>
        <p:spPr>
          <a:xfrm>
            <a:off x="8000640" y="2943000"/>
            <a:ext cx="3448440" cy="10080"/>
          </a:xfrm>
          <a:custGeom>
            <a:avLst/>
            <a:gdLst/>
            <a:ahLst/>
            <a:rect l="0" t="0" r="r" b="b"/>
            <a:pathLst>
              <a:path w="9579" h="28">
                <a:moveTo>
                  <a:pt x="0" y="0"/>
                </a:moveTo>
                <a:lnTo>
                  <a:pt x="9579" y="0"/>
                </a:lnTo>
                <a:lnTo>
                  <a:pt x="95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7" name=""/>
          <p:cNvSpPr/>
          <p:nvPr/>
        </p:nvSpPr>
        <p:spPr>
          <a:xfrm>
            <a:off x="1143936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8" name=""/>
          <p:cNvSpPr/>
          <p:nvPr/>
        </p:nvSpPr>
        <p:spPr>
          <a:xfrm>
            <a:off x="752400" y="390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49" name=""/>
          <p:cNvSpPr/>
          <p:nvPr/>
        </p:nvSpPr>
        <p:spPr>
          <a:xfrm>
            <a:off x="752400" y="3895560"/>
            <a:ext cx="4019760" cy="9720"/>
          </a:xfrm>
          <a:custGeom>
            <a:avLst/>
            <a:gdLst/>
            <a:ahLst/>
            <a:rect l="0" t="0" r="r" b="b"/>
            <a:pathLst>
              <a:path w="11166" h="27">
                <a:moveTo>
                  <a:pt x="0" y="0"/>
                </a:moveTo>
                <a:lnTo>
                  <a:pt x="11166" y="0"/>
                </a:lnTo>
                <a:lnTo>
                  <a:pt x="11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0" name=""/>
          <p:cNvSpPr/>
          <p:nvPr/>
        </p:nvSpPr>
        <p:spPr>
          <a:xfrm>
            <a:off x="4762440" y="390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1" name=""/>
          <p:cNvSpPr/>
          <p:nvPr/>
        </p:nvSpPr>
        <p:spPr>
          <a:xfrm>
            <a:off x="4771800" y="389556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2" name=""/>
          <p:cNvSpPr/>
          <p:nvPr/>
        </p:nvSpPr>
        <p:spPr>
          <a:xfrm>
            <a:off x="7991280" y="390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3" name=""/>
          <p:cNvSpPr/>
          <p:nvPr/>
        </p:nvSpPr>
        <p:spPr>
          <a:xfrm>
            <a:off x="8000640" y="3895560"/>
            <a:ext cx="3448440" cy="9720"/>
          </a:xfrm>
          <a:custGeom>
            <a:avLst/>
            <a:gdLst/>
            <a:ahLst/>
            <a:rect l="0" t="0" r="r" b="b"/>
            <a:pathLst>
              <a:path w="9579" h="27">
                <a:moveTo>
                  <a:pt x="0" y="0"/>
                </a:moveTo>
                <a:lnTo>
                  <a:pt x="9579" y="0"/>
                </a:lnTo>
                <a:lnTo>
                  <a:pt x="95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4" name=""/>
          <p:cNvSpPr/>
          <p:nvPr/>
        </p:nvSpPr>
        <p:spPr>
          <a:xfrm>
            <a:off x="11439360" y="390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5" name=""/>
          <p:cNvSpPr/>
          <p:nvPr/>
        </p:nvSpPr>
        <p:spPr>
          <a:xfrm>
            <a:off x="752400" y="4857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6" name=""/>
          <p:cNvSpPr/>
          <p:nvPr/>
        </p:nvSpPr>
        <p:spPr>
          <a:xfrm>
            <a:off x="752400" y="4848120"/>
            <a:ext cx="4019760" cy="9720"/>
          </a:xfrm>
          <a:custGeom>
            <a:avLst/>
            <a:gdLst/>
            <a:ahLst/>
            <a:rect l="0" t="0" r="r" b="b"/>
            <a:pathLst>
              <a:path w="11166" h="27">
                <a:moveTo>
                  <a:pt x="0" y="0"/>
                </a:moveTo>
                <a:lnTo>
                  <a:pt x="11166" y="0"/>
                </a:lnTo>
                <a:lnTo>
                  <a:pt x="11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7" name=""/>
          <p:cNvSpPr/>
          <p:nvPr/>
        </p:nvSpPr>
        <p:spPr>
          <a:xfrm>
            <a:off x="4762440" y="4857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8" name=""/>
          <p:cNvSpPr/>
          <p:nvPr/>
        </p:nvSpPr>
        <p:spPr>
          <a:xfrm>
            <a:off x="4771800" y="484812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59" name=""/>
          <p:cNvSpPr/>
          <p:nvPr/>
        </p:nvSpPr>
        <p:spPr>
          <a:xfrm>
            <a:off x="7991280" y="4857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0" name=""/>
          <p:cNvSpPr/>
          <p:nvPr/>
        </p:nvSpPr>
        <p:spPr>
          <a:xfrm>
            <a:off x="8000640" y="4848120"/>
            <a:ext cx="3448440" cy="9720"/>
          </a:xfrm>
          <a:custGeom>
            <a:avLst/>
            <a:gdLst/>
            <a:ahLst/>
            <a:rect l="0" t="0" r="r" b="b"/>
            <a:pathLst>
              <a:path w="9579" h="27">
                <a:moveTo>
                  <a:pt x="0" y="0"/>
                </a:moveTo>
                <a:lnTo>
                  <a:pt x="9579" y="0"/>
                </a:lnTo>
                <a:lnTo>
                  <a:pt x="95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1" name=""/>
          <p:cNvSpPr/>
          <p:nvPr/>
        </p:nvSpPr>
        <p:spPr>
          <a:xfrm>
            <a:off x="11439360" y="4857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2" name=""/>
          <p:cNvSpPr/>
          <p:nvPr/>
        </p:nvSpPr>
        <p:spPr>
          <a:xfrm>
            <a:off x="752400" y="58100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3" name=""/>
          <p:cNvSpPr/>
          <p:nvPr/>
        </p:nvSpPr>
        <p:spPr>
          <a:xfrm>
            <a:off x="752400" y="5800680"/>
            <a:ext cx="4019760" cy="9720"/>
          </a:xfrm>
          <a:custGeom>
            <a:avLst/>
            <a:gdLst/>
            <a:ahLst/>
            <a:rect l="0" t="0" r="r" b="b"/>
            <a:pathLst>
              <a:path w="11166" h="27">
                <a:moveTo>
                  <a:pt x="0" y="0"/>
                </a:moveTo>
                <a:lnTo>
                  <a:pt x="11166" y="0"/>
                </a:lnTo>
                <a:lnTo>
                  <a:pt x="11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4" name=""/>
          <p:cNvSpPr/>
          <p:nvPr/>
        </p:nvSpPr>
        <p:spPr>
          <a:xfrm>
            <a:off x="4762440" y="58100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5" name=""/>
          <p:cNvSpPr/>
          <p:nvPr/>
        </p:nvSpPr>
        <p:spPr>
          <a:xfrm>
            <a:off x="4771800" y="580068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6" name=""/>
          <p:cNvSpPr/>
          <p:nvPr/>
        </p:nvSpPr>
        <p:spPr>
          <a:xfrm>
            <a:off x="7991280" y="58100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7" name=""/>
          <p:cNvSpPr/>
          <p:nvPr/>
        </p:nvSpPr>
        <p:spPr>
          <a:xfrm>
            <a:off x="8000640" y="5800680"/>
            <a:ext cx="3448440" cy="9720"/>
          </a:xfrm>
          <a:custGeom>
            <a:avLst/>
            <a:gdLst/>
            <a:ahLst/>
            <a:rect l="0" t="0" r="r" b="b"/>
            <a:pathLst>
              <a:path w="9579" h="27">
                <a:moveTo>
                  <a:pt x="0" y="0"/>
                </a:moveTo>
                <a:lnTo>
                  <a:pt x="9579" y="0"/>
                </a:lnTo>
                <a:lnTo>
                  <a:pt x="95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8" name=""/>
          <p:cNvSpPr/>
          <p:nvPr/>
        </p:nvSpPr>
        <p:spPr>
          <a:xfrm>
            <a:off x="11439360" y="58100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69" name=""/>
          <p:cNvSpPr/>
          <p:nvPr/>
        </p:nvSpPr>
        <p:spPr>
          <a:xfrm>
            <a:off x="752400" y="676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70" name=""/>
          <p:cNvSpPr/>
          <p:nvPr/>
        </p:nvSpPr>
        <p:spPr>
          <a:xfrm>
            <a:off x="752400" y="6752880"/>
            <a:ext cx="4019760" cy="10440"/>
          </a:xfrm>
          <a:custGeom>
            <a:avLst/>
            <a:gdLst/>
            <a:ahLst/>
            <a:rect l="0" t="0" r="r" b="b"/>
            <a:pathLst>
              <a:path w="11166" h="29">
                <a:moveTo>
                  <a:pt x="0" y="0"/>
                </a:moveTo>
                <a:lnTo>
                  <a:pt x="11166" y="0"/>
                </a:lnTo>
                <a:lnTo>
                  <a:pt x="1116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71" name=""/>
          <p:cNvSpPr/>
          <p:nvPr/>
        </p:nvSpPr>
        <p:spPr>
          <a:xfrm>
            <a:off x="4762440" y="676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72" name=""/>
          <p:cNvSpPr/>
          <p:nvPr/>
        </p:nvSpPr>
        <p:spPr>
          <a:xfrm>
            <a:off x="4771800" y="6752880"/>
            <a:ext cx="3229200" cy="10440"/>
          </a:xfrm>
          <a:custGeom>
            <a:avLst/>
            <a:gdLst/>
            <a:ahLst/>
            <a:rect l="0" t="0" r="r" b="b"/>
            <a:pathLst>
              <a:path w="8970" h="29">
                <a:moveTo>
                  <a:pt x="0" y="0"/>
                </a:moveTo>
                <a:lnTo>
                  <a:pt x="8970" y="0"/>
                </a:lnTo>
                <a:lnTo>
                  <a:pt x="897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73" name=""/>
          <p:cNvSpPr/>
          <p:nvPr/>
        </p:nvSpPr>
        <p:spPr>
          <a:xfrm>
            <a:off x="7991280" y="676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74" name=""/>
          <p:cNvSpPr/>
          <p:nvPr/>
        </p:nvSpPr>
        <p:spPr>
          <a:xfrm>
            <a:off x="8000640" y="6752880"/>
            <a:ext cx="3448440" cy="10440"/>
          </a:xfrm>
          <a:custGeom>
            <a:avLst/>
            <a:gdLst/>
            <a:ahLst/>
            <a:rect l="0" t="0" r="r" b="b"/>
            <a:pathLst>
              <a:path w="9579" h="29">
                <a:moveTo>
                  <a:pt x="0" y="0"/>
                </a:moveTo>
                <a:lnTo>
                  <a:pt x="9579" y="0"/>
                </a:lnTo>
                <a:lnTo>
                  <a:pt x="957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75" name=""/>
          <p:cNvSpPr/>
          <p:nvPr/>
        </p:nvSpPr>
        <p:spPr>
          <a:xfrm>
            <a:off x="11439360" y="67626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976" name=""/>
          <p:cNvSpPr txBox="1"/>
          <p:nvPr/>
        </p:nvSpPr>
        <p:spPr>
          <a:xfrm>
            <a:off x="747720" y="770400"/>
            <a:ext cx="76572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2 — Cleanup (18 items, three buckets)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1775520" y="1569240"/>
            <a:ext cx="19666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Dead code (10)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5422680" y="1569240"/>
            <a:ext cx="1918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Duplication (5)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8944560" y="1569240"/>
            <a:ext cx="1549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Hot-path (3)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880920" y="2312280"/>
            <a:ext cx="19515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world_loader.py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4892400" y="2102760"/>
            <a:ext cx="24285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mavsdk_server pkill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4892400" y="2521800"/>
            <a:ext cx="768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helper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8128080" y="2102760"/>
            <a:ext cx="2595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CLEAN-16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SSE race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8128080" y="2521800"/>
            <a:ext cx="1351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(next slide)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880920" y="3264840"/>
            <a:ext cx="2522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bench_reid_callback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4892400" y="3055320"/>
            <a:ext cx="29725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3× argparse pre-parsers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4892400" y="3474360"/>
            <a:ext cx="506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→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1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8128080" y="3055320"/>
            <a:ext cx="27806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CLEAN-17 socket-per-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885600" y="4219560"/>
            <a:ext cx="1029240" cy="362160"/>
          </a:xfrm>
          <a:custGeom>
            <a:avLst/>
            <a:gdLst/>
            <a:ahLst/>
            <a:rect l="0" t="0" r="r" b="b"/>
            <a:pathLst>
              <a:path w="2859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00" y="0"/>
                </a:lnTo>
                <a:cubicBezTo>
                  <a:pt x="2710" y="0"/>
                  <a:pt x="2721" y="1"/>
                  <a:pt x="2731" y="3"/>
                </a:cubicBezTo>
                <a:cubicBezTo>
                  <a:pt x="2741" y="5"/>
                  <a:pt x="2751" y="8"/>
                  <a:pt x="2761" y="12"/>
                </a:cubicBezTo>
                <a:cubicBezTo>
                  <a:pt x="2770" y="16"/>
                  <a:pt x="2779" y="21"/>
                  <a:pt x="2788" y="26"/>
                </a:cubicBezTo>
                <a:cubicBezTo>
                  <a:pt x="2797" y="32"/>
                  <a:pt x="2805" y="39"/>
                  <a:pt x="2812" y="46"/>
                </a:cubicBezTo>
                <a:cubicBezTo>
                  <a:pt x="2819" y="53"/>
                  <a:pt x="2826" y="61"/>
                  <a:pt x="2832" y="70"/>
                </a:cubicBezTo>
                <a:cubicBezTo>
                  <a:pt x="2838" y="79"/>
                  <a:pt x="2843" y="88"/>
                  <a:pt x="2847" y="98"/>
                </a:cubicBezTo>
                <a:cubicBezTo>
                  <a:pt x="2851" y="107"/>
                  <a:pt x="2854" y="117"/>
                  <a:pt x="2856" y="127"/>
                </a:cubicBezTo>
                <a:cubicBezTo>
                  <a:pt x="2858" y="138"/>
                  <a:pt x="2859" y="148"/>
                  <a:pt x="2859" y="158"/>
                </a:cubicBezTo>
                <a:lnTo>
                  <a:pt x="2859" y="847"/>
                </a:lnTo>
                <a:cubicBezTo>
                  <a:pt x="2859" y="858"/>
                  <a:pt x="2858" y="868"/>
                  <a:pt x="2856" y="878"/>
                </a:cubicBezTo>
                <a:cubicBezTo>
                  <a:pt x="2854" y="888"/>
                  <a:pt x="2851" y="898"/>
                  <a:pt x="2847" y="908"/>
                </a:cubicBezTo>
                <a:cubicBezTo>
                  <a:pt x="2843" y="918"/>
                  <a:pt x="2838" y="927"/>
                  <a:pt x="2832" y="935"/>
                </a:cubicBezTo>
                <a:cubicBezTo>
                  <a:pt x="2826" y="944"/>
                  <a:pt x="2819" y="952"/>
                  <a:pt x="2812" y="959"/>
                </a:cubicBezTo>
                <a:cubicBezTo>
                  <a:pt x="2805" y="967"/>
                  <a:pt x="2797" y="973"/>
                  <a:pt x="2788" y="979"/>
                </a:cubicBezTo>
                <a:cubicBezTo>
                  <a:pt x="2779" y="985"/>
                  <a:pt x="2770" y="990"/>
                  <a:pt x="2761" y="994"/>
                </a:cubicBezTo>
                <a:cubicBezTo>
                  <a:pt x="2751" y="998"/>
                  <a:pt x="2741" y="1001"/>
                  <a:pt x="2731" y="1003"/>
                </a:cubicBezTo>
                <a:cubicBezTo>
                  <a:pt x="2721" y="1005"/>
                  <a:pt x="2710" y="1006"/>
                  <a:pt x="2700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79"/>
                </a:cubicBezTo>
                <a:cubicBezTo>
                  <a:pt x="62" y="973"/>
                  <a:pt x="54" y="967"/>
                  <a:pt x="47" y="959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990" name=""/>
          <p:cNvSpPr txBox="1"/>
          <p:nvPr/>
        </p:nvSpPr>
        <p:spPr>
          <a:xfrm>
            <a:off x="8128080" y="3474360"/>
            <a:ext cx="15354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call → reuse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974880" y="4271040"/>
            <a:ext cx="842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--vfov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4892400" y="4007520"/>
            <a:ext cx="26175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telemetry position+alt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4892400" y="4426920"/>
            <a:ext cx="646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tasks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8128080" y="4007520"/>
            <a:ext cx="3147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CLEAN-18 O(n) dedup →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885600" y="5171760"/>
            <a:ext cx="2715120" cy="362520"/>
          </a:xfrm>
          <a:custGeom>
            <a:avLst/>
            <a:gdLst/>
            <a:ahLst/>
            <a:rect l="0" t="0" r="r" b="b"/>
            <a:pathLst>
              <a:path w="7542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383" y="0"/>
                </a:lnTo>
                <a:cubicBezTo>
                  <a:pt x="7393" y="0"/>
                  <a:pt x="7404" y="1"/>
                  <a:pt x="7414" y="3"/>
                </a:cubicBezTo>
                <a:cubicBezTo>
                  <a:pt x="7424" y="5"/>
                  <a:pt x="7434" y="8"/>
                  <a:pt x="7444" y="12"/>
                </a:cubicBezTo>
                <a:cubicBezTo>
                  <a:pt x="7453" y="16"/>
                  <a:pt x="7463" y="21"/>
                  <a:pt x="7471" y="27"/>
                </a:cubicBezTo>
                <a:cubicBezTo>
                  <a:pt x="7480" y="33"/>
                  <a:pt x="7488" y="39"/>
                  <a:pt x="7495" y="47"/>
                </a:cubicBezTo>
                <a:cubicBezTo>
                  <a:pt x="7503" y="54"/>
                  <a:pt x="7509" y="62"/>
                  <a:pt x="7515" y="71"/>
                </a:cubicBezTo>
                <a:cubicBezTo>
                  <a:pt x="7521" y="80"/>
                  <a:pt x="7526" y="89"/>
                  <a:pt x="7530" y="98"/>
                </a:cubicBezTo>
                <a:cubicBezTo>
                  <a:pt x="7534" y="108"/>
                  <a:pt x="7537" y="118"/>
                  <a:pt x="7539" y="128"/>
                </a:cubicBezTo>
                <a:cubicBezTo>
                  <a:pt x="7541" y="138"/>
                  <a:pt x="7542" y="149"/>
                  <a:pt x="7542" y="159"/>
                </a:cubicBezTo>
                <a:lnTo>
                  <a:pt x="7542" y="848"/>
                </a:lnTo>
                <a:cubicBezTo>
                  <a:pt x="7542" y="858"/>
                  <a:pt x="7541" y="869"/>
                  <a:pt x="7539" y="879"/>
                </a:cubicBezTo>
                <a:cubicBezTo>
                  <a:pt x="7537" y="889"/>
                  <a:pt x="7534" y="899"/>
                  <a:pt x="7530" y="909"/>
                </a:cubicBezTo>
                <a:cubicBezTo>
                  <a:pt x="7526" y="918"/>
                  <a:pt x="7521" y="928"/>
                  <a:pt x="7515" y="936"/>
                </a:cubicBezTo>
                <a:cubicBezTo>
                  <a:pt x="7509" y="945"/>
                  <a:pt x="7503" y="953"/>
                  <a:pt x="7495" y="960"/>
                </a:cubicBezTo>
                <a:cubicBezTo>
                  <a:pt x="7488" y="968"/>
                  <a:pt x="7480" y="974"/>
                  <a:pt x="7471" y="980"/>
                </a:cubicBezTo>
                <a:cubicBezTo>
                  <a:pt x="7463" y="986"/>
                  <a:pt x="7453" y="991"/>
                  <a:pt x="7444" y="995"/>
                </a:cubicBezTo>
                <a:cubicBezTo>
                  <a:pt x="7434" y="999"/>
                  <a:pt x="7424" y="1002"/>
                  <a:pt x="7414" y="1004"/>
                </a:cubicBezTo>
                <a:cubicBezTo>
                  <a:pt x="7404" y="1006"/>
                  <a:pt x="7393" y="1007"/>
                  <a:pt x="7383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996" name=""/>
          <p:cNvSpPr txBox="1"/>
          <p:nvPr/>
        </p:nvSpPr>
        <p:spPr>
          <a:xfrm>
            <a:off x="8128080" y="4426920"/>
            <a:ext cx="10584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O(1) dict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974880" y="5223240"/>
            <a:ext cx="2524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--mission-duration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4892400" y="4960080"/>
            <a:ext cx="1888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tunable_fields()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4892400" y="5379120"/>
            <a:ext cx="12441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unification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880920" y="6122160"/>
            <a:ext cx="35287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serial_baud=115200 fallback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4892400" y="5912640"/>
            <a:ext cx="25045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branch-decision tree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4892400" y="6331680"/>
            <a:ext cx="8146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unified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23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07" name=""/>
          <p:cNvSpPr/>
          <p:nvPr/>
        </p:nvSpPr>
        <p:spPr>
          <a:xfrm>
            <a:off x="757080" y="1566720"/>
            <a:ext cx="10687320" cy="3457800"/>
          </a:xfrm>
          <a:custGeom>
            <a:avLst/>
            <a:gdLst/>
            <a:ahLst/>
            <a:rect l="0" t="0" r="r" b="b"/>
            <a:pathLst>
              <a:path w="29687" h="9605">
                <a:moveTo>
                  <a:pt x="0" y="946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9460"/>
                </a:lnTo>
                <a:cubicBezTo>
                  <a:pt x="29687" y="9469"/>
                  <a:pt x="29686" y="9479"/>
                  <a:pt x="29684" y="9488"/>
                </a:cubicBezTo>
                <a:cubicBezTo>
                  <a:pt x="29683" y="9498"/>
                  <a:pt x="29680" y="9507"/>
                  <a:pt x="29676" y="9515"/>
                </a:cubicBezTo>
                <a:cubicBezTo>
                  <a:pt x="29672" y="9524"/>
                  <a:pt x="29668" y="9533"/>
                  <a:pt x="29663" y="9541"/>
                </a:cubicBezTo>
                <a:cubicBezTo>
                  <a:pt x="29657" y="9549"/>
                  <a:pt x="29651" y="9556"/>
                  <a:pt x="29645" y="9563"/>
                </a:cubicBezTo>
                <a:cubicBezTo>
                  <a:pt x="29638" y="9569"/>
                  <a:pt x="29630" y="9575"/>
                  <a:pt x="29623" y="9581"/>
                </a:cubicBezTo>
                <a:cubicBezTo>
                  <a:pt x="29615" y="9586"/>
                  <a:pt x="29606" y="9591"/>
                  <a:pt x="29597" y="9594"/>
                </a:cubicBezTo>
                <a:cubicBezTo>
                  <a:pt x="29589" y="9598"/>
                  <a:pt x="29579" y="9601"/>
                  <a:pt x="29570" y="9602"/>
                </a:cubicBezTo>
                <a:cubicBezTo>
                  <a:pt x="29561" y="9604"/>
                  <a:pt x="29551" y="9605"/>
                  <a:pt x="29542" y="9605"/>
                </a:cubicBezTo>
                <a:lnTo>
                  <a:pt x="145" y="9605"/>
                </a:lnTo>
                <a:cubicBezTo>
                  <a:pt x="136" y="9605"/>
                  <a:pt x="126" y="9604"/>
                  <a:pt x="117" y="9602"/>
                </a:cubicBezTo>
                <a:cubicBezTo>
                  <a:pt x="108" y="9601"/>
                  <a:pt x="99" y="9598"/>
                  <a:pt x="90" y="9594"/>
                </a:cubicBezTo>
                <a:cubicBezTo>
                  <a:pt x="81" y="9591"/>
                  <a:pt x="73" y="9586"/>
                  <a:pt x="65" y="9581"/>
                </a:cubicBezTo>
                <a:cubicBezTo>
                  <a:pt x="57" y="9575"/>
                  <a:pt x="49" y="9569"/>
                  <a:pt x="43" y="9563"/>
                </a:cubicBezTo>
                <a:cubicBezTo>
                  <a:pt x="36" y="9556"/>
                  <a:pt x="30" y="9549"/>
                  <a:pt x="24" y="9541"/>
                </a:cubicBezTo>
                <a:cubicBezTo>
                  <a:pt x="19" y="9533"/>
                  <a:pt x="15" y="9524"/>
                  <a:pt x="11" y="9515"/>
                </a:cubicBezTo>
                <a:cubicBezTo>
                  <a:pt x="7" y="9507"/>
                  <a:pt x="5" y="9498"/>
                  <a:pt x="3" y="9488"/>
                </a:cubicBezTo>
                <a:cubicBezTo>
                  <a:pt x="1" y="9479"/>
                  <a:pt x="0" y="9469"/>
                  <a:pt x="0" y="946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008" name=""/>
          <p:cNvSpPr/>
          <p:nvPr/>
        </p:nvSpPr>
        <p:spPr>
          <a:xfrm>
            <a:off x="757080" y="1566720"/>
            <a:ext cx="10687320" cy="3457800"/>
          </a:xfrm>
          <a:custGeom>
            <a:avLst/>
            <a:gdLst/>
            <a:ahLst/>
            <a:rect l="0" t="0" r="r" b="b"/>
            <a:pathLst>
              <a:path w="29687" h="9605">
                <a:moveTo>
                  <a:pt x="0" y="946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9460"/>
                </a:lnTo>
                <a:cubicBezTo>
                  <a:pt x="29687" y="9469"/>
                  <a:pt x="29686" y="9479"/>
                  <a:pt x="29684" y="9488"/>
                </a:cubicBezTo>
                <a:cubicBezTo>
                  <a:pt x="29683" y="9498"/>
                  <a:pt x="29680" y="9507"/>
                  <a:pt x="29676" y="9515"/>
                </a:cubicBezTo>
                <a:cubicBezTo>
                  <a:pt x="29672" y="9524"/>
                  <a:pt x="29668" y="9533"/>
                  <a:pt x="29663" y="9541"/>
                </a:cubicBezTo>
                <a:cubicBezTo>
                  <a:pt x="29657" y="9549"/>
                  <a:pt x="29651" y="9556"/>
                  <a:pt x="29645" y="9563"/>
                </a:cubicBezTo>
                <a:cubicBezTo>
                  <a:pt x="29638" y="9569"/>
                  <a:pt x="29630" y="9575"/>
                  <a:pt x="29623" y="9581"/>
                </a:cubicBezTo>
                <a:cubicBezTo>
                  <a:pt x="29615" y="9586"/>
                  <a:pt x="29606" y="9591"/>
                  <a:pt x="29597" y="9594"/>
                </a:cubicBezTo>
                <a:cubicBezTo>
                  <a:pt x="29589" y="9598"/>
                  <a:pt x="29579" y="9601"/>
                  <a:pt x="29570" y="9602"/>
                </a:cubicBezTo>
                <a:cubicBezTo>
                  <a:pt x="29561" y="9604"/>
                  <a:pt x="29551" y="9605"/>
                  <a:pt x="29542" y="9605"/>
                </a:cubicBezTo>
                <a:lnTo>
                  <a:pt x="145" y="9605"/>
                </a:lnTo>
                <a:cubicBezTo>
                  <a:pt x="136" y="9605"/>
                  <a:pt x="126" y="9604"/>
                  <a:pt x="117" y="9602"/>
                </a:cubicBezTo>
                <a:cubicBezTo>
                  <a:pt x="108" y="9601"/>
                  <a:pt x="99" y="9598"/>
                  <a:pt x="90" y="9594"/>
                </a:cubicBezTo>
                <a:cubicBezTo>
                  <a:pt x="81" y="9591"/>
                  <a:pt x="73" y="9586"/>
                  <a:pt x="65" y="9581"/>
                </a:cubicBezTo>
                <a:cubicBezTo>
                  <a:pt x="57" y="9575"/>
                  <a:pt x="49" y="9569"/>
                  <a:pt x="43" y="9563"/>
                </a:cubicBezTo>
                <a:cubicBezTo>
                  <a:pt x="36" y="9556"/>
                  <a:pt x="30" y="9549"/>
                  <a:pt x="24" y="9541"/>
                </a:cubicBezTo>
                <a:cubicBezTo>
                  <a:pt x="19" y="9533"/>
                  <a:pt x="15" y="9524"/>
                  <a:pt x="11" y="9515"/>
                </a:cubicBezTo>
                <a:cubicBezTo>
                  <a:pt x="7" y="9507"/>
                  <a:pt x="5" y="9498"/>
                  <a:pt x="3" y="9488"/>
                </a:cubicBezTo>
                <a:cubicBezTo>
                  <a:pt x="1" y="9479"/>
                  <a:pt x="0" y="9469"/>
                  <a:pt x="0" y="946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009" name=""/>
          <p:cNvSpPr txBox="1"/>
          <p:nvPr/>
        </p:nvSpPr>
        <p:spPr>
          <a:xfrm>
            <a:off x="747720" y="865800"/>
            <a:ext cx="55738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2 — CLEAN-16 (SSE race)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914400" y="1727640"/>
            <a:ext cx="592596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BEFORE  (web_server.py:84)                    AFTER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914400" y="1934280"/>
            <a:ext cx="866916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─────────────────────────────                 ──────────────────────────────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914400" y="2148120"/>
            <a:ext cx="746208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def _on_frame(...):                           def _on_frame(...):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914400" y="2355120"/>
            <a:ext cx="757224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self._frame_event.set()                       with self._cond: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914400" y="2561760"/>
            <a:ext cx="844992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self._frame_event.clear()                         self._frame_seq += 1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914400" y="2775960"/>
            <a:ext cx="877896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self._cond.notify_all()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914400" y="3189240"/>
            <a:ext cx="746208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def _sse_handler():                           def _sse_handler():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914400" y="3403440"/>
            <a:ext cx="680400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self._frame_event.wait(timeout=2.0)           last = -1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914400" y="3610080"/>
            <a:ext cx="702360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# race: clear() may fire                      while True: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914400" y="3816720"/>
            <a:ext cx="790128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#       between set() and second                 with self._cond: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914400" y="4030920"/>
            <a:ext cx="877896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#       consumer's wait()                            self._cond.wait_for(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914400" y="4237560"/>
            <a:ext cx="1042488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# → consumer falls through                              lambda: self._frame_seq != last,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914400" y="4444200"/>
            <a:ext cx="834012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#   2 s timeout                                          timeout=2.0)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914400" y="4658400"/>
            <a:ext cx="9218160" cy="20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    </a:t>
            </a:r>
            <a:r>
              <a:rPr b="0" lang="en-US" sz="1430" spc="-1" strike="noStrike">
                <a:solidFill>
                  <a:srgbClr val="1f2328"/>
                </a:solidFill>
                <a:latin typeface="Courier New"/>
              </a:rPr>
              <a:t>last = self._frame_seq</a:t>
            </a:r>
            <a:endParaRPr b="0" lang="en-US" sz="1430" spc="-1" strike="noStrike"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747720" y="5226840"/>
            <a:ext cx="10654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Two browser tabs watching the MJPEG — today, one stalls. Tomorrow, both update on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747720" y="5636520"/>
            <a:ext cx="15354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every frame.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24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2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30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031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032" name=""/>
          <p:cNvSpPr txBox="1"/>
          <p:nvPr/>
        </p:nvSpPr>
        <p:spPr>
          <a:xfrm>
            <a:off x="747720" y="770400"/>
            <a:ext cx="69274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3 — Robot protocol + Capabilities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914400" y="1623240"/>
            <a:ext cx="301536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0550ae"/>
                </a:solidFill>
                <a:latin typeface="Courier New"/>
              </a:rPr>
              <a:t>@dataclass(frozen=True)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914400" y="1872360"/>
            <a:ext cx="249084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class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Capabilities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: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914400" y="2129760"/>
            <a:ext cx="47188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has_altitude:               </a:t>
            </a:r>
            <a:r>
              <a:rPr b="0" lang="en-US" sz="1729" spc="-1" strike="noStrike">
                <a:solidFill>
                  <a:srgbClr val="953800"/>
                </a:solidFill>
                <a:latin typeface="Courier New"/>
              </a:rPr>
              <a:t>bool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914400" y="2378880"/>
            <a:ext cx="47188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needs_offboard_handshake:   </a:t>
            </a:r>
            <a:r>
              <a:rPr b="0" lang="en-US" sz="1729" spc="-1" strike="noStrike">
                <a:solidFill>
                  <a:srgbClr val="953800"/>
                </a:solidFill>
                <a:latin typeface="Courier New"/>
              </a:rPr>
              <a:t>bool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914400" y="2627640"/>
            <a:ext cx="47188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needs_takeoff_landing:      </a:t>
            </a:r>
            <a:r>
              <a:rPr b="0" lang="en-US" sz="1729" spc="-1" strike="noStrike">
                <a:solidFill>
                  <a:srgbClr val="953800"/>
                </a:solidFill>
                <a:latin typeface="Courier New"/>
              </a:rPr>
              <a:t>bool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914400" y="2885400"/>
            <a:ext cx="747072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yaw_units:                 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Literal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[</a:t>
            </a:r>
            <a:r>
              <a:rPr b="0" lang="en-US" sz="1729" spc="-1" strike="noStrike">
                <a:solidFill>
                  <a:srgbClr val="0a3069"/>
                </a:solidFill>
                <a:latin typeface="Courier New"/>
              </a:rPr>
              <a:t>"deg/s"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, </a:t>
            </a:r>
            <a:r>
              <a:rPr b="0" lang="en-US" sz="1729" spc="-1" strike="noStrike">
                <a:solidFill>
                  <a:srgbClr val="0a3069"/>
                </a:solidFill>
                <a:latin typeface="Courier New"/>
              </a:rPr>
              <a:t>"rad/s"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]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914400" y="3382920"/>
            <a:ext cx="13114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0550ae"/>
                </a:solidFill>
                <a:latin typeface="Courier New"/>
              </a:rPr>
              <a:t>@dataclass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914400" y="3640680"/>
            <a:ext cx="734040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class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RobotCommand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:           </a:t>
            </a:r>
            <a:r>
              <a:rPr b="0" lang="en-US" sz="1729" spc="-1" strike="noStrike">
                <a:solidFill>
                  <a:srgbClr val="59636e"/>
                </a:solidFill>
                <a:latin typeface="Courier New"/>
              </a:rPr>
              <a:t># replaces VelocityCommand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914400" y="3889440"/>
            <a:ext cx="458784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forward:  </a:t>
            </a:r>
            <a:r>
              <a:rPr b="0" lang="en-US" sz="1729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       </a:t>
            </a:r>
            <a:r>
              <a:rPr b="0" lang="en-US" sz="1729" spc="-1" strike="noStrike">
                <a:solidFill>
                  <a:srgbClr val="59636e"/>
                </a:solidFill>
                <a:latin typeface="Courier New"/>
              </a:rPr>
              <a:t># m/s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914400" y="4138200"/>
            <a:ext cx="602964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yaw:      </a:t>
            </a:r>
            <a:r>
              <a:rPr b="0" lang="en-US" sz="1729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       </a:t>
            </a:r>
            <a:r>
              <a:rPr b="0" lang="en-US" sz="1729" spc="-1" strike="noStrike">
                <a:solidFill>
                  <a:srgbClr val="59636e"/>
                </a:solidFill>
                <a:latin typeface="Courier New"/>
              </a:rPr>
              <a:t># in `yaw_units`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914400" y="4395960"/>
            <a:ext cx="865044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altitude: </a:t>
            </a:r>
            <a:r>
              <a:rPr b="0" lang="en-US" sz="1729" spc="-1" strike="noStrike">
                <a:solidFill>
                  <a:srgbClr val="953800"/>
                </a:solidFill>
                <a:latin typeface="Courier New"/>
              </a:rPr>
              <a:t>float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= </a:t>
            </a:r>
            <a:r>
              <a:rPr b="0" lang="en-US" sz="1729" spc="-1" strike="noStrike">
                <a:solidFill>
                  <a:srgbClr val="0550ae"/>
                </a:solidFill>
                <a:latin typeface="Courier New"/>
              </a:rPr>
              <a:t>0.0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 </a:t>
            </a:r>
            <a:r>
              <a:rPr b="0" lang="en-US" sz="1729" spc="-1" strike="noStrike">
                <a:solidFill>
                  <a:srgbClr val="59636e"/>
                </a:solidFill>
                <a:latin typeface="Courier New"/>
              </a:rPr>
              <a:t># m, ignored when has_altitude=False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914400" y="4893840"/>
            <a:ext cx="288396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class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Robot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(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Protocol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):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914400" y="5151240"/>
            <a:ext cx="393264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capabilities: Capabilities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914400" y="5400360"/>
            <a:ext cx="52426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async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def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connect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(self) -&gt; </a:t>
            </a:r>
            <a:r>
              <a:rPr b="0" lang="en-US" sz="1729" spc="-1" strike="noStrike">
                <a:solidFill>
                  <a:srgbClr val="0550ae"/>
                </a:solidFill>
                <a:latin typeface="Courier New"/>
              </a:rPr>
              <a:t>None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: ...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914400" y="5657760"/>
            <a:ext cx="60292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async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def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start_session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(self) -&gt; </a:t>
            </a:r>
            <a:r>
              <a:rPr b="0" lang="en-US" sz="1729" spc="-1" strike="noStrike">
                <a:solidFill>
                  <a:srgbClr val="0550ae"/>
                </a:solidFill>
                <a:latin typeface="Courier New"/>
              </a:rPr>
              <a:t>None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: ...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914400" y="5906880"/>
            <a:ext cx="838836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async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def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send_command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(self, cmd: RobotCommand) -&gt; </a:t>
            </a:r>
            <a:r>
              <a:rPr b="0" lang="en-US" sz="1729" spc="-1" strike="noStrike">
                <a:solidFill>
                  <a:srgbClr val="0550ae"/>
                </a:solidFill>
                <a:latin typeface="Courier New"/>
              </a:rPr>
              <a:t>None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: ...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914400" y="6155640"/>
            <a:ext cx="550512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async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def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send_zero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(self) -&gt; </a:t>
            </a:r>
            <a:r>
              <a:rPr b="0" lang="en-US" sz="1729" spc="-1" strike="noStrike">
                <a:solidFill>
                  <a:srgbClr val="0550ae"/>
                </a:solidFill>
                <a:latin typeface="Courier New"/>
              </a:rPr>
              <a:t>None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: ...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914400" y="6413400"/>
            <a:ext cx="5374080" cy="24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  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async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cf222e"/>
                </a:solidFill>
                <a:latin typeface="Courier New"/>
              </a:rPr>
              <a:t>def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 </a:t>
            </a:r>
            <a:r>
              <a:rPr b="0" lang="en-US" sz="1729" spc="-1" strike="noStrike">
                <a:solidFill>
                  <a:srgbClr val="6639ba"/>
                </a:solidFill>
                <a:latin typeface="Courier New"/>
              </a:rPr>
              <a:t>shutdown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(self) -&gt; </a:t>
            </a:r>
            <a:r>
              <a:rPr b="0" lang="en-US" sz="1729" spc="-1" strike="noStrike">
                <a:solidFill>
                  <a:srgbClr val="0550ae"/>
                </a:solidFill>
                <a:latin typeface="Courier New"/>
              </a:rPr>
              <a:t>None</a:t>
            </a:r>
            <a:r>
              <a:rPr b="0" lang="en-US" sz="1729" spc="-1" strike="noStrike">
                <a:solidFill>
                  <a:srgbClr val="1f2328"/>
                </a:solidFill>
                <a:latin typeface="Courier New"/>
              </a:rPr>
              <a:t>: ...</a:t>
            </a:r>
            <a:endParaRPr b="0" lang="en-US" sz="1729" spc="-1" strike="noStrike"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25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5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55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056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057" name=""/>
          <p:cNvSpPr txBox="1"/>
          <p:nvPr/>
        </p:nvSpPr>
        <p:spPr>
          <a:xfrm>
            <a:off x="747720" y="770400"/>
            <a:ext cx="76968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3 — live_control_loop capability gates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914400" y="1623240"/>
            <a:ext cx="837360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┌──────────────────────────────────────────────────────────────┐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914400" y="1859760"/>
            <a:ext cx="837360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compute_velocity_command(detection, config)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914400" y="210492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│                       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914400" y="234180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▼                       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914400" y="257868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base RobotCommand(forward, yaw)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914400" y="282384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│                       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914400" y="306036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├─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if caps.has_altitude: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914400" y="3297240"/>
            <a:ext cx="837360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│     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cmd.altitude = altitude_p_loop(curr, target)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914400" y="354240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│                       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914400" y="377892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├─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if caps.has_altitude: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914400" y="4015800"/>
            <a:ext cx="849888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│     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drone_bottom_edge_retreat(cmd, det)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914400" y="4260960"/>
            <a:ext cx="862344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│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else:                 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914400" y="4497480"/>
            <a:ext cx="849888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│     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rover_bottom_edge_slowstop(cmd, det)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914400" y="473436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│                       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914400" y="497952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└─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if caps.can_yaw_spin_to_search: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914400" y="5216400"/>
            <a:ext cx="849888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      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yaw_spin_search(cmd)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914400" y="5461560"/>
            <a:ext cx="84985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│                               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914400" y="5698080"/>
            <a:ext cx="837360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└──────────────────────────────────────────────────────────────┘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914400" y="5934960"/>
            <a:ext cx="43747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                      │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914400" y="6180120"/>
            <a:ext cx="437472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                      ▼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914400" y="6416640"/>
            <a:ext cx="6123960" cy="2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                          </a:t>
            </a:r>
            <a:r>
              <a:rPr b="0" lang="en-US" sz="1640" spc="-1" strike="noStrike">
                <a:solidFill>
                  <a:srgbClr val="1f2328"/>
                </a:solidFill>
                <a:latin typeface="Courier New"/>
              </a:rPr>
              <a:t>robot.send_command(cmd)</a:t>
            </a:r>
            <a:endParaRPr b="0" lang="en-US" sz="1640" spc="-1" strike="noStrike"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26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8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83" name=""/>
          <p:cNvSpPr/>
          <p:nvPr/>
        </p:nvSpPr>
        <p:spPr>
          <a:xfrm>
            <a:off x="757080" y="1490400"/>
            <a:ext cx="10687320" cy="2476800"/>
          </a:xfrm>
          <a:custGeom>
            <a:avLst/>
            <a:gdLst/>
            <a:ah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5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084" name=""/>
          <p:cNvSpPr/>
          <p:nvPr/>
        </p:nvSpPr>
        <p:spPr>
          <a:xfrm>
            <a:off x="757080" y="1490400"/>
            <a:ext cx="10687320" cy="2476800"/>
          </a:xfrm>
          <a:custGeom>
            <a:avLst/>
            <a:gdLst/>
            <a:ahLst/>
            <a:rect l="0" t="0" r="r" b="b"/>
            <a:pathLst>
              <a:path w="29687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6735"/>
                </a:lnTo>
                <a:cubicBezTo>
                  <a:pt x="29687" y="6744"/>
                  <a:pt x="29686" y="6754"/>
                  <a:pt x="29684" y="6763"/>
                </a:cubicBezTo>
                <a:cubicBezTo>
                  <a:pt x="29683" y="6773"/>
                  <a:pt x="29680" y="6782"/>
                  <a:pt x="29676" y="6791"/>
                </a:cubicBezTo>
                <a:cubicBezTo>
                  <a:pt x="29672" y="6799"/>
                  <a:pt x="29668" y="6808"/>
                  <a:pt x="29663" y="6816"/>
                </a:cubicBezTo>
                <a:cubicBezTo>
                  <a:pt x="29657" y="6824"/>
                  <a:pt x="29651" y="6831"/>
                  <a:pt x="29645" y="6838"/>
                </a:cubicBezTo>
                <a:cubicBezTo>
                  <a:pt x="29638" y="6845"/>
                  <a:pt x="29630" y="6851"/>
                  <a:pt x="29623" y="6856"/>
                </a:cubicBezTo>
                <a:cubicBezTo>
                  <a:pt x="29615" y="6861"/>
                  <a:pt x="29606" y="6866"/>
                  <a:pt x="29597" y="6869"/>
                </a:cubicBezTo>
                <a:cubicBezTo>
                  <a:pt x="29589" y="6873"/>
                  <a:pt x="29579" y="6876"/>
                  <a:pt x="29570" y="6878"/>
                </a:cubicBezTo>
                <a:cubicBezTo>
                  <a:pt x="29561" y="6879"/>
                  <a:pt x="29551" y="6880"/>
                  <a:pt x="29542" y="6880"/>
                </a:cubicBezTo>
                <a:lnTo>
                  <a:pt x="145" y="6880"/>
                </a:lnTo>
                <a:cubicBezTo>
                  <a:pt x="136" y="6880"/>
                  <a:pt x="126" y="6879"/>
                  <a:pt x="117" y="6878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4" y="6816"/>
                </a:cubicBezTo>
                <a:cubicBezTo>
                  <a:pt x="19" y="6808"/>
                  <a:pt x="15" y="6799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085" name=""/>
          <p:cNvSpPr/>
          <p:nvPr/>
        </p:nvSpPr>
        <p:spPr>
          <a:xfrm>
            <a:off x="2666880" y="799920"/>
            <a:ext cx="1648080" cy="400320"/>
          </a:xfrm>
          <a:custGeom>
            <a:avLst/>
            <a:gdLst/>
            <a:ahLst/>
            <a:rect l="0" t="0" r="r" b="b"/>
            <a:pathLst>
              <a:path w="4578" h="1112">
                <a:moveTo>
                  <a:pt x="0" y="95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419" y="0"/>
                </a:lnTo>
                <a:cubicBezTo>
                  <a:pt x="4430" y="0"/>
                  <a:pt x="4440" y="1"/>
                  <a:pt x="4450" y="3"/>
                </a:cubicBezTo>
                <a:cubicBezTo>
                  <a:pt x="4461" y="5"/>
                  <a:pt x="4470" y="8"/>
                  <a:pt x="4480" y="12"/>
                </a:cubicBezTo>
                <a:cubicBezTo>
                  <a:pt x="4490" y="16"/>
                  <a:pt x="4499" y="21"/>
                  <a:pt x="4508" y="27"/>
                </a:cubicBezTo>
                <a:cubicBezTo>
                  <a:pt x="4516" y="33"/>
                  <a:pt x="4524" y="39"/>
                  <a:pt x="4532" y="46"/>
                </a:cubicBezTo>
                <a:cubicBezTo>
                  <a:pt x="4539" y="54"/>
                  <a:pt x="4546" y="62"/>
                  <a:pt x="4551" y="71"/>
                </a:cubicBezTo>
                <a:cubicBezTo>
                  <a:pt x="4557" y="79"/>
                  <a:pt x="4562" y="88"/>
                  <a:pt x="4566" y="98"/>
                </a:cubicBezTo>
                <a:cubicBezTo>
                  <a:pt x="4570" y="108"/>
                  <a:pt x="4573" y="118"/>
                  <a:pt x="4575" y="128"/>
                </a:cubicBezTo>
                <a:cubicBezTo>
                  <a:pt x="4577" y="138"/>
                  <a:pt x="4578" y="148"/>
                  <a:pt x="4578" y="159"/>
                </a:cubicBezTo>
                <a:lnTo>
                  <a:pt x="4578" y="953"/>
                </a:lnTo>
                <a:cubicBezTo>
                  <a:pt x="4578" y="964"/>
                  <a:pt x="4577" y="974"/>
                  <a:pt x="4575" y="984"/>
                </a:cubicBezTo>
                <a:cubicBezTo>
                  <a:pt x="4573" y="995"/>
                  <a:pt x="4570" y="1005"/>
                  <a:pt x="4566" y="1014"/>
                </a:cubicBezTo>
                <a:cubicBezTo>
                  <a:pt x="4562" y="1024"/>
                  <a:pt x="4557" y="1033"/>
                  <a:pt x="4551" y="1042"/>
                </a:cubicBezTo>
                <a:cubicBezTo>
                  <a:pt x="4546" y="1050"/>
                  <a:pt x="4539" y="1058"/>
                  <a:pt x="4532" y="1066"/>
                </a:cubicBezTo>
                <a:cubicBezTo>
                  <a:pt x="4524" y="1073"/>
                  <a:pt x="4516" y="1080"/>
                  <a:pt x="4508" y="1085"/>
                </a:cubicBezTo>
                <a:cubicBezTo>
                  <a:pt x="4499" y="1091"/>
                  <a:pt x="4490" y="1096"/>
                  <a:pt x="4480" y="1100"/>
                </a:cubicBezTo>
                <a:cubicBezTo>
                  <a:pt x="4470" y="1104"/>
                  <a:pt x="4461" y="1107"/>
                  <a:pt x="4450" y="1109"/>
                </a:cubicBezTo>
                <a:cubicBezTo>
                  <a:pt x="4440" y="1111"/>
                  <a:pt x="4430" y="1112"/>
                  <a:pt x="4419" y="1112"/>
                </a:cubicBezTo>
                <a:lnTo>
                  <a:pt x="159" y="1112"/>
                </a:lnTo>
                <a:cubicBezTo>
                  <a:pt x="148" y="1112"/>
                  <a:pt x="138" y="1111"/>
                  <a:pt x="128" y="1109"/>
                </a:cubicBezTo>
                <a:cubicBezTo>
                  <a:pt x="117" y="1107"/>
                  <a:pt x="107" y="1104"/>
                  <a:pt x="98" y="1100"/>
                </a:cubicBezTo>
                <a:cubicBezTo>
                  <a:pt x="88" y="1096"/>
                  <a:pt x="79" y="1091"/>
                  <a:pt x="70" y="1085"/>
                </a:cubicBezTo>
                <a:cubicBezTo>
                  <a:pt x="62" y="1080"/>
                  <a:pt x="54" y="1073"/>
                  <a:pt x="46" y="1066"/>
                </a:cubicBezTo>
                <a:cubicBezTo>
                  <a:pt x="39" y="1058"/>
                  <a:pt x="32" y="1050"/>
                  <a:pt x="27" y="1042"/>
                </a:cubicBezTo>
                <a:cubicBezTo>
                  <a:pt x="21" y="1033"/>
                  <a:pt x="16" y="1024"/>
                  <a:pt x="12" y="1014"/>
                </a:cubicBezTo>
                <a:cubicBezTo>
                  <a:pt x="8" y="1005"/>
                  <a:pt x="5" y="995"/>
                  <a:pt x="3" y="984"/>
                </a:cubicBezTo>
                <a:cubicBezTo>
                  <a:pt x="1" y="974"/>
                  <a:pt x="0" y="964"/>
                  <a:pt x="0" y="95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086" name=""/>
          <p:cNvSpPr txBox="1"/>
          <p:nvPr/>
        </p:nvSpPr>
        <p:spPr>
          <a:xfrm>
            <a:off x="747720" y="770400"/>
            <a:ext cx="191952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3 — 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2734920" y="796320"/>
            <a:ext cx="1515600" cy="40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Courier New"/>
              </a:rPr>
              <a:t>--robot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4314960" y="770400"/>
            <a:ext cx="32788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two-pass argparse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914400" y="1652400"/>
            <a:ext cx="79923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PASS 1                            PASS 2 (conditional)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914400" y="1918800"/>
            <a:ext cx="8693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──────────                        ─────────────────────────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914400" y="219528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pre.add_argument("--robot",       parser = build_common()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092" name=""/>
          <p:cNvSpPr txBox="1"/>
          <p:nvPr/>
        </p:nvSpPr>
        <p:spPr>
          <a:xfrm>
            <a:off x="914400" y="2462040"/>
            <a:ext cx="9254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choices=["drone","rover"],    if pre_args.robot == "drone":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914400" y="2728440"/>
            <a:ext cx="8833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default="drone")                  add_drone_args(parser)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914400" y="3004920"/>
            <a:ext cx="5889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pre_args, _ = pre.parse_known()   else: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914400" y="3271680"/>
            <a:ext cx="8833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add_rover_args(parser)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1076040" y="4295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5" y="193"/>
                  <a:pt x="204" y="204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1097" name=""/>
          <p:cNvSpPr/>
          <p:nvPr/>
        </p:nvSpPr>
        <p:spPr>
          <a:xfrm>
            <a:off x="1304640" y="4171680"/>
            <a:ext cx="3000960" cy="362520"/>
          </a:xfrm>
          <a:custGeom>
            <a:avLst/>
            <a:gdLst/>
            <a:ahLst/>
            <a:rect l="0" t="0" r="r" b="b"/>
            <a:pathLst>
              <a:path w="8336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177" y="0"/>
                </a:lnTo>
                <a:cubicBezTo>
                  <a:pt x="8187" y="0"/>
                  <a:pt x="8198" y="1"/>
                  <a:pt x="8208" y="3"/>
                </a:cubicBezTo>
                <a:cubicBezTo>
                  <a:pt x="8218" y="5"/>
                  <a:pt x="8228" y="8"/>
                  <a:pt x="8238" y="12"/>
                </a:cubicBezTo>
                <a:cubicBezTo>
                  <a:pt x="8247" y="16"/>
                  <a:pt x="8256" y="21"/>
                  <a:pt x="8265" y="27"/>
                </a:cubicBezTo>
                <a:cubicBezTo>
                  <a:pt x="8274" y="33"/>
                  <a:pt x="8282" y="39"/>
                  <a:pt x="8289" y="47"/>
                </a:cubicBezTo>
                <a:cubicBezTo>
                  <a:pt x="8297" y="54"/>
                  <a:pt x="8303" y="62"/>
                  <a:pt x="8309" y="71"/>
                </a:cubicBezTo>
                <a:cubicBezTo>
                  <a:pt x="8315" y="79"/>
                  <a:pt x="8320" y="89"/>
                  <a:pt x="8324" y="98"/>
                </a:cubicBezTo>
                <a:cubicBezTo>
                  <a:pt x="8328" y="108"/>
                  <a:pt x="8331" y="118"/>
                  <a:pt x="8333" y="128"/>
                </a:cubicBezTo>
                <a:cubicBezTo>
                  <a:pt x="8335" y="138"/>
                  <a:pt x="8336" y="149"/>
                  <a:pt x="8336" y="159"/>
                </a:cubicBezTo>
                <a:lnTo>
                  <a:pt x="8336" y="847"/>
                </a:lnTo>
                <a:cubicBezTo>
                  <a:pt x="8336" y="857"/>
                  <a:pt x="8335" y="868"/>
                  <a:pt x="8333" y="878"/>
                </a:cubicBezTo>
                <a:cubicBezTo>
                  <a:pt x="8331" y="888"/>
                  <a:pt x="8328" y="898"/>
                  <a:pt x="8324" y="908"/>
                </a:cubicBezTo>
                <a:cubicBezTo>
                  <a:pt x="8320" y="917"/>
                  <a:pt x="8315" y="926"/>
                  <a:pt x="8309" y="935"/>
                </a:cubicBezTo>
                <a:cubicBezTo>
                  <a:pt x="8303" y="944"/>
                  <a:pt x="8297" y="952"/>
                  <a:pt x="8289" y="959"/>
                </a:cubicBezTo>
                <a:cubicBezTo>
                  <a:pt x="8282" y="967"/>
                  <a:pt x="8274" y="973"/>
                  <a:pt x="8265" y="980"/>
                </a:cubicBezTo>
                <a:cubicBezTo>
                  <a:pt x="8256" y="986"/>
                  <a:pt x="8247" y="991"/>
                  <a:pt x="8238" y="995"/>
                </a:cubicBezTo>
                <a:cubicBezTo>
                  <a:pt x="8228" y="999"/>
                  <a:pt x="8218" y="1002"/>
                  <a:pt x="8208" y="1004"/>
                </a:cubicBezTo>
                <a:cubicBezTo>
                  <a:pt x="8198" y="1006"/>
                  <a:pt x="8187" y="1007"/>
                  <a:pt x="8177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3"/>
                  <a:pt x="54" y="967"/>
                  <a:pt x="47" y="959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6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098" name=""/>
          <p:cNvSpPr txBox="1"/>
          <p:nvPr/>
        </p:nvSpPr>
        <p:spPr>
          <a:xfrm>
            <a:off x="914400" y="3538080"/>
            <a:ext cx="8833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args = parser.parse_args()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099" name=""/>
          <p:cNvSpPr txBox="1"/>
          <p:nvPr/>
        </p:nvSpPr>
        <p:spPr>
          <a:xfrm>
            <a:off x="1393920" y="4223160"/>
            <a:ext cx="28047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--robot drone --help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5238720" y="4171680"/>
            <a:ext cx="2581560" cy="362520"/>
          </a:xfrm>
          <a:custGeom>
            <a:avLst/>
            <a:gdLst/>
            <a:ahLst/>
            <a:rect l="0" t="0" r="r" b="b"/>
            <a:pathLst>
              <a:path w="7171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7012" y="0"/>
                </a:lnTo>
                <a:cubicBezTo>
                  <a:pt x="7022" y="0"/>
                  <a:pt x="7033" y="1"/>
                  <a:pt x="7043" y="3"/>
                </a:cubicBezTo>
                <a:cubicBezTo>
                  <a:pt x="7053" y="5"/>
                  <a:pt x="7063" y="8"/>
                  <a:pt x="7073" y="12"/>
                </a:cubicBezTo>
                <a:cubicBezTo>
                  <a:pt x="7082" y="16"/>
                  <a:pt x="7092" y="21"/>
                  <a:pt x="7100" y="27"/>
                </a:cubicBezTo>
                <a:cubicBezTo>
                  <a:pt x="7109" y="33"/>
                  <a:pt x="7117" y="39"/>
                  <a:pt x="7124" y="47"/>
                </a:cubicBezTo>
                <a:cubicBezTo>
                  <a:pt x="7132" y="54"/>
                  <a:pt x="7138" y="62"/>
                  <a:pt x="7144" y="71"/>
                </a:cubicBezTo>
                <a:cubicBezTo>
                  <a:pt x="7150" y="79"/>
                  <a:pt x="7155" y="89"/>
                  <a:pt x="7159" y="98"/>
                </a:cubicBezTo>
                <a:cubicBezTo>
                  <a:pt x="7163" y="108"/>
                  <a:pt x="7166" y="118"/>
                  <a:pt x="7168" y="128"/>
                </a:cubicBezTo>
                <a:cubicBezTo>
                  <a:pt x="7170" y="138"/>
                  <a:pt x="7171" y="149"/>
                  <a:pt x="7171" y="159"/>
                </a:cubicBezTo>
                <a:lnTo>
                  <a:pt x="7171" y="847"/>
                </a:lnTo>
                <a:cubicBezTo>
                  <a:pt x="7171" y="857"/>
                  <a:pt x="7170" y="868"/>
                  <a:pt x="7168" y="878"/>
                </a:cubicBezTo>
                <a:cubicBezTo>
                  <a:pt x="7166" y="888"/>
                  <a:pt x="7163" y="898"/>
                  <a:pt x="7159" y="908"/>
                </a:cubicBezTo>
                <a:cubicBezTo>
                  <a:pt x="7155" y="917"/>
                  <a:pt x="7150" y="926"/>
                  <a:pt x="7144" y="935"/>
                </a:cubicBezTo>
                <a:cubicBezTo>
                  <a:pt x="7138" y="944"/>
                  <a:pt x="7132" y="952"/>
                  <a:pt x="7124" y="959"/>
                </a:cubicBezTo>
                <a:cubicBezTo>
                  <a:pt x="7117" y="967"/>
                  <a:pt x="7109" y="973"/>
                  <a:pt x="7100" y="980"/>
                </a:cubicBezTo>
                <a:cubicBezTo>
                  <a:pt x="7092" y="986"/>
                  <a:pt x="7082" y="991"/>
                  <a:pt x="7073" y="995"/>
                </a:cubicBezTo>
                <a:cubicBezTo>
                  <a:pt x="7063" y="999"/>
                  <a:pt x="7053" y="1002"/>
                  <a:pt x="7043" y="1004"/>
                </a:cubicBezTo>
                <a:cubicBezTo>
                  <a:pt x="7033" y="1006"/>
                  <a:pt x="7022" y="1007"/>
                  <a:pt x="7012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1" y="973"/>
                  <a:pt x="53" y="967"/>
                  <a:pt x="46" y="959"/>
                </a:cubicBezTo>
                <a:cubicBezTo>
                  <a:pt x="39" y="952"/>
                  <a:pt x="32" y="944"/>
                  <a:pt x="26" y="935"/>
                </a:cubicBezTo>
                <a:cubicBezTo>
                  <a:pt x="21" y="926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01" name=""/>
          <p:cNvSpPr txBox="1"/>
          <p:nvPr/>
        </p:nvSpPr>
        <p:spPr>
          <a:xfrm>
            <a:off x="4304880" y="4169520"/>
            <a:ext cx="9381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shows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5335560" y="4223160"/>
            <a:ext cx="2384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--takeoff-landing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7981920" y="4171680"/>
            <a:ext cx="2581560" cy="362520"/>
          </a:xfrm>
          <a:custGeom>
            <a:avLst/>
            <a:gdLst/>
            <a:ahLst/>
            <a:rect l="0" t="0" r="r" b="b"/>
            <a:pathLst>
              <a:path w="7171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7012" y="0"/>
                </a:lnTo>
                <a:cubicBezTo>
                  <a:pt x="7022" y="0"/>
                  <a:pt x="7033" y="1"/>
                  <a:pt x="7043" y="3"/>
                </a:cubicBezTo>
                <a:cubicBezTo>
                  <a:pt x="7053" y="5"/>
                  <a:pt x="7063" y="8"/>
                  <a:pt x="7073" y="12"/>
                </a:cubicBezTo>
                <a:cubicBezTo>
                  <a:pt x="7082" y="16"/>
                  <a:pt x="7092" y="21"/>
                  <a:pt x="7100" y="27"/>
                </a:cubicBezTo>
                <a:cubicBezTo>
                  <a:pt x="7109" y="33"/>
                  <a:pt x="7117" y="39"/>
                  <a:pt x="7124" y="47"/>
                </a:cubicBezTo>
                <a:cubicBezTo>
                  <a:pt x="7132" y="54"/>
                  <a:pt x="7138" y="62"/>
                  <a:pt x="7144" y="71"/>
                </a:cubicBezTo>
                <a:cubicBezTo>
                  <a:pt x="7150" y="79"/>
                  <a:pt x="7155" y="89"/>
                  <a:pt x="7159" y="98"/>
                </a:cubicBezTo>
                <a:cubicBezTo>
                  <a:pt x="7163" y="108"/>
                  <a:pt x="7166" y="118"/>
                  <a:pt x="7168" y="128"/>
                </a:cubicBezTo>
                <a:cubicBezTo>
                  <a:pt x="7170" y="138"/>
                  <a:pt x="7171" y="149"/>
                  <a:pt x="7171" y="159"/>
                </a:cubicBezTo>
                <a:lnTo>
                  <a:pt x="7171" y="847"/>
                </a:lnTo>
                <a:cubicBezTo>
                  <a:pt x="7171" y="857"/>
                  <a:pt x="7170" y="868"/>
                  <a:pt x="7168" y="878"/>
                </a:cubicBezTo>
                <a:cubicBezTo>
                  <a:pt x="7166" y="888"/>
                  <a:pt x="7163" y="898"/>
                  <a:pt x="7159" y="908"/>
                </a:cubicBezTo>
                <a:cubicBezTo>
                  <a:pt x="7155" y="917"/>
                  <a:pt x="7150" y="926"/>
                  <a:pt x="7144" y="935"/>
                </a:cubicBezTo>
                <a:cubicBezTo>
                  <a:pt x="7138" y="944"/>
                  <a:pt x="7132" y="952"/>
                  <a:pt x="7124" y="959"/>
                </a:cubicBezTo>
                <a:cubicBezTo>
                  <a:pt x="7117" y="967"/>
                  <a:pt x="7109" y="973"/>
                  <a:pt x="7100" y="980"/>
                </a:cubicBezTo>
                <a:cubicBezTo>
                  <a:pt x="7092" y="986"/>
                  <a:pt x="7082" y="991"/>
                  <a:pt x="7073" y="995"/>
                </a:cubicBezTo>
                <a:cubicBezTo>
                  <a:pt x="7063" y="999"/>
                  <a:pt x="7053" y="1002"/>
                  <a:pt x="7043" y="1004"/>
                </a:cubicBezTo>
                <a:cubicBezTo>
                  <a:pt x="7033" y="1006"/>
                  <a:pt x="7022" y="1007"/>
                  <a:pt x="7012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1" y="973"/>
                  <a:pt x="53" y="967"/>
                  <a:pt x="46" y="959"/>
                </a:cubicBezTo>
                <a:cubicBezTo>
                  <a:pt x="39" y="952"/>
                  <a:pt x="32" y="944"/>
                  <a:pt x="26" y="935"/>
                </a:cubicBezTo>
                <a:cubicBezTo>
                  <a:pt x="21" y="926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04" name=""/>
          <p:cNvSpPr txBox="1"/>
          <p:nvPr/>
        </p:nvSpPr>
        <p:spPr>
          <a:xfrm>
            <a:off x="7823880" y="41695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8071560" y="4223160"/>
            <a:ext cx="2384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--target-altitude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10715400" y="4171680"/>
            <a:ext cx="1314720" cy="362520"/>
          </a:xfrm>
          <a:custGeom>
            <a:avLst/>
            <a:gdLst/>
            <a:ahLst/>
            <a:rect l="0" t="0" r="r" b="b"/>
            <a:pathLst>
              <a:path w="3652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652" y="0"/>
                </a:lnTo>
                <a:lnTo>
                  <a:pt x="3652" y="1007"/>
                </a:ln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3"/>
                  <a:pt x="54" y="967"/>
                  <a:pt x="47" y="959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6"/>
                  <a:pt x="16" y="917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7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07" name=""/>
          <p:cNvSpPr txBox="1"/>
          <p:nvPr/>
        </p:nvSpPr>
        <p:spPr>
          <a:xfrm>
            <a:off x="10559880" y="416952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923760" y="4590720"/>
            <a:ext cx="1314720" cy="352800"/>
          </a:xfrm>
          <a:custGeom>
            <a:avLst/>
            <a:gdLst/>
            <a:ahLst/>
            <a:rect l="0" t="0" r="r" b="b"/>
            <a:pathLst>
              <a:path w="3652" h="980">
                <a:moveTo>
                  <a:pt x="0" y="980"/>
                </a:moveTo>
                <a:lnTo>
                  <a:pt x="0" y="0"/>
                </a:lnTo>
                <a:lnTo>
                  <a:pt x="3493" y="0"/>
                </a:lnTo>
                <a:cubicBezTo>
                  <a:pt x="3504" y="0"/>
                  <a:pt x="3514" y="1"/>
                  <a:pt x="3524" y="3"/>
                </a:cubicBezTo>
                <a:cubicBezTo>
                  <a:pt x="3535" y="5"/>
                  <a:pt x="3545" y="9"/>
                  <a:pt x="3554" y="12"/>
                </a:cubicBezTo>
                <a:cubicBezTo>
                  <a:pt x="3564" y="16"/>
                  <a:pt x="3573" y="21"/>
                  <a:pt x="3582" y="27"/>
                </a:cubicBezTo>
                <a:cubicBezTo>
                  <a:pt x="3590" y="33"/>
                  <a:pt x="3598" y="40"/>
                  <a:pt x="3606" y="47"/>
                </a:cubicBezTo>
                <a:cubicBezTo>
                  <a:pt x="3613" y="54"/>
                  <a:pt x="3620" y="62"/>
                  <a:pt x="3625" y="71"/>
                </a:cubicBezTo>
                <a:cubicBezTo>
                  <a:pt x="3631" y="80"/>
                  <a:pt x="3636" y="89"/>
                  <a:pt x="3640" y="98"/>
                </a:cubicBezTo>
                <a:cubicBezTo>
                  <a:pt x="3644" y="108"/>
                  <a:pt x="3647" y="118"/>
                  <a:pt x="3649" y="128"/>
                </a:cubicBezTo>
                <a:cubicBezTo>
                  <a:pt x="3651" y="138"/>
                  <a:pt x="3652" y="149"/>
                  <a:pt x="3652" y="159"/>
                </a:cubicBezTo>
                <a:lnTo>
                  <a:pt x="3652" y="822"/>
                </a:lnTo>
                <a:cubicBezTo>
                  <a:pt x="3652" y="832"/>
                  <a:pt x="3651" y="842"/>
                  <a:pt x="3649" y="853"/>
                </a:cubicBezTo>
                <a:cubicBezTo>
                  <a:pt x="3647" y="863"/>
                  <a:pt x="3644" y="873"/>
                  <a:pt x="3640" y="882"/>
                </a:cubicBezTo>
                <a:cubicBezTo>
                  <a:pt x="3636" y="892"/>
                  <a:pt x="3631" y="901"/>
                  <a:pt x="3625" y="910"/>
                </a:cubicBezTo>
                <a:cubicBezTo>
                  <a:pt x="3620" y="918"/>
                  <a:pt x="3613" y="927"/>
                  <a:pt x="3606" y="934"/>
                </a:cubicBezTo>
                <a:cubicBezTo>
                  <a:pt x="3598" y="941"/>
                  <a:pt x="3590" y="948"/>
                  <a:pt x="3582" y="954"/>
                </a:cubicBezTo>
                <a:cubicBezTo>
                  <a:pt x="3573" y="959"/>
                  <a:pt x="3564" y="964"/>
                  <a:pt x="3554" y="968"/>
                </a:cubicBezTo>
                <a:cubicBezTo>
                  <a:pt x="3545" y="972"/>
                  <a:pt x="3535" y="975"/>
                  <a:pt x="3524" y="977"/>
                </a:cubicBezTo>
                <a:cubicBezTo>
                  <a:pt x="3514" y="979"/>
                  <a:pt x="3504" y="980"/>
                  <a:pt x="3493" y="980"/>
                </a:cubicBezTo>
                <a:lnTo>
                  <a:pt x="0" y="980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09" name=""/>
          <p:cNvSpPr txBox="1"/>
          <p:nvPr/>
        </p:nvSpPr>
        <p:spPr>
          <a:xfrm>
            <a:off x="10807200" y="4223160"/>
            <a:ext cx="281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076040" y="5190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5" y="192"/>
                  <a:pt x="204" y="204"/>
                </a:cubicBezTo>
                <a:cubicBezTo>
                  <a:pt x="192" y="215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1111" name=""/>
          <p:cNvSpPr/>
          <p:nvPr/>
        </p:nvSpPr>
        <p:spPr>
          <a:xfrm>
            <a:off x="1304640" y="5067000"/>
            <a:ext cx="3000960" cy="362520"/>
          </a:xfrm>
          <a:custGeom>
            <a:avLst/>
            <a:gdLst/>
            <a:ahLst/>
            <a:rect l="0" t="0" r="r" b="b"/>
            <a:pathLst>
              <a:path w="8336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177" y="0"/>
                </a:lnTo>
                <a:cubicBezTo>
                  <a:pt x="8187" y="0"/>
                  <a:pt x="8198" y="1"/>
                  <a:pt x="8208" y="3"/>
                </a:cubicBezTo>
                <a:cubicBezTo>
                  <a:pt x="8218" y="5"/>
                  <a:pt x="8228" y="8"/>
                  <a:pt x="8238" y="12"/>
                </a:cubicBezTo>
                <a:cubicBezTo>
                  <a:pt x="8247" y="16"/>
                  <a:pt x="8256" y="21"/>
                  <a:pt x="8265" y="27"/>
                </a:cubicBezTo>
                <a:cubicBezTo>
                  <a:pt x="8274" y="33"/>
                  <a:pt x="8282" y="39"/>
                  <a:pt x="8289" y="47"/>
                </a:cubicBezTo>
                <a:cubicBezTo>
                  <a:pt x="8297" y="54"/>
                  <a:pt x="8303" y="62"/>
                  <a:pt x="8309" y="71"/>
                </a:cubicBezTo>
                <a:cubicBezTo>
                  <a:pt x="8315" y="80"/>
                  <a:pt x="8320" y="89"/>
                  <a:pt x="8324" y="98"/>
                </a:cubicBezTo>
                <a:cubicBezTo>
                  <a:pt x="8328" y="108"/>
                  <a:pt x="8331" y="118"/>
                  <a:pt x="8333" y="128"/>
                </a:cubicBezTo>
                <a:cubicBezTo>
                  <a:pt x="8335" y="138"/>
                  <a:pt x="8336" y="149"/>
                  <a:pt x="8336" y="159"/>
                </a:cubicBezTo>
                <a:lnTo>
                  <a:pt x="8336" y="848"/>
                </a:lnTo>
                <a:cubicBezTo>
                  <a:pt x="8336" y="858"/>
                  <a:pt x="8335" y="869"/>
                  <a:pt x="8333" y="879"/>
                </a:cubicBezTo>
                <a:cubicBezTo>
                  <a:pt x="8331" y="889"/>
                  <a:pt x="8328" y="899"/>
                  <a:pt x="8324" y="909"/>
                </a:cubicBezTo>
                <a:cubicBezTo>
                  <a:pt x="8320" y="918"/>
                  <a:pt x="8315" y="928"/>
                  <a:pt x="8309" y="936"/>
                </a:cubicBezTo>
                <a:cubicBezTo>
                  <a:pt x="8303" y="945"/>
                  <a:pt x="8297" y="953"/>
                  <a:pt x="8289" y="960"/>
                </a:cubicBezTo>
                <a:cubicBezTo>
                  <a:pt x="8282" y="968"/>
                  <a:pt x="8274" y="974"/>
                  <a:pt x="8265" y="980"/>
                </a:cubicBezTo>
                <a:cubicBezTo>
                  <a:pt x="8256" y="986"/>
                  <a:pt x="8247" y="991"/>
                  <a:pt x="8238" y="995"/>
                </a:cubicBezTo>
                <a:cubicBezTo>
                  <a:pt x="8228" y="999"/>
                  <a:pt x="8218" y="1002"/>
                  <a:pt x="8208" y="1004"/>
                </a:cubicBezTo>
                <a:cubicBezTo>
                  <a:pt x="8198" y="1006"/>
                  <a:pt x="8187" y="1007"/>
                  <a:pt x="8177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12" name=""/>
          <p:cNvSpPr txBox="1"/>
          <p:nvPr/>
        </p:nvSpPr>
        <p:spPr>
          <a:xfrm>
            <a:off x="1300320" y="4642200"/>
            <a:ext cx="842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serial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13" name=""/>
          <p:cNvSpPr txBox="1"/>
          <p:nvPr/>
        </p:nvSpPr>
        <p:spPr>
          <a:xfrm>
            <a:off x="1393920" y="5118480"/>
            <a:ext cx="28047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--robot rover --help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5238720" y="5067000"/>
            <a:ext cx="2305080" cy="362520"/>
          </a:xfrm>
          <a:custGeom>
            <a:avLst/>
            <a:gdLst/>
            <a:ahLst/>
            <a:rect l="0" t="0" r="r" b="b"/>
            <a:pathLst>
              <a:path w="6403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6245" y="0"/>
                </a:lnTo>
                <a:cubicBezTo>
                  <a:pt x="6255" y="0"/>
                  <a:pt x="6265" y="1"/>
                  <a:pt x="6276" y="3"/>
                </a:cubicBezTo>
                <a:cubicBezTo>
                  <a:pt x="6286" y="5"/>
                  <a:pt x="6296" y="8"/>
                  <a:pt x="6305" y="12"/>
                </a:cubicBezTo>
                <a:cubicBezTo>
                  <a:pt x="6315" y="16"/>
                  <a:pt x="6324" y="21"/>
                  <a:pt x="6333" y="27"/>
                </a:cubicBezTo>
                <a:cubicBezTo>
                  <a:pt x="6342" y="33"/>
                  <a:pt x="6350" y="39"/>
                  <a:pt x="6357" y="47"/>
                </a:cubicBezTo>
                <a:cubicBezTo>
                  <a:pt x="6364" y="54"/>
                  <a:pt x="6371" y="62"/>
                  <a:pt x="6377" y="71"/>
                </a:cubicBezTo>
                <a:cubicBezTo>
                  <a:pt x="6383" y="80"/>
                  <a:pt x="6387" y="89"/>
                  <a:pt x="6391" y="98"/>
                </a:cubicBezTo>
                <a:cubicBezTo>
                  <a:pt x="6395" y="108"/>
                  <a:pt x="6398" y="118"/>
                  <a:pt x="6400" y="128"/>
                </a:cubicBezTo>
                <a:cubicBezTo>
                  <a:pt x="6402" y="138"/>
                  <a:pt x="6403" y="149"/>
                  <a:pt x="6403" y="159"/>
                </a:cubicBezTo>
                <a:lnTo>
                  <a:pt x="6403" y="848"/>
                </a:lnTo>
                <a:cubicBezTo>
                  <a:pt x="6403" y="858"/>
                  <a:pt x="6402" y="869"/>
                  <a:pt x="6400" y="879"/>
                </a:cubicBezTo>
                <a:cubicBezTo>
                  <a:pt x="6398" y="889"/>
                  <a:pt x="6395" y="899"/>
                  <a:pt x="6391" y="909"/>
                </a:cubicBezTo>
                <a:cubicBezTo>
                  <a:pt x="6387" y="918"/>
                  <a:pt x="6383" y="928"/>
                  <a:pt x="6377" y="936"/>
                </a:cubicBezTo>
                <a:cubicBezTo>
                  <a:pt x="6371" y="945"/>
                  <a:pt x="6364" y="953"/>
                  <a:pt x="6357" y="960"/>
                </a:cubicBezTo>
                <a:cubicBezTo>
                  <a:pt x="6350" y="968"/>
                  <a:pt x="6342" y="974"/>
                  <a:pt x="6333" y="980"/>
                </a:cubicBezTo>
                <a:cubicBezTo>
                  <a:pt x="6324" y="986"/>
                  <a:pt x="6315" y="991"/>
                  <a:pt x="6305" y="995"/>
                </a:cubicBezTo>
                <a:cubicBezTo>
                  <a:pt x="6296" y="999"/>
                  <a:pt x="6286" y="1002"/>
                  <a:pt x="6276" y="1004"/>
                </a:cubicBezTo>
                <a:cubicBezTo>
                  <a:pt x="6265" y="1006"/>
                  <a:pt x="6255" y="1007"/>
                  <a:pt x="6245" y="1007"/>
                </a:cubicBezTo>
                <a:lnTo>
                  <a:pt x="158" y="1007"/>
                </a:lnTo>
                <a:cubicBezTo>
                  <a:pt x="148" y="1007"/>
                  <a:pt x="138" y="1006"/>
                  <a:pt x="127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1" y="974"/>
                  <a:pt x="53" y="968"/>
                  <a:pt x="46" y="960"/>
                </a:cubicBezTo>
                <a:cubicBezTo>
                  <a:pt x="39" y="953"/>
                  <a:pt x="32" y="945"/>
                  <a:pt x="26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15" name=""/>
          <p:cNvSpPr txBox="1"/>
          <p:nvPr/>
        </p:nvSpPr>
        <p:spPr>
          <a:xfrm>
            <a:off x="4304880" y="5064840"/>
            <a:ext cx="9381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shows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5335560" y="5118480"/>
            <a:ext cx="2103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--cmd-vel-topic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7696080" y="5067000"/>
            <a:ext cx="2295720" cy="362520"/>
          </a:xfrm>
          <a:custGeom>
            <a:avLst/>
            <a:gdLst/>
            <a:ahLst/>
            <a:rect l="0" t="0" r="r" b="b"/>
            <a:pathLst>
              <a:path w="6377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219" y="0"/>
                </a:lnTo>
                <a:cubicBezTo>
                  <a:pt x="6229" y="0"/>
                  <a:pt x="6239" y="1"/>
                  <a:pt x="6250" y="3"/>
                </a:cubicBezTo>
                <a:cubicBezTo>
                  <a:pt x="6260" y="5"/>
                  <a:pt x="6270" y="8"/>
                  <a:pt x="6279" y="12"/>
                </a:cubicBezTo>
                <a:cubicBezTo>
                  <a:pt x="6289" y="16"/>
                  <a:pt x="6298" y="21"/>
                  <a:pt x="6307" y="27"/>
                </a:cubicBezTo>
                <a:cubicBezTo>
                  <a:pt x="6315" y="33"/>
                  <a:pt x="6323" y="39"/>
                  <a:pt x="6331" y="47"/>
                </a:cubicBezTo>
                <a:cubicBezTo>
                  <a:pt x="6338" y="54"/>
                  <a:pt x="6345" y="62"/>
                  <a:pt x="6351" y="71"/>
                </a:cubicBezTo>
                <a:cubicBezTo>
                  <a:pt x="6356" y="80"/>
                  <a:pt x="6361" y="89"/>
                  <a:pt x="6365" y="98"/>
                </a:cubicBezTo>
                <a:cubicBezTo>
                  <a:pt x="6369" y="108"/>
                  <a:pt x="6372" y="118"/>
                  <a:pt x="6374" y="128"/>
                </a:cubicBezTo>
                <a:cubicBezTo>
                  <a:pt x="6376" y="138"/>
                  <a:pt x="6377" y="149"/>
                  <a:pt x="6377" y="159"/>
                </a:cubicBezTo>
                <a:lnTo>
                  <a:pt x="6377" y="848"/>
                </a:lnTo>
                <a:cubicBezTo>
                  <a:pt x="6377" y="858"/>
                  <a:pt x="6376" y="869"/>
                  <a:pt x="6374" y="879"/>
                </a:cubicBezTo>
                <a:cubicBezTo>
                  <a:pt x="6372" y="889"/>
                  <a:pt x="6369" y="899"/>
                  <a:pt x="6365" y="909"/>
                </a:cubicBezTo>
                <a:cubicBezTo>
                  <a:pt x="6361" y="918"/>
                  <a:pt x="6356" y="928"/>
                  <a:pt x="6351" y="936"/>
                </a:cubicBezTo>
                <a:cubicBezTo>
                  <a:pt x="6345" y="945"/>
                  <a:pt x="6338" y="953"/>
                  <a:pt x="6331" y="960"/>
                </a:cubicBezTo>
                <a:cubicBezTo>
                  <a:pt x="6323" y="968"/>
                  <a:pt x="6315" y="974"/>
                  <a:pt x="6307" y="980"/>
                </a:cubicBezTo>
                <a:cubicBezTo>
                  <a:pt x="6298" y="986"/>
                  <a:pt x="6289" y="991"/>
                  <a:pt x="6279" y="995"/>
                </a:cubicBezTo>
                <a:cubicBezTo>
                  <a:pt x="6270" y="999"/>
                  <a:pt x="6260" y="1002"/>
                  <a:pt x="6250" y="1004"/>
                </a:cubicBezTo>
                <a:cubicBezTo>
                  <a:pt x="6239" y="1006"/>
                  <a:pt x="6229" y="1007"/>
                  <a:pt x="6219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18" name=""/>
          <p:cNvSpPr txBox="1"/>
          <p:nvPr/>
        </p:nvSpPr>
        <p:spPr>
          <a:xfrm>
            <a:off x="7542000" y="50648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7789680" y="5118480"/>
            <a:ext cx="2103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--ros-namespace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10153440" y="5067000"/>
            <a:ext cx="2296080" cy="362520"/>
          </a:xfrm>
          <a:custGeom>
            <a:avLst/>
            <a:gdLst/>
            <a:ahLst/>
            <a:rect l="0" t="0" r="r" b="b"/>
            <a:pathLst>
              <a:path w="6378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378" y="0"/>
                </a:lnTo>
                <a:lnTo>
                  <a:pt x="6378" y="1007"/>
                </a:ln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8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21" name=""/>
          <p:cNvSpPr txBox="1"/>
          <p:nvPr/>
        </p:nvSpPr>
        <p:spPr>
          <a:xfrm>
            <a:off x="9996480" y="50648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,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361800" y="5486040"/>
            <a:ext cx="2295720" cy="362520"/>
          </a:xfrm>
          <a:custGeom>
            <a:avLst/>
            <a:gdLst/>
            <a:ahLst/>
            <a:rect l="0" t="0" r="r" b="b"/>
            <a:pathLst>
              <a:path w="6377" h="1007">
                <a:moveTo>
                  <a:pt x="0" y="1007"/>
                </a:moveTo>
                <a:lnTo>
                  <a:pt x="0" y="0"/>
                </a:lnTo>
                <a:lnTo>
                  <a:pt x="6219" y="0"/>
                </a:lnTo>
                <a:cubicBezTo>
                  <a:pt x="6229" y="0"/>
                  <a:pt x="6239" y="2"/>
                  <a:pt x="6250" y="4"/>
                </a:cubicBezTo>
                <a:cubicBezTo>
                  <a:pt x="6260" y="6"/>
                  <a:pt x="6270" y="9"/>
                  <a:pt x="6279" y="13"/>
                </a:cubicBezTo>
                <a:cubicBezTo>
                  <a:pt x="6289" y="17"/>
                  <a:pt x="6298" y="21"/>
                  <a:pt x="6307" y="27"/>
                </a:cubicBezTo>
                <a:cubicBezTo>
                  <a:pt x="6315" y="33"/>
                  <a:pt x="6324" y="40"/>
                  <a:pt x="6331" y="47"/>
                </a:cubicBezTo>
                <a:cubicBezTo>
                  <a:pt x="6338" y="54"/>
                  <a:pt x="6345" y="62"/>
                  <a:pt x="6351" y="71"/>
                </a:cubicBezTo>
                <a:cubicBezTo>
                  <a:pt x="6356" y="80"/>
                  <a:pt x="6361" y="89"/>
                  <a:pt x="6365" y="98"/>
                </a:cubicBezTo>
                <a:cubicBezTo>
                  <a:pt x="6369" y="108"/>
                  <a:pt x="6372" y="118"/>
                  <a:pt x="6374" y="128"/>
                </a:cubicBezTo>
                <a:cubicBezTo>
                  <a:pt x="6376" y="139"/>
                  <a:pt x="6377" y="149"/>
                  <a:pt x="6377" y="159"/>
                </a:cubicBezTo>
                <a:lnTo>
                  <a:pt x="6377" y="848"/>
                </a:lnTo>
                <a:cubicBezTo>
                  <a:pt x="6377" y="859"/>
                  <a:pt x="6376" y="869"/>
                  <a:pt x="6374" y="879"/>
                </a:cubicBezTo>
                <a:cubicBezTo>
                  <a:pt x="6372" y="889"/>
                  <a:pt x="6369" y="899"/>
                  <a:pt x="6365" y="909"/>
                </a:cubicBezTo>
                <a:cubicBezTo>
                  <a:pt x="6361" y="919"/>
                  <a:pt x="6356" y="928"/>
                  <a:pt x="6351" y="936"/>
                </a:cubicBezTo>
                <a:cubicBezTo>
                  <a:pt x="6345" y="945"/>
                  <a:pt x="6338" y="953"/>
                  <a:pt x="6331" y="960"/>
                </a:cubicBezTo>
                <a:cubicBezTo>
                  <a:pt x="6324" y="968"/>
                  <a:pt x="6315" y="974"/>
                  <a:pt x="6307" y="980"/>
                </a:cubicBezTo>
                <a:cubicBezTo>
                  <a:pt x="6298" y="986"/>
                  <a:pt x="6289" y="991"/>
                  <a:pt x="6279" y="995"/>
                </a:cubicBezTo>
                <a:cubicBezTo>
                  <a:pt x="6270" y="999"/>
                  <a:pt x="6260" y="1002"/>
                  <a:pt x="6250" y="1004"/>
                </a:cubicBezTo>
                <a:cubicBezTo>
                  <a:pt x="6239" y="1006"/>
                  <a:pt x="6229" y="1007"/>
                  <a:pt x="6219" y="1007"/>
                </a:cubicBezTo>
                <a:lnTo>
                  <a:pt x="0" y="1007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23" name=""/>
          <p:cNvSpPr txBox="1"/>
          <p:nvPr/>
        </p:nvSpPr>
        <p:spPr>
          <a:xfrm>
            <a:off x="10243800" y="5118480"/>
            <a:ext cx="842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--ros-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1076040" y="6086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5" y="193"/>
                  <a:pt x="204" y="205"/>
                </a:cubicBezTo>
                <a:cubicBezTo>
                  <a:pt x="192" y="216"/>
                  <a:pt x="180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4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4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80" y="15"/>
                  <a:pt x="192" y="24"/>
                  <a:pt x="204" y="35"/>
                </a:cubicBezTo>
                <a:cubicBezTo>
                  <a:pt x="215" y="46"/>
                  <a:pt x="223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</p:sp>
      <p:sp>
        <p:nvSpPr>
          <p:cNvPr id="1125" name=""/>
          <p:cNvSpPr txBox="1"/>
          <p:nvPr/>
        </p:nvSpPr>
        <p:spPr>
          <a:xfrm>
            <a:off x="1300320" y="5537880"/>
            <a:ext cx="1262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domain-id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1300320" y="5960160"/>
            <a:ext cx="98686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Folds into the existing pre-parse stack (output flags, ReID, tracker) — CLEAN-12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1300320" y="6379560"/>
            <a:ext cx="4453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collapses all of those into one stage.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27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3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32" name=""/>
          <p:cNvSpPr/>
          <p:nvPr/>
        </p:nvSpPr>
        <p:spPr>
          <a:xfrm>
            <a:off x="757080" y="1461960"/>
            <a:ext cx="10687320" cy="4638960"/>
          </a:xfrm>
          <a:custGeom>
            <a:avLst/>
            <a:gdLst/>
            <a:ahLst/>
            <a:rect l="0" t="0" r="r" b="b"/>
            <a:pathLst>
              <a:path w="29687" h="12886">
                <a:moveTo>
                  <a:pt x="0" y="127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741"/>
                </a:lnTo>
                <a:cubicBezTo>
                  <a:pt x="29687" y="12750"/>
                  <a:pt x="29686" y="12760"/>
                  <a:pt x="29684" y="12769"/>
                </a:cubicBezTo>
                <a:cubicBezTo>
                  <a:pt x="29683" y="12778"/>
                  <a:pt x="29680" y="12787"/>
                  <a:pt x="29676" y="12796"/>
                </a:cubicBezTo>
                <a:cubicBezTo>
                  <a:pt x="29672" y="12805"/>
                  <a:pt x="29668" y="12813"/>
                  <a:pt x="29663" y="12821"/>
                </a:cubicBezTo>
                <a:cubicBezTo>
                  <a:pt x="29657" y="12829"/>
                  <a:pt x="29651" y="12837"/>
                  <a:pt x="29645" y="12843"/>
                </a:cubicBezTo>
                <a:cubicBezTo>
                  <a:pt x="29638" y="12850"/>
                  <a:pt x="29630" y="12856"/>
                  <a:pt x="29623" y="12862"/>
                </a:cubicBezTo>
                <a:cubicBezTo>
                  <a:pt x="29615" y="12867"/>
                  <a:pt x="29606" y="12871"/>
                  <a:pt x="29597" y="12875"/>
                </a:cubicBezTo>
                <a:cubicBezTo>
                  <a:pt x="29589" y="12879"/>
                  <a:pt x="29579" y="12881"/>
                  <a:pt x="29570" y="12883"/>
                </a:cubicBezTo>
                <a:cubicBezTo>
                  <a:pt x="29561" y="12885"/>
                  <a:pt x="29551" y="12886"/>
                  <a:pt x="29542" y="12886"/>
                </a:cubicBezTo>
                <a:lnTo>
                  <a:pt x="145" y="12886"/>
                </a:lnTo>
                <a:cubicBezTo>
                  <a:pt x="136" y="12886"/>
                  <a:pt x="126" y="12885"/>
                  <a:pt x="117" y="12883"/>
                </a:cubicBezTo>
                <a:cubicBezTo>
                  <a:pt x="108" y="12881"/>
                  <a:pt x="99" y="12879"/>
                  <a:pt x="90" y="12875"/>
                </a:cubicBezTo>
                <a:cubicBezTo>
                  <a:pt x="81" y="12871"/>
                  <a:pt x="73" y="12867"/>
                  <a:pt x="65" y="12862"/>
                </a:cubicBezTo>
                <a:cubicBezTo>
                  <a:pt x="57" y="12856"/>
                  <a:pt x="49" y="12850"/>
                  <a:pt x="43" y="12843"/>
                </a:cubicBezTo>
                <a:cubicBezTo>
                  <a:pt x="36" y="12837"/>
                  <a:pt x="30" y="12829"/>
                  <a:pt x="24" y="12821"/>
                </a:cubicBezTo>
                <a:cubicBezTo>
                  <a:pt x="19" y="12813"/>
                  <a:pt x="15" y="12805"/>
                  <a:pt x="11" y="12796"/>
                </a:cubicBezTo>
                <a:cubicBezTo>
                  <a:pt x="7" y="12787"/>
                  <a:pt x="5" y="12778"/>
                  <a:pt x="3" y="12769"/>
                </a:cubicBezTo>
                <a:cubicBezTo>
                  <a:pt x="1" y="12760"/>
                  <a:pt x="0" y="12750"/>
                  <a:pt x="0" y="1274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133" name=""/>
          <p:cNvSpPr/>
          <p:nvPr/>
        </p:nvSpPr>
        <p:spPr>
          <a:xfrm>
            <a:off x="757080" y="1461960"/>
            <a:ext cx="10687320" cy="4638960"/>
          </a:xfrm>
          <a:custGeom>
            <a:avLst/>
            <a:gdLst/>
            <a:ahLst/>
            <a:rect l="0" t="0" r="r" b="b"/>
            <a:pathLst>
              <a:path w="29687" h="12886">
                <a:moveTo>
                  <a:pt x="0" y="127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741"/>
                </a:lnTo>
                <a:cubicBezTo>
                  <a:pt x="29687" y="12750"/>
                  <a:pt x="29686" y="12760"/>
                  <a:pt x="29684" y="12769"/>
                </a:cubicBezTo>
                <a:cubicBezTo>
                  <a:pt x="29683" y="12778"/>
                  <a:pt x="29680" y="12787"/>
                  <a:pt x="29676" y="12796"/>
                </a:cubicBezTo>
                <a:cubicBezTo>
                  <a:pt x="29672" y="12805"/>
                  <a:pt x="29668" y="12813"/>
                  <a:pt x="29663" y="12821"/>
                </a:cubicBezTo>
                <a:cubicBezTo>
                  <a:pt x="29657" y="12829"/>
                  <a:pt x="29651" y="12837"/>
                  <a:pt x="29645" y="12843"/>
                </a:cubicBezTo>
                <a:cubicBezTo>
                  <a:pt x="29638" y="12850"/>
                  <a:pt x="29630" y="12856"/>
                  <a:pt x="29623" y="12862"/>
                </a:cubicBezTo>
                <a:cubicBezTo>
                  <a:pt x="29615" y="12867"/>
                  <a:pt x="29606" y="12871"/>
                  <a:pt x="29597" y="12875"/>
                </a:cubicBezTo>
                <a:cubicBezTo>
                  <a:pt x="29589" y="12879"/>
                  <a:pt x="29579" y="12881"/>
                  <a:pt x="29570" y="12883"/>
                </a:cubicBezTo>
                <a:cubicBezTo>
                  <a:pt x="29561" y="12885"/>
                  <a:pt x="29551" y="12886"/>
                  <a:pt x="29542" y="12886"/>
                </a:cubicBezTo>
                <a:lnTo>
                  <a:pt x="145" y="12886"/>
                </a:lnTo>
                <a:cubicBezTo>
                  <a:pt x="136" y="12886"/>
                  <a:pt x="126" y="12885"/>
                  <a:pt x="117" y="12883"/>
                </a:cubicBezTo>
                <a:cubicBezTo>
                  <a:pt x="108" y="12881"/>
                  <a:pt x="99" y="12879"/>
                  <a:pt x="90" y="12875"/>
                </a:cubicBezTo>
                <a:cubicBezTo>
                  <a:pt x="81" y="12871"/>
                  <a:pt x="73" y="12867"/>
                  <a:pt x="65" y="12862"/>
                </a:cubicBezTo>
                <a:cubicBezTo>
                  <a:pt x="57" y="12856"/>
                  <a:pt x="49" y="12850"/>
                  <a:pt x="43" y="12843"/>
                </a:cubicBezTo>
                <a:cubicBezTo>
                  <a:pt x="36" y="12837"/>
                  <a:pt x="30" y="12829"/>
                  <a:pt x="24" y="12821"/>
                </a:cubicBezTo>
                <a:cubicBezTo>
                  <a:pt x="19" y="12813"/>
                  <a:pt x="15" y="12805"/>
                  <a:pt x="11" y="12796"/>
                </a:cubicBezTo>
                <a:cubicBezTo>
                  <a:pt x="7" y="12787"/>
                  <a:pt x="5" y="12778"/>
                  <a:pt x="3" y="12769"/>
                </a:cubicBezTo>
                <a:cubicBezTo>
                  <a:pt x="1" y="12760"/>
                  <a:pt x="0" y="12750"/>
                  <a:pt x="0" y="1274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134" name=""/>
          <p:cNvSpPr/>
          <p:nvPr/>
        </p:nvSpPr>
        <p:spPr>
          <a:xfrm>
            <a:off x="757080" y="6262560"/>
            <a:ext cx="10687320" cy="1571760"/>
          </a:xfrm>
          <a:custGeom>
            <a:avLst/>
            <a:gdLst/>
            <a:ahLst/>
            <a:rect l="0" t="0" r="r" b="b"/>
            <a:pathLst>
              <a:path w="29687" h="4366">
                <a:moveTo>
                  <a:pt x="0" y="422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221"/>
                </a:lnTo>
                <a:cubicBezTo>
                  <a:pt x="29687" y="4231"/>
                  <a:pt x="29686" y="4240"/>
                  <a:pt x="29684" y="4249"/>
                </a:cubicBezTo>
                <a:cubicBezTo>
                  <a:pt x="29683" y="4259"/>
                  <a:pt x="29680" y="4268"/>
                  <a:pt x="29676" y="4277"/>
                </a:cubicBezTo>
                <a:cubicBezTo>
                  <a:pt x="29672" y="4285"/>
                  <a:pt x="29668" y="4294"/>
                  <a:pt x="29663" y="4302"/>
                </a:cubicBezTo>
                <a:cubicBezTo>
                  <a:pt x="29657" y="4310"/>
                  <a:pt x="29651" y="4317"/>
                  <a:pt x="29645" y="4324"/>
                </a:cubicBezTo>
                <a:cubicBezTo>
                  <a:pt x="29638" y="4331"/>
                  <a:pt x="29630" y="4337"/>
                  <a:pt x="29623" y="4342"/>
                </a:cubicBezTo>
                <a:cubicBezTo>
                  <a:pt x="29615" y="4347"/>
                  <a:pt x="29606" y="4352"/>
                  <a:pt x="29597" y="4355"/>
                </a:cubicBezTo>
                <a:cubicBezTo>
                  <a:pt x="29589" y="4359"/>
                  <a:pt x="29579" y="4362"/>
                  <a:pt x="29570" y="4364"/>
                </a:cubicBezTo>
                <a:cubicBezTo>
                  <a:pt x="29561" y="4366"/>
                  <a:pt x="29551" y="4366"/>
                  <a:pt x="29542" y="4366"/>
                </a:cubicBezTo>
                <a:lnTo>
                  <a:pt x="145" y="4366"/>
                </a:lnTo>
                <a:cubicBezTo>
                  <a:pt x="136" y="4366"/>
                  <a:pt x="126" y="4366"/>
                  <a:pt x="117" y="4364"/>
                </a:cubicBezTo>
                <a:cubicBezTo>
                  <a:pt x="108" y="4362"/>
                  <a:pt x="99" y="4359"/>
                  <a:pt x="90" y="4355"/>
                </a:cubicBezTo>
                <a:cubicBezTo>
                  <a:pt x="81" y="4352"/>
                  <a:pt x="73" y="4347"/>
                  <a:pt x="65" y="4342"/>
                </a:cubicBezTo>
                <a:cubicBezTo>
                  <a:pt x="57" y="4337"/>
                  <a:pt x="49" y="4331"/>
                  <a:pt x="43" y="4324"/>
                </a:cubicBezTo>
                <a:cubicBezTo>
                  <a:pt x="36" y="4317"/>
                  <a:pt x="30" y="4310"/>
                  <a:pt x="24" y="4302"/>
                </a:cubicBezTo>
                <a:cubicBezTo>
                  <a:pt x="19" y="4294"/>
                  <a:pt x="15" y="4285"/>
                  <a:pt x="11" y="4277"/>
                </a:cubicBezTo>
                <a:cubicBezTo>
                  <a:pt x="7" y="4268"/>
                  <a:pt x="5" y="4259"/>
                  <a:pt x="3" y="4249"/>
                </a:cubicBezTo>
                <a:cubicBezTo>
                  <a:pt x="1" y="4240"/>
                  <a:pt x="0" y="4231"/>
                  <a:pt x="0" y="422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135" name=""/>
          <p:cNvSpPr/>
          <p:nvPr/>
        </p:nvSpPr>
        <p:spPr>
          <a:xfrm>
            <a:off x="757080" y="6262560"/>
            <a:ext cx="10687320" cy="1571760"/>
          </a:xfrm>
          <a:custGeom>
            <a:avLst/>
            <a:gdLst/>
            <a:ahLst/>
            <a:rect l="0" t="0" r="r" b="b"/>
            <a:pathLst>
              <a:path w="29687" h="4366">
                <a:moveTo>
                  <a:pt x="0" y="422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221"/>
                </a:lnTo>
                <a:cubicBezTo>
                  <a:pt x="29687" y="4231"/>
                  <a:pt x="29686" y="4240"/>
                  <a:pt x="29684" y="4249"/>
                </a:cubicBezTo>
                <a:cubicBezTo>
                  <a:pt x="29683" y="4259"/>
                  <a:pt x="29680" y="4268"/>
                  <a:pt x="29676" y="4277"/>
                </a:cubicBezTo>
                <a:cubicBezTo>
                  <a:pt x="29672" y="4285"/>
                  <a:pt x="29668" y="4294"/>
                  <a:pt x="29663" y="4302"/>
                </a:cubicBezTo>
                <a:cubicBezTo>
                  <a:pt x="29657" y="4310"/>
                  <a:pt x="29651" y="4317"/>
                  <a:pt x="29645" y="4324"/>
                </a:cubicBezTo>
                <a:cubicBezTo>
                  <a:pt x="29638" y="4331"/>
                  <a:pt x="29630" y="4337"/>
                  <a:pt x="29623" y="4342"/>
                </a:cubicBezTo>
                <a:cubicBezTo>
                  <a:pt x="29615" y="4347"/>
                  <a:pt x="29606" y="4352"/>
                  <a:pt x="29597" y="4355"/>
                </a:cubicBezTo>
                <a:cubicBezTo>
                  <a:pt x="29589" y="4359"/>
                  <a:pt x="29579" y="4362"/>
                  <a:pt x="29570" y="4364"/>
                </a:cubicBezTo>
                <a:cubicBezTo>
                  <a:pt x="29561" y="4366"/>
                  <a:pt x="29551" y="4366"/>
                  <a:pt x="29542" y="4366"/>
                </a:cubicBezTo>
                <a:lnTo>
                  <a:pt x="145" y="4366"/>
                </a:lnTo>
                <a:cubicBezTo>
                  <a:pt x="136" y="4366"/>
                  <a:pt x="126" y="4366"/>
                  <a:pt x="117" y="4364"/>
                </a:cubicBezTo>
                <a:cubicBezTo>
                  <a:pt x="108" y="4362"/>
                  <a:pt x="99" y="4359"/>
                  <a:pt x="90" y="4355"/>
                </a:cubicBezTo>
                <a:cubicBezTo>
                  <a:pt x="81" y="4352"/>
                  <a:pt x="73" y="4347"/>
                  <a:pt x="65" y="4342"/>
                </a:cubicBezTo>
                <a:cubicBezTo>
                  <a:pt x="57" y="4337"/>
                  <a:pt x="49" y="4331"/>
                  <a:pt x="43" y="4324"/>
                </a:cubicBezTo>
                <a:cubicBezTo>
                  <a:pt x="36" y="4317"/>
                  <a:pt x="30" y="4310"/>
                  <a:pt x="24" y="4302"/>
                </a:cubicBezTo>
                <a:cubicBezTo>
                  <a:pt x="19" y="4294"/>
                  <a:pt x="15" y="4285"/>
                  <a:pt x="11" y="4277"/>
                </a:cubicBezTo>
                <a:cubicBezTo>
                  <a:pt x="7" y="4268"/>
                  <a:pt x="5" y="4259"/>
                  <a:pt x="3" y="4249"/>
                </a:cubicBezTo>
                <a:cubicBezTo>
                  <a:pt x="1" y="4240"/>
                  <a:pt x="0" y="4231"/>
                  <a:pt x="0" y="422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136" name=""/>
          <p:cNvSpPr txBox="1"/>
          <p:nvPr/>
        </p:nvSpPr>
        <p:spPr>
          <a:xfrm>
            <a:off x="747720" y="770400"/>
            <a:ext cx="745776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4 — rover adapter (rclpy on a thread)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914400" y="162360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┌───────────────────────────────────────────────────────────────┐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914400" y="1890360"/>
            <a:ext cx="9534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Main thread (asyncio)         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914400" y="2166480"/>
            <a:ext cx="9534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live_control_loop ──► robot.send_command(cmd)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914400" y="243324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│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914400" y="270000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▼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914400" y="297612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publisher.publish(Twist)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914400" y="324288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(thread-safe — rcl lock-protected)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914400" y="350964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│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914400" y="378576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├──────────────────────────────┼────────────────────────────────┤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6" name=""/>
          <p:cNvSpPr txBox="1"/>
          <p:nvPr/>
        </p:nvSpPr>
        <p:spPr>
          <a:xfrm>
            <a:off x="914400" y="4052520"/>
            <a:ext cx="9534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rclpy-spin thread            │  (background, daemon)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914400" y="4319280"/>
            <a:ext cx="9534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while not shutdown:        │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8" name=""/>
          <p:cNvSpPr txBox="1"/>
          <p:nvPr/>
        </p:nvSpPr>
        <p:spPr>
          <a:xfrm>
            <a:off x="914400" y="459540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executor.spin_once(0.05) │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49" name=""/>
          <p:cNvSpPr txBox="1"/>
          <p:nvPr/>
        </p:nvSpPr>
        <p:spPr>
          <a:xfrm>
            <a:off x="914400" y="486216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│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914400" y="512892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▼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914400" y="540504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Twist on /cmd_vel  ───► ROS / gz bridge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914400" y="5671800"/>
            <a:ext cx="9534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└───────────────────────────────────────────────────────────────┘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914400" y="6423840"/>
            <a:ext cx="1035468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rclpy.init(signal_handler_options=SignalHandlerOptions.NO)   </a:t>
            </a:r>
            <a:r>
              <a:rPr b="0" lang="en-US" sz="1720" spc="-1" strike="noStrike">
                <a:solidFill>
                  <a:srgbClr val="59636e"/>
                </a:solidFill>
                <a:latin typeface="Courier New"/>
              </a:rPr>
              <a:t># ← non-negotiable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54" name=""/>
          <p:cNvSpPr txBox="1"/>
          <p:nvPr/>
        </p:nvSpPr>
        <p:spPr>
          <a:xfrm>
            <a:off x="914400" y="6672600"/>
            <a:ext cx="432576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node = Node(</a:t>
            </a:r>
            <a:r>
              <a:rPr b="0" lang="en-US" sz="1720" spc="-1" strike="noStrike">
                <a:solidFill>
                  <a:srgbClr val="0a3069"/>
                </a:solidFill>
                <a:latin typeface="Courier New"/>
              </a:rPr>
              <a:t>"robot follow rover"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)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28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5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59" name=""/>
          <p:cNvSpPr/>
          <p:nvPr/>
        </p:nvSpPr>
        <p:spPr>
          <a:xfrm>
            <a:off x="757080" y="1461960"/>
            <a:ext cx="10687320" cy="5181840"/>
          </a:xfrm>
          <a:custGeom>
            <a:avLst/>
            <a:gdLst/>
            <a:ahLst/>
            <a:rect l="0" t="0" r="r" b="b"/>
            <a:pathLst>
              <a:path w="29687" h="14394">
                <a:moveTo>
                  <a:pt x="0" y="1424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249"/>
                </a:lnTo>
                <a:cubicBezTo>
                  <a:pt x="29687" y="14258"/>
                  <a:pt x="29686" y="14268"/>
                  <a:pt x="29684" y="14277"/>
                </a:cubicBezTo>
                <a:cubicBezTo>
                  <a:pt x="29683" y="14286"/>
                  <a:pt x="29680" y="14296"/>
                  <a:pt x="29676" y="14304"/>
                </a:cubicBezTo>
                <a:cubicBezTo>
                  <a:pt x="29672" y="14313"/>
                  <a:pt x="29668" y="14322"/>
                  <a:pt x="29663" y="14330"/>
                </a:cubicBezTo>
                <a:cubicBezTo>
                  <a:pt x="29657" y="14337"/>
                  <a:pt x="29651" y="14345"/>
                  <a:pt x="29645" y="14352"/>
                </a:cubicBezTo>
                <a:cubicBezTo>
                  <a:pt x="29638" y="14358"/>
                  <a:pt x="29630" y="14364"/>
                  <a:pt x="29623" y="14370"/>
                </a:cubicBezTo>
                <a:cubicBezTo>
                  <a:pt x="29615" y="14375"/>
                  <a:pt x="29606" y="14379"/>
                  <a:pt x="29597" y="14383"/>
                </a:cubicBezTo>
                <a:cubicBezTo>
                  <a:pt x="29589" y="14387"/>
                  <a:pt x="29579" y="14390"/>
                  <a:pt x="29570" y="14391"/>
                </a:cubicBezTo>
                <a:cubicBezTo>
                  <a:pt x="29561" y="14393"/>
                  <a:pt x="29551" y="14394"/>
                  <a:pt x="29542" y="14394"/>
                </a:cubicBezTo>
                <a:lnTo>
                  <a:pt x="145" y="14394"/>
                </a:lnTo>
                <a:cubicBezTo>
                  <a:pt x="136" y="14394"/>
                  <a:pt x="126" y="14393"/>
                  <a:pt x="117" y="14391"/>
                </a:cubicBezTo>
                <a:cubicBezTo>
                  <a:pt x="108" y="14390"/>
                  <a:pt x="99" y="14387"/>
                  <a:pt x="90" y="14383"/>
                </a:cubicBezTo>
                <a:cubicBezTo>
                  <a:pt x="81" y="14379"/>
                  <a:pt x="73" y="14375"/>
                  <a:pt x="65" y="14370"/>
                </a:cubicBezTo>
                <a:cubicBezTo>
                  <a:pt x="57" y="14364"/>
                  <a:pt x="49" y="14358"/>
                  <a:pt x="43" y="14352"/>
                </a:cubicBezTo>
                <a:cubicBezTo>
                  <a:pt x="36" y="14345"/>
                  <a:pt x="30" y="14337"/>
                  <a:pt x="24" y="14330"/>
                </a:cubicBezTo>
                <a:cubicBezTo>
                  <a:pt x="19" y="14322"/>
                  <a:pt x="15" y="14313"/>
                  <a:pt x="11" y="14304"/>
                </a:cubicBezTo>
                <a:cubicBezTo>
                  <a:pt x="7" y="14296"/>
                  <a:pt x="5" y="14286"/>
                  <a:pt x="3" y="14277"/>
                </a:cubicBezTo>
                <a:cubicBezTo>
                  <a:pt x="1" y="14268"/>
                  <a:pt x="0" y="14258"/>
                  <a:pt x="0" y="1424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160" name=""/>
          <p:cNvSpPr/>
          <p:nvPr/>
        </p:nvSpPr>
        <p:spPr>
          <a:xfrm>
            <a:off x="757080" y="1461960"/>
            <a:ext cx="10687320" cy="5181840"/>
          </a:xfrm>
          <a:custGeom>
            <a:avLst/>
            <a:gdLst/>
            <a:ahLst/>
            <a:rect l="0" t="0" r="r" b="b"/>
            <a:pathLst>
              <a:path w="29687" h="14394">
                <a:moveTo>
                  <a:pt x="0" y="1424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249"/>
                </a:lnTo>
                <a:cubicBezTo>
                  <a:pt x="29687" y="14258"/>
                  <a:pt x="29686" y="14268"/>
                  <a:pt x="29684" y="14277"/>
                </a:cubicBezTo>
                <a:cubicBezTo>
                  <a:pt x="29683" y="14286"/>
                  <a:pt x="29680" y="14296"/>
                  <a:pt x="29676" y="14304"/>
                </a:cubicBezTo>
                <a:cubicBezTo>
                  <a:pt x="29672" y="14313"/>
                  <a:pt x="29668" y="14322"/>
                  <a:pt x="29663" y="14330"/>
                </a:cubicBezTo>
                <a:cubicBezTo>
                  <a:pt x="29657" y="14337"/>
                  <a:pt x="29651" y="14345"/>
                  <a:pt x="29645" y="14352"/>
                </a:cubicBezTo>
                <a:cubicBezTo>
                  <a:pt x="29638" y="14358"/>
                  <a:pt x="29630" y="14364"/>
                  <a:pt x="29623" y="14370"/>
                </a:cubicBezTo>
                <a:cubicBezTo>
                  <a:pt x="29615" y="14375"/>
                  <a:pt x="29606" y="14379"/>
                  <a:pt x="29597" y="14383"/>
                </a:cubicBezTo>
                <a:cubicBezTo>
                  <a:pt x="29589" y="14387"/>
                  <a:pt x="29579" y="14390"/>
                  <a:pt x="29570" y="14391"/>
                </a:cubicBezTo>
                <a:cubicBezTo>
                  <a:pt x="29561" y="14393"/>
                  <a:pt x="29551" y="14394"/>
                  <a:pt x="29542" y="14394"/>
                </a:cubicBezTo>
                <a:lnTo>
                  <a:pt x="145" y="14394"/>
                </a:lnTo>
                <a:cubicBezTo>
                  <a:pt x="136" y="14394"/>
                  <a:pt x="126" y="14393"/>
                  <a:pt x="117" y="14391"/>
                </a:cubicBezTo>
                <a:cubicBezTo>
                  <a:pt x="108" y="14390"/>
                  <a:pt x="99" y="14387"/>
                  <a:pt x="90" y="14383"/>
                </a:cubicBezTo>
                <a:cubicBezTo>
                  <a:pt x="81" y="14379"/>
                  <a:pt x="73" y="14375"/>
                  <a:pt x="65" y="14370"/>
                </a:cubicBezTo>
                <a:cubicBezTo>
                  <a:pt x="57" y="14364"/>
                  <a:pt x="49" y="14358"/>
                  <a:pt x="43" y="14352"/>
                </a:cubicBezTo>
                <a:cubicBezTo>
                  <a:pt x="36" y="14345"/>
                  <a:pt x="30" y="14337"/>
                  <a:pt x="24" y="14330"/>
                </a:cubicBezTo>
                <a:cubicBezTo>
                  <a:pt x="19" y="14322"/>
                  <a:pt x="15" y="14313"/>
                  <a:pt x="11" y="14304"/>
                </a:cubicBezTo>
                <a:cubicBezTo>
                  <a:pt x="7" y="14296"/>
                  <a:pt x="5" y="14286"/>
                  <a:pt x="3" y="14277"/>
                </a:cubicBezTo>
                <a:cubicBezTo>
                  <a:pt x="1" y="14268"/>
                  <a:pt x="0" y="14258"/>
                  <a:pt x="0" y="1424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161" name=""/>
          <p:cNvSpPr txBox="1"/>
          <p:nvPr/>
        </p:nvSpPr>
        <p:spPr>
          <a:xfrm>
            <a:off x="747720" y="770400"/>
            <a:ext cx="453924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4 — the SIGINT trap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914400" y="162360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┌─────────────────────────────────────────────────────────────────┐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914400" y="1890360"/>
            <a:ext cx="9815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default rclpy.init()            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914400" y="216648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   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914400" y="2433240"/>
            <a:ext cx="9815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installs rclpy's SIGINT handler ──►  silently overrides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914400" y="270000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drone-follow's on_signal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914400" y="297612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   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68" name=""/>
          <p:cNvSpPr txBox="1"/>
          <p:nvPr/>
        </p:nvSpPr>
        <p:spPr>
          <a:xfrm>
            <a:off x="914400" y="3242880"/>
            <a:ext cx="9815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Ctrl+C → rclpy says "shutting down"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69" name=""/>
          <p:cNvSpPr txBox="1"/>
          <p:nvPr/>
        </p:nvSpPr>
        <p:spPr>
          <a:xfrm>
            <a:off x="914400" y="350964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publisher stops       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914400" y="378576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BUT: no zero-velocity command sent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914400" y="405252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→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rover keeps moving on last Twist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2" name=""/>
          <p:cNvSpPr txBox="1"/>
          <p:nvPr/>
        </p:nvSpPr>
        <p:spPr>
          <a:xfrm>
            <a:off x="914400" y="431928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└─────────────────────────────────────────────────────────────────┘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914400" y="486216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┌─────────────────────────────────────────────────────────────────┐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4" name=""/>
          <p:cNvSpPr txBox="1"/>
          <p:nvPr/>
        </p:nvSpPr>
        <p:spPr>
          <a:xfrm>
            <a:off x="914400" y="5128920"/>
            <a:ext cx="9815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rclpy.init(signal_handler_options=SignalHandlerOptions.NO)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914400" y="540504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                                        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914400" y="5671800"/>
            <a:ext cx="9815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drone-follow's on_signal stays installed                   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914400" y="5947920"/>
            <a:ext cx="9815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│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Ctrl+C → on_signal → send_zero() → shutdown() → rover stops   │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3314520" y="6848280"/>
            <a:ext cx="2019600" cy="362160"/>
          </a:xfrm>
          <a:custGeom>
            <a:avLst/>
            <a:gdLst/>
            <a:ahLst/>
            <a:rect l="0" t="0" r="r" b="b"/>
            <a:pathLst>
              <a:path w="5610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451" y="0"/>
                </a:lnTo>
                <a:cubicBezTo>
                  <a:pt x="5462" y="0"/>
                  <a:pt x="5472" y="1"/>
                  <a:pt x="5482" y="3"/>
                </a:cubicBezTo>
                <a:cubicBezTo>
                  <a:pt x="5493" y="5"/>
                  <a:pt x="5503" y="8"/>
                  <a:pt x="5512" y="12"/>
                </a:cubicBezTo>
                <a:cubicBezTo>
                  <a:pt x="5522" y="16"/>
                  <a:pt x="5531" y="21"/>
                  <a:pt x="5540" y="27"/>
                </a:cubicBezTo>
                <a:cubicBezTo>
                  <a:pt x="5548" y="33"/>
                  <a:pt x="5556" y="39"/>
                  <a:pt x="5564" y="47"/>
                </a:cubicBezTo>
                <a:cubicBezTo>
                  <a:pt x="5571" y="54"/>
                  <a:pt x="5578" y="62"/>
                  <a:pt x="5583" y="71"/>
                </a:cubicBezTo>
                <a:cubicBezTo>
                  <a:pt x="5589" y="79"/>
                  <a:pt x="5594" y="88"/>
                  <a:pt x="5598" y="98"/>
                </a:cubicBezTo>
                <a:cubicBezTo>
                  <a:pt x="5602" y="108"/>
                  <a:pt x="5605" y="118"/>
                  <a:pt x="5607" y="128"/>
                </a:cubicBezTo>
                <a:cubicBezTo>
                  <a:pt x="5609" y="138"/>
                  <a:pt x="5610" y="148"/>
                  <a:pt x="5610" y="159"/>
                </a:cubicBezTo>
                <a:lnTo>
                  <a:pt x="5610" y="848"/>
                </a:lnTo>
                <a:cubicBezTo>
                  <a:pt x="5610" y="858"/>
                  <a:pt x="5609" y="868"/>
                  <a:pt x="5607" y="879"/>
                </a:cubicBezTo>
                <a:cubicBezTo>
                  <a:pt x="5605" y="889"/>
                  <a:pt x="5602" y="899"/>
                  <a:pt x="5598" y="908"/>
                </a:cubicBezTo>
                <a:cubicBezTo>
                  <a:pt x="5594" y="918"/>
                  <a:pt x="5589" y="927"/>
                  <a:pt x="5583" y="936"/>
                </a:cubicBezTo>
                <a:cubicBezTo>
                  <a:pt x="5578" y="945"/>
                  <a:pt x="5571" y="953"/>
                  <a:pt x="5564" y="960"/>
                </a:cubicBezTo>
                <a:cubicBezTo>
                  <a:pt x="5556" y="967"/>
                  <a:pt x="5548" y="974"/>
                  <a:pt x="5540" y="980"/>
                </a:cubicBezTo>
                <a:cubicBezTo>
                  <a:pt x="5531" y="985"/>
                  <a:pt x="5522" y="990"/>
                  <a:pt x="5512" y="994"/>
                </a:cubicBezTo>
                <a:cubicBezTo>
                  <a:pt x="5503" y="998"/>
                  <a:pt x="5493" y="1001"/>
                  <a:pt x="5482" y="1003"/>
                </a:cubicBezTo>
                <a:cubicBezTo>
                  <a:pt x="5472" y="1005"/>
                  <a:pt x="5462" y="1006"/>
                  <a:pt x="5451" y="1006"/>
                </a:cubicBez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8" y="990"/>
                  <a:pt x="79" y="985"/>
                  <a:pt x="71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179" name=""/>
          <p:cNvSpPr txBox="1"/>
          <p:nvPr/>
        </p:nvSpPr>
        <p:spPr>
          <a:xfrm>
            <a:off x="914400" y="6214680"/>
            <a:ext cx="9815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└─────────────────────────────────────────────────────────────────┘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29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82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184" name=""/>
          <p:cNvSpPr/>
          <p:nvPr/>
        </p:nvSpPr>
        <p:spPr>
          <a:xfrm>
            <a:off x="757080" y="1461960"/>
            <a:ext cx="10687320" cy="4591440"/>
          </a:xfrm>
          <a:custGeom>
            <a:avLst/>
            <a:gdLst/>
            <a:ahLst/>
            <a:rect l="0" t="0" r="r" b="b"/>
            <a:pathLst>
              <a:path w="29687" h="12754">
                <a:moveTo>
                  <a:pt x="0" y="1260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608"/>
                </a:lnTo>
                <a:cubicBezTo>
                  <a:pt x="29687" y="12618"/>
                  <a:pt x="29686" y="12627"/>
                  <a:pt x="29684" y="12637"/>
                </a:cubicBezTo>
                <a:cubicBezTo>
                  <a:pt x="29683" y="12646"/>
                  <a:pt x="29680" y="12655"/>
                  <a:pt x="29676" y="12664"/>
                </a:cubicBezTo>
                <a:cubicBezTo>
                  <a:pt x="29672" y="12673"/>
                  <a:pt x="29668" y="12681"/>
                  <a:pt x="29663" y="12689"/>
                </a:cubicBezTo>
                <a:cubicBezTo>
                  <a:pt x="29657" y="12697"/>
                  <a:pt x="29651" y="12704"/>
                  <a:pt x="29645" y="12711"/>
                </a:cubicBezTo>
                <a:cubicBezTo>
                  <a:pt x="29638" y="12718"/>
                  <a:pt x="29630" y="12724"/>
                  <a:pt x="29623" y="12729"/>
                </a:cubicBezTo>
                <a:cubicBezTo>
                  <a:pt x="29615" y="12735"/>
                  <a:pt x="29606" y="12739"/>
                  <a:pt x="29597" y="12743"/>
                </a:cubicBezTo>
                <a:cubicBezTo>
                  <a:pt x="29589" y="12746"/>
                  <a:pt x="29579" y="12749"/>
                  <a:pt x="29570" y="12751"/>
                </a:cubicBezTo>
                <a:cubicBezTo>
                  <a:pt x="29561" y="12753"/>
                  <a:pt x="29551" y="12754"/>
                  <a:pt x="29542" y="12754"/>
                </a:cubicBezTo>
                <a:lnTo>
                  <a:pt x="145" y="12754"/>
                </a:lnTo>
                <a:cubicBezTo>
                  <a:pt x="136" y="12754"/>
                  <a:pt x="126" y="12753"/>
                  <a:pt x="117" y="12751"/>
                </a:cubicBezTo>
                <a:cubicBezTo>
                  <a:pt x="108" y="12749"/>
                  <a:pt x="99" y="12746"/>
                  <a:pt x="90" y="12743"/>
                </a:cubicBezTo>
                <a:cubicBezTo>
                  <a:pt x="81" y="12739"/>
                  <a:pt x="73" y="12735"/>
                  <a:pt x="65" y="12729"/>
                </a:cubicBezTo>
                <a:cubicBezTo>
                  <a:pt x="57" y="12724"/>
                  <a:pt x="49" y="12718"/>
                  <a:pt x="43" y="12711"/>
                </a:cubicBezTo>
                <a:cubicBezTo>
                  <a:pt x="36" y="12704"/>
                  <a:pt x="30" y="12697"/>
                  <a:pt x="24" y="12689"/>
                </a:cubicBezTo>
                <a:cubicBezTo>
                  <a:pt x="19" y="12681"/>
                  <a:pt x="15" y="12673"/>
                  <a:pt x="11" y="12664"/>
                </a:cubicBezTo>
                <a:cubicBezTo>
                  <a:pt x="7" y="12655"/>
                  <a:pt x="5" y="12646"/>
                  <a:pt x="3" y="12637"/>
                </a:cubicBezTo>
                <a:cubicBezTo>
                  <a:pt x="1" y="12627"/>
                  <a:pt x="0" y="12618"/>
                  <a:pt x="0" y="12608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185" name=""/>
          <p:cNvSpPr/>
          <p:nvPr/>
        </p:nvSpPr>
        <p:spPr>
          <a:xfrm>
            <a:off x="757080" y="1461960"/>
            <a:ext cx="10687320" cy="4591440"/>
          </a:xfrm>
          <a:custGeom>
            <a:avLst/>
            <a:gdLst/>
            <a:ahLst/>
            <a:rect l="0" t="0" r="r" b="b"/>
            <a:pathLst>
              <a:path w="29687" h="12754">
                <a:moveTo>
                  <a:pt x="0" y="1260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608"/>
                </a:lnTo>
                <a:cubicBezTo>
                  <a:pt x="29687" y="12618"/>
                  <a:pt x="29686" y="12627"/>
                  <a:pt x="29684" y="12637"/>
                </a:cubicBezTo>
                <a:cubicBezTo>
                  <a:pt x="29683" y="12646"/>
                  <a:pt x="29680" y="12655"/>
                  <a:pt x="29676" y="12664"/>
                </a:cubicBezTo>
                <a:cubicBezTo>
                  <a:pt x="29672" y="12673"/>
                  <a:pt x="29668" y="12681"/>
                  <a:pt x="29663" y="12689"/>
                </a:cubicBezTo>
                <a:cubicBezTo>
                  <a:pt x="29657" y="12697"/>
                  <a:pt x="29651" y="12704"/>
                  <a:pt x="29645" y="12711"/>
                </a:cubicBezTo>
                <a:cubicBezTo>
                  <a:pt x="29638" y="12718"/>
                  <a:pt x="29630" y="12724"/>
                  <a:pt x="29623" y="12729"/>
                </a:cubicBezTo>
                <a:cubicBezTo>
                  <a:pt x="29615" y="12735"/>
                  <a:pt x="29606" y="12739"/>
                  <a:pt x="29597" y="12743"/>
                </a:cubicBezTo>
                <a:cubicBezTo>
                  <a:pt x="29589" y="12746"/>
                  <a:pt x="29579" y="12749"/>
                  <a:pt x="29570" y="12751"/>
                </a:cubicBezTo>
                <a:cubicBezTo>
                  <a:pt x="29561" y="12753"/>
                  <a:pt x="29551" y="12754"/>
                  <a:pt x="29542" y="12754"/>
                </a:cubicBezTo>
                <a:lnTo>
                  <a:pt x="145" y="12754"/>
                </a:lnTo>
                <a:cubicBezTo>
                  <a:pt x="136" y="12754"/>
                  <a:pt x="126" y="12753"/>
                  <a:pt x="117" y="12751"/>
                </a:cubicBezTo>
                <a:cubicBezTo>
                  <a:pt x="108" y="12749"/>
                  <a:pt x="99" y="12746"/>
                  <a:pt x="90" y="12743"/>
                </a:cubicBezTo>
                <a:cubicBezTo>
                  <a:pt x="81" y="12739"/>
                  <a:pt x="73" y="12735"/>
                  <a:pt x="65" y="12729"/>
                </a:cubicBezTo>
                <a:cubicBezTo>
                  <a:pt x="57" y="12724"/>
                  <a:pt x="49" y="12718"/>
                  <a:pt x="43" y="12711"/>
                </a:cubicBezTo>
                <a:cubicBezTo>
                  <a:pt x="36" y="12704"/>
                  <a:pt x="30" y="12697"/>
                  <a:pt x="24" y="12689"/>
                </a:cubicBezTo>
                <a:cubicBezTo>
                  <a:pt x="19" y="12681"/>
                  <a:pt x="15" y="12673"/>
                  <a:pt x="11" y="12664"/>
                </a:cubicBezTo>
                <a:cubicBezTo>
                  <a:pt x="7" y="12655"/>
                  <a:pt x="5" y="12646"/>
                  <a:pt x="3" y="12637"/>
                </a:cubicBezTo>
                <a:cubicBezTo>
                  <a:pt x="1" y="12627"/>
                  <a:pt x="0" y="12618"/>
                  <a:pt x="0" y="1260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186" name=""/>
          <p:cNvSpPr txBox="1"/>
          <p:nvPr/>
        </p:nvSpPr>
        <p:spPr>
          <a:xfrm>
            <a:off x="747720" y="770400"/>
            <a:ext cx="631764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5 — rover sim (one command)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914400" y="1623240"/>
            <a:ext cx="275292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start_rover_sim.sh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914400" y="1872000"/>
            <a:ext cx="104940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914400" y="2129040"/>
            <a:ext cx="838908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├─►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gz sim sim/rover/worlds/walk_across_then_approach.sdf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914400" y="2377440"/>
            <a:ext cx="183564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     │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914400" y="2626200"/>
            <a:ext cx="183564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     ▼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914400" y="2883240"/>
            <a:ext cx="865116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rover.sdf:  &lt;plugin filename="gz-sim-diff-drive-system"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914400" y="3131640"/>
            <a:ext cx="865080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                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name="gz::sim::systems::DiffDrive"&gt;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914400" y="3380040"/>
            <a:ext cx="1035468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            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&lt;topic&gt;cmd_vel&lt;/topic&gt;          ◄── override default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914400" y="3637440"/>
            <a:ext cx="419508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        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&lt;/plugin&gt;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6" name=""/>
          <p:cNvSpPr txBox="1"/>
          <p:nvPr/>
        </p:nvSpPr>
        <p:spPr>
          <a:xfrm>
            <a:off x="914400" y="3885840"/>
            <a:ext cx="498132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        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+ camera sensor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914400" y="4134240"/>
            <a:ext cx="104940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914400" y="4391640"/>
            <a:ext cx="681624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├─►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ros2 run ros_gz_bridge parameter_bridge \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914400" y="4640040"/>
            <a:ext cx="799560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/cmd_vel@geometry_msgs/msg/Twist@gz.msgs.Twist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200" name=""/>
          <p:cNvSpPr txBox="1"/>
          <p:nvPr/>
        </p:nvSpPr>
        <p:spPr>
          <a:xfrm>
            <a:off x="914400" y="4888440"/>
            <a:ext cx="104940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│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201" name=""/>
          <p:cNvSpPr txBox="1"/>
          <p:nvPr/>
        </p:nvSpPr>
        <p:spPr>
          <a:xfrm>
            <a:off x="914400" y="5145840"/>
            <a:ext cx="602964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└─►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python sim/bridge/video_bridge.py \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914400" y="5394240"/>
            <a:ext cx="747144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 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--topic /model/rover/sensor/camera/image \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914400" y="5651640"/>
            <a:ext cx="9306360" cy="2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               </a:t>
            </a:r>
            <a:r>
              <a:rPr b="0" lang="en-US" sz="1720" spc="-1" strike="noStrike">
                <a:solidFill>
                  <a:srgbClr val="1f2328"/>
                </a:solidFill>
                <a:latin typeface="Courier New"/>
              </a:rPr>
              <a:t>--host 127.0.0.1 --port 5600   ◄── EXISTING tool, reused</a:t>
            </a:r>
            <a:endParaRPr b="0" lang="en-US" sz="1720" spc="-1" strike="noStrike"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4466880" y="6257880"/>
            <a:ext cx="7648920" cy="362160"/>
          </a:xfrm>
          <a:custGeom>
            <a:avLst/>
            <a:gdLst/>
            <a:ahLst/>
            <a:rect l="0" t="0" r="r" b="b"/>
            <a:pathLst>
              <a:path w="21247" h="1006">
                <a:moveTo>
                  <a:pt x="0" y="847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1247" y="0"/>
                </a:lnTo>
                <a:lnTo>
                  <a:pt x="21247" y="1006"/>
                </a:ln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79"/>
                </a:cubicBezTo>
                <a:cubicBezTo>
                  <a:pt x="62" y="973"/>
                  <a:pt x="54" y="967"/>
                  <a:pt x="47" y="960"/>
                </a:cubicBezTo>
                <a:cubicBezTo>
                  <a:pt x="40" y="952"/>
                  <a:pt x="33" y="944"/>
                  <a:pt x="27" y="935"/>
                </a:cubicBezTo>
                <a:cubicBezTo>
                  <a:pt x="21" y="927"/>
                  <a:pt x="17" y="918"/>
                  <a:pt x="13" y="908"/>
                </a:cubicBezTo>
                <a:cubicBezTo>
                  <a:pt x="9" y="898"/>
                  <a:pt x="6" y="888"/>
                  <a:pt x="4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05" name=""/>
          <p:cNvSpPr txBox="1"/>
          <p:nvPr/>
        </p:nvSpPr>
        <p:spPr>
          <a:xfrm>
            <a:off x="747720" y="6255720"/>
            <a:ext cx="37177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drone-follow runs unchanged: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-4276800" y="6676920"/>
            <a:ext cx="7658280" cy="352800"/>
          </a:xfrm>
          <a:custGeom>
            <a:avLst/>
            <a:gdLst/>
            <a:ahLst/>
            <a:rect l="0" t="0" r="r" b="b"/>
            <a:pathLst>
              <a:path w="21273" h="980">
                <a:moveTo>
                  <a:pt x="0" y="980"/>
                </a:moveTo>
                <a:lnTo>
                  <a:pt x="0" y="0"/>
                </a:lnTo>
                <a:lnTo>
                  <a:pt x="21114" y="0"/>
                </a:lnTo>
                <a:cubicBezTo>
                  <a:pt x="21125" y="0"/>
                  <a:pt x="21135" y="1"/>
                  <a:pt x="21145" y="3"/>
                </a:cubicBezTo>
                <a:cubicBezTo>
                  <a:pt x="21156" y="5"/>
                  <a:pt x="21166" y="8"/>
                  <a:pt x="21175" y="12"/>
                </a:cubicBezTo>
                <a:cubicBezTo>
                  <a:pt x="21185" y="16"/>
                  <a:pt x="21194" y="21"/>
                  <a:pt x="21203" y="27"/>
                </a:cubicBezTo>
                <a:cubicBezTo>
                  <a:pt x="21211" y="32"/>
                  <a:pt x="21219" y="39"/>
                  <a:pt x="21227" y="46"/>
                </a:cubicBezTo>
                <a:cubicBezTo>
                  <a:pt x="21234" y="54"/>
                  <a:pt x="21241" y="62"/>
                  <a:pt x="21246" y="70"/>
                </a:cubicBezTo>
                <a:cubicBezTo>
                  <a:pt x="21252" y="79"/>
                  <a:pt x="21257" y="88"/>
                  <a:pt x="21261" y="98"/>
                </a:cubicBezTo>
                <a:cubicBezTo>
                  <a:pt x="21265" y="107"/>
                  <a:pt x="21268" y="117"/>
                  <a:pt x="21270" y="128"/>
                </a:cubicBezTo>
                <a:cubicBezTo>
                  <a:pt x="21272" y="138"/>
                  <a:pt x="21273" y="148"/>
                  <a:pt x="21273" y="159"/>
                </a:cubicBezTo>
                <a:lnTo>
                  <a:pt x="21273" y="821"/>
                </a:lnTo>
                <a:cubicBezTo>
                  <a:pt x="21273" y="831"/>
                  <a:pt x="21272" y="842"/>
                  <a:pt x="21270" y="852"/>
                </a:cubicBezTo>
                <a:cubicBezTo>
                  <a:pt x="21268" y="862"/>
                  <a:pt x="21265" y="872"/>
                  <a:pt x="21261" y="882"/>
                </a:cubicBezTo>
                <a:cubicBezTo>
                  <a:pt x="21257" y="891"/>
                  <a:pt x="21252" y="901"/>
                  <a:pt x="21246" y="909"/>
                </a:cubicBezTo>
                <a:cubicBezTo>
                  <a:pt x="21241" y="918"/>
                  <a:pt x="21234" y="926"/>
                  <a:pt x="21227" y="933"/>
                </a:cubicBezTo>
                <a:cubicBezTo>
                  <a:pt x="21219" y="941"/>
                  <a:pt x="21211" y="947"/>
                  <a:pt x="21203" y="953"/>
                </a:cubicBezTo>
                <a:cubicBezTo>
                  <a:pt x="21194" y="959"/>
                  <a:pt x="21185" y="964"/>
                  <a:pt x="21175" y="968"/>
                </a:cubicBezTo>
                <a:cubicBezTo>
                  <a:pt x="21166" y="972"/>
                  <a:pt x="21156" y="975"/>
                  <a:pt x="21145" y="977"/>
                </a:cubicBezTo>
                <a:cubicBezTo>
                  <a:pt x="21135" y="979"/>
                  <a:pt x="21125" y="980"/>
                  <a:pt x="21114" y="980"/>
                </a:cubicBezTo>
                <a:lnTo>
                  <a:pt x="0" y="980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07" name=""/>
          <p:cNvSpPr txBox="1"/>
          <p:nvPr/>
        </p:nvSpPr>
        <p:spPr>
          <a:xfrm>
            <a:off x="4557600" y="6309360"/>
            <a:ext cx="49078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robot-follow --robot rover --input 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747720" y="6728400"/>
            <a:ext cx="2524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udp://0 0 0 0:5600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30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3" name=""/>
          <p:cNvSpPr/>
          <p:nvPr/>
        </p:nvSpPr>
        <p:spPr>
          <a:xfrm>
            <a:off x="752400" y="1457280"/>
            <a:ext cx="1314720" cy="543240"/>
          </a:xfrm>
          <a:custGeom>
            <a:avLst/>
            <a:gdLst/>
            <a:ahLst/>
            <a:rect l="0" t="0" r="r" b="b"/>
            <a:pathLst>
              <a:path w="3652" h="1509">
                <a:moveTo>
                  <a:pt x="0" y="0"/>
                </a:moveTo>
                <a:lnTo>
                  <a:pt x="3652" y="0"/>
                </a:lnTo>
                <a:lnTo>
                  <a:pt x="365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4" name=""/>
          <p:cNvSpPr/>
          <p:nvPr/>
        </p:nvSpPr>
        <p:spPr>
          <a:xfrm>
            <a:off x="2066760" y="1457280"/>
            <a:ext cx="5515200" cy="543240"/>
          </a:xfrm>
          <a:custGeom>
            <a:avLst/>
            <a:gdLst/>
            <a:ahLst/>
            <a:rect l="0" t="0" r="r" b="b"/>
            <a:pathLst>
              <a:path w="15320" h="1509">
                <a:moveTo>
                  <a:pt x="0" y="0"/>
                </a:moveTo>
                <a:lnTo>
                  <a:pt x="15320" y="0"/>
                </a:lnTo>
                <a:lnTo>
                  <a:pt x="1532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5" name=""/>
          <p:cNvSpPr/>
          <p:nvPr/>
        </p:nvSpPr>
        <p:spPr>
          <a:xfrm>
            <a:off x="7581600" y="1457280"/>
            <a:ext cx="4248720" cy="543240"/>
          </a:xfrm>
          <a:custGeom>
            <a:avLst/>
            <a:gdLst/>
            <a:ahLst/>
            <a:rect l="0" t="0" r="r" b="b"/>
            <a:pathLst>
              <a:path w="11802" h="1509">
                <a:moveTo>
                  <a:pt x="0" y="0"/>
                </a:moveTo>
                <a:lnTo>
                  <a:pt x="11802" y="0"/>
                </a:lnTo>
                <a:lnTo>
                  <a:pt x="1180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6" name=""/>
          <p:cNvSpPr/>
          <p:nvPr/>
        </p:nvSpPr>
        <p:spPr>
          <a:xfrm>
            <a:off x="752400" y="2000160"/>
            <a:ext cx="1314720" cy="1362240"/>
          </a:xfrm>
          <a:custGeom>
            <a:avLst/>
            <a:gdLst/>
            <a:ahLst/>
            <a:rect l="0" t="0" r="r" b="b"/>
            <a:pathLst>
              <a:path w="3652" h="3784">
                <a:moveTo>
                  <a:pt x="0" y="0"/>
                </a:moveTo>
                <a:lnTo>
                  <a:pt x="3652" y="0"/>
                </a:lnTo>
                <a:lnTo>
                  <a:pt x="3652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7" name=""/>
          <p:cNvSpPr/>
          <p:nvPr/>
        </p:nvSpPr>
        <p:spPr>
          <a:xfrm>
            <a:off x="2066760" y="2000160"/>
            <a:ext cx="5515200" cy="1362240"/>
          </a:xfrm>
          <a:custGeom>
            <a:avLst/>
            <a:gdLst/>
            <a:ahLst/>
            <a:rect l="0" t="0" r="r" b="b"/>
            <a:pathLst>
              <a:path w="15320" h="3784">
                <a:moveTo>
                  <a:pt x="0" y="0"/>
                </a:moveTo>
                <a:lnTo>
                  <a:pt x="15320" y="0"/>
                </a:lnTo>
                <a:lnTo>
                  <a:pt x="15320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8" name=""/>
          <p:cNvSpPr/>
          <p:nvPr/>
        </p:nvSpPr>
        <p:spPr>
          <a:xfrm>
            <a:off x="7581600" y="2000160"/>
            <a:ext cx="4248720" cy="1362240"/>
          </a:xfrm>
          <a:custGeom>
            <a:avLst/>
            <a:gdLst/>
            <a:ahLst/>
            <a:rect l="0" t="0" r="r" b="b"/>
            <a:pathLst>
              <a:path w="11802" h="3784">
                <a:moveTo>
                  <a:pt x="0" y="0"/>
                </a:moveTo>
                <a:lnTo>
                  <a:pt x="11802" y="0"/>
                </a:lnTo>
                <a:lnTo>
                  <a:pt x="11802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19" name=""/>
          <p:cNvSpPr/>
          <p:nvPr/>
        </p:nvSpPr>
        <p:spPr>
          <a:xfrm>
            <a:off x="752400" y="3362040"/>
            <a:ext cx="1314720" cy="1371960"/>
          </a:xfrm>
          <a:custGeom>
            <a:avLst/>
            <a:gdLst/>
            <a:ahLst/>
            <a:rect l="0" t="0" r="r" b="b"/>
            <a:pathLst>
              <a:path w="3652" h="3811">
                <a:moveTo>
                  <a:pt x="0" y="0"/>
                </a:moveTo>
                <a:lnTo>
                  <a:pt x="3652" y="0"/>
                </a:lnTo>
                <a:lnTo>
                  <a:pt x="3652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220" name=""/>
          <p:cNvSpPr/>
          <p:nvPr/>
        </p:nvSpPr>
        <p:spPr>
          <a:xfrm>
            <a:off x="2066760" y="3362040"/>
            <a:ext cx="5515200" cy="1371960"/>
          </a:xfrm>
          <a:custGeom>
            <a:avLst/>
            <a:gdLst/>
            <a:ahLst/>
            <a:rect l="0" t="0" r="r" b="b"/>
            <a:pathLst>
              <a:path w="15320" h="3811">
                <a:moveTo>
                  <a:pt x="0" y="0"/>
                </a:moveTo>
                <a:lnTo>
                  <a:pt x="15320" y="0"/>
                </a:lnTo>
                <a:lnTo>
                  <a:pt x="15320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221" name=""/>
          <p:cNvSpPr/>
          <p:nvPr/>
        </p:nvSpPr>
        <p:spPr>
          <a:xfrm>
            <a:off x="7581600" y="3362040"/>
            <a:ext cx="4248720" cy="1371960"/>
          </a:xfrm>
          <a:custGeom>
            <a:avLst/>
            <a:gdLst/>
            <a:ahLst/>
            <a:rect l="0" t="0" r="r" b="b"/>
            <a:pathLst>
              <a:path w="11802" h="3811">
                <a:moveTo>
                  <a:pt x="0" y="0"/>
                </a:moveTo>
                <a:lnTo>
                  <a:pt x="11802" y="0"/>
                </a:lnTo>
                <a:lnTo>
                  <a:pt x="11802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222" name=""/>
          <p:cNvSpPr/>
          <p:nvPr/>
        </p:nvSpPr>
        <p:spPr>
          <a:xfrm>
            <a:off x="752400" y="4733640"/>
            <a:ext cx="1314720" cy="1362600"/>
          </a:xfrm>
          <a:custGeom>
            <a:avLst/>
            <a:gdLst/>
            <a:ahLst/>
            <a:rect l="0" t="0" r="r" b="b"/>
            <a:pathLst>
              <a:path w="3652" h="3785">
                <a:moveTo>
                  <a:pt x="0" y="0"/>
                </a:moveTo>
                <a:lnTo>
                  <a:pt x="3652" y="0"/>
                </a:lnTo>
                <a:lnTo>
                  <a:pt x="3652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23" name=""/>
          <p:cNvSpPr/>
          <p:nvPr/>
        </p:nvSpPr>
        <p:spPr>
          <a:xfrm>
            <a:off x="2066760" y="4733640"/>
            <a:ext cx="5515200" cy="1362600"/>
          </a:xfrm>
          <a:custGeom>
            <a:avLst/>
            <a:gdLst/>
            <a:ahLst/>
            <a:rect l="0" t="0" r="r" b="b"/>
            <a:pathLst>
              <a:path w="15320" h="3785">
                <a:moveTo>
                  <a:pt x="0" y="0"/>
                </a:moveTo>
                <a:lnTo>
                  <a:pt x="15320" y="0"/>
                </a:lnTo>
                <a:lnTo>
                  <a:pt x="15320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24" name=""/>
          <p:cNvSpPr/>
          <p:nvPr/>
        </p:nvSpPr>
        <p:spPr>
          <a:xfrm>
            <a:off x="7581600" y="4733640"/>
            <a:ext cx="4248720" cy="1362600"/>
          </a:xfrm>
          <a:custGeom>
            <a:avLst/>
            <a:gdLst/>
            <a:ahLst/>
            <a:rect l="0" t="0" r="r" b="b"/>
            <a:pathLst>
              <a:path w="11802" h="3785">
                <a:moveTo>
                  <a:pt x="0" y="0"/>
                </a:moveTo>
                <a:lnTo>
                  <a:pt x="11802" y="0"/>
                </a:lnTo>
                <a:lnTo>
                  <a:pt x="11802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25" name=""/>
          <p:cNvSpPr/>
          <p:nvPr/>
        </p:nvSpPr>
        <p:spPr>
          <a:xfrm>
            <a:off x="752400" y="6095880"/>
            <a:ext cx="1314720" cy="1371960"/>
          </a:xfrm>
          <a:custGeom>
            <a:avLst/>
            <a:gdLst/>
            <a:ahLst/>
            <a:rect l="0" t="0" r="r" b="b"/>
            <a:pathLst>
              <a:path w="3652" h="3811">
                <a:moveTo>
                  <a:pt x="0" y="0"/>
                </a:moveTo>
                <a:lnTo>
                  <a:pt x="3652" y="0"/>
                </a:lnTo>
                <a:lnTo>
                  <a:pt x="3652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226" name=""/>
          <p:cNvSpPr/>
          <p:nvPr/>
        </p:nvSpPr>
        <p:spPr>
          <a:xfrm>
            <a:off x="2066760" y="6095880"/>
            <a:ext cx="5515200" cy="1371960"/>
          </a:xfrm>
          <a:custGeom>
            <a:avLst/>
            <a:gdLst/>
            <a:ahLst/>
            <a:rect l="0" t="0" r="r" b="b"/>
            <a:pathLst>
              <a:path w="15320" h="3811">
                <a:moveTo>
                  <a:pt x="0" y="0"/>
                </a:moveTo>
                <a:lnTo>
                  <a:pt x="15320" y="0"/>
                </a:lnTo>
                <a:lnTo>
                  <a:pt x="15320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227" name=""/>
          <p:cNvSpPr/>
          <p:nvPr/>
        </p:nvSpPr>
        <p:spPr>
          <a:xfrm>
            <a:off x="7581600" y="6095880"/>
            <a:ext cx="4248720" cy="1371960"/>
          </a:xfrm>
          <a:custGeom>
            <a:avLst/>
            <a:gdLst/>
            <a:ahLst/>
            <a:rect l="0" t="0" r="r" b="b"/>
            <a:pathLst>
              <a:path w="11802" h="3811">
                <a:moveTo>
                  <a:pt x="0" y="0"/>
                </a:moveTo>
                <a:lnTo>
                  <a:pt x="11802" y="0"/>
                </a:lnTo>
                <a:lnTo>
                  <a:pt x="11802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228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29" name=""/>
          <p:cNvSpPr/>
          <p:nvPr/>
        </p:nvSpPr>
        <p:spPr>
          <a:xfrm>
            <a:off x="752400" y="1457280"/>
            <a:ext cx="1314720" cy="9720"/>
          </a:xfrm>
          <a:custGeom>
            <a:avLst/>
            <a:gdLst/>
            <a:ahLst/>
            <a:rect l="0" t="0" r="r" b="b"/>
            <a:pathLst>
              <a:path w="3652" h="27">
                <a:moveTo>
                  <a:pt x="0" y="0"/>
                </a:moveTo>
                <a:lnTo>
                  <a:pt x="3652" y="0"/>
                </a:lnTo>
                <a:lnTo>
                  <a:pt x="36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0" name=""/>
          <p:cNvSpPr/>
          <p:nvPr/>
        </p:nvSpPr>
        <p:spPr>
          <a:xfrm>
            <a:off x="205704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1" name=""/>
          <p:cNvSpPr/>
          <p:nvPr/>
        </p:nvSpPr>
        <p:spPr>
          <a:xfrm>
            <a:off x="2066760" y="1457280"/>
            <a:ext cx="5515200" cy="9720"/>
          </a:xfrm>
          <a:custGeom>
            <a:avLst/>
            <a:gdLst/>
            <a:ahLst/>
            <a:rect l="0" t="0" r="r" b="b"/>
            <a:pathLst>
              <a:path w="15320" h="27">
                <a:moveTo>
                  <a:pt x="0" y="0"/>
                </a:moveTo>
                <a:lnTo>
                  <a:pt x="15320" y="0"/>
                </a:lnTo>
                <a:lnTo>
                  <a:pt x="1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2" name=""/>
          <p:cNvSpPr/>
          <p:nvPr/>
        </p:nvSpPr>
        <p:spPr>
          <a:xfrm>
            <a:off x="757224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3" name=""/>
          <p:cNvSpPr/>
          <p:nvPr/>
        </p:nvSpPr>
        <p:spPr>
          <a:xfrm>
            <a:off x="7581600" y="1457280"/>
            <a:ext cx="4248720" cy="9720"/>
          </a:xfrm>
          <a:custGeom>
            <a:avLst/>
            <a:gdLst/>
            <a:ahLst/>
            <a:rect l="0" t="0" r="r" b="b"/>
            <a:pathLst>
              <a:path w="11802" h="27">
                <a:moveTo>
                  <a:pt x="0" y="0"/>
                </a:moveTo>
                <a:lnTo>
                  <a:pt x="11802" y="0"/>
                </a:lnTo>
                <a:lnTo>
                  <a:pt x="118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4" name=""/>
          <p:cNvSpPr/>
          <p:nvPr/>
        </p:nvSpPr>
        <p:spPr>
          <a:xfrm>
            <a:off x="752400" y="1990440"/>
            <a:ext cx="1314720" cy="10080"/>
          </a:xfrm>
          <a:custGeom>
            <a:avLst/>
            <a:gdLst/>
            <a:ahLst/>
            <a:rect l="0" t="0" r="r" b="b"/>
            <a:pathLst>
              <a:path w="3652" h="28">
                <a:moveTo>
                  <a:pt x="0" y="0"/>
                </a:moveTo>
                <a:lnTo>
                  <a:pt x="3652" y="0"/>
                </a:lnTo>
                <a:lnTo>
                  <a:pt x="36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5" name=""/>
          <p:cNvSpPr/>
          <p:nvPr/>
        </p:nvSpPr>
        <p:spPr>
          <a:xfrm>
            <a:off x="2066760" y="1990440"/>
            <a:ext cx="5515200" cy="10080"/>
          </a:xfrm>
          <a:custGeom>
            <a:avLst/>
            <a:gdLst/>
            <a:ahLst/>
            <a:rect l="0" t="0" r="r" b="b"/>
            <a:pathLst>
              <a:path w="15320" h="28">
                <a:moveTo>
                  <a:pt x="0" y="0"/>
                </a:moveTo>
                <a:lnTo>
                  <a:pt x="15320" y="0"/>
                </a:lnTo>
                <a:lnTo>
                  <a:pt x="15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6" name=""/>
          <p:cNvSpPr/>
          <p:nvPr/>
        </p:nvSpPr>
        <p:spPr>
          <a:xfrm>
            <a:off x="7581600" y="1990440"/>
            <a:ext cx="4248720" cy="10080"/>
          </a:xfrm>
          <a:custGeom>
            <a:avLst/>
            <a:gdLst/>
            <a:ahLst/>
            <a:rect l="0" t="0" r="r" b="b"/>
            <a:pathLst>
              <a:path w="11802" h="28">
                <a:moveTo>
                  <a:pt x="0" y="0"/>
                </a:moveTo>
                <a:lnTo>
                  <a:pt x="11802" y="0"/>
                </a:lnTo>
                <a:lnTo>
                  <a:pt x="118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7" name=""/>
          <p:cNvSpPr/>
          <p:nvPr/>
        </p:nvSpPr>
        <p:spPr>
          <a:xfrm>
            <a:off x="752400" y="2000160"/>
            <a:ext cx="9720" cy="1371960"/>
          </a:xfrm>
          <a:custGeom>
            <a:avLst/>
            <a:gdLst/>
            <a:ahLst/>
            <a:rect l="0" t="0" r="r" b="b"/>
            <a:pathLst>
              <a:path w="27" h="3811">
                <a:moveTo>
                  <a:pt x="0" y="0"/>
                </a:moveTo>
                <a:lnTo>
                  <a:pt x="27" y="0"/>
                </a:lnTo>
                <a:lnTo>
                  <a:pt x="27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8" name=""/>
          <p:cNvSpPr/>
          <p:nvPr/>
        </p:nvSpPr>
        <p:spPr>
          <a:xfrm>
            <a:off x="2057040" y="2000160"/>
            <a:ext cx="10080" cy="1371960"/>
          </a:xfrm>
          <a:custGeom>
            <a:avLst/>
            <a:gdLst/>
            <a:ahLst/>
            <a:rect l="0" t="0" r="r" b="b"/>
            <a:pathLst>
              <a:path w="28" h="3811">
                <a:moveTo>
                  <a:pt x="0" y="0"/>
                </a:moveTo>
                <a:lnTo>
                  <a:pt x="28" y="0"/>
                </a:lnTo>
                <a:lnTo>
                  <a:pt x="28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39" name=""/>
          <p:cNvSpPr/>
          <p:nvPr/>
        </p:nvSpPr>
        <p:spPr>
          <a:xfrm>
            <a:off x="7572240" y="2000160"/>
            <a:ext cx="9720" cy="1371960"/>
          </a:xfrm>
          <a:custGeom>
            <a:avLst/>
            <a:gdLst/>
            <a:ahLst/>
            <a:rect l="0" t="0" r="r" b="b"/>
            <a:pathLst>
              <a:path w="27" h="3811">
                <a:moveTo>
                  <a:pt x="0" y="0"/>
                </a:moveTo>
                <a:lnTo>
                  <a:pt x="27" y="0"/>
                </a:lnTo>
                <a:lnTo>
                  <a:pt x="27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0" name=""/>
          <p:cNvSpPr/>
          <p:nvPr/>
        </p:nvSpPr>
        <p:spPr>
          <a:xfrm>
            <a:off x="752400" y="3371760"/>
            <a:ext cx="9720" cy="1362240"/>
          </a:xfrm>
          <a:custGeom>
            <a:avLst/>
            <a:gdLst/>
            <a:ahLst/>
            <a:rect l="0" t="0" r="r" b="b"/>
            <a:pathLst>
              <a:path w="27" h="3784">
                <a:moveTo>
                  <a:pt x="0" y="0"/>
                </a:moveTo>
                <a:lnTo>
                  <a:pt x="27" y="0"/>
                </a:lnTo>
                <a:lnTo>
                  <a:pt x="27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1" name=""/>
          <p:cNvSpPr/>
          <p:nvPr/>
        </p:nvSpPr>
        <p:spPr>
          <a:xfrm>
            <a:off x="752400" y="3362040"/>
            <a:ext cx="1314720" cy="10080"/>
          </a:xfrm>
          <a:custGeom>
            <a:avLst/>
            <a:gdLst/>
            <a:ahLst/>
            <a:rect l="0" t="0" r="r" b="b"/>
            <a:pathLst>
              <a:path w="3652" h="28">
                <a:moveTo>
                  <a:pt x="0" y="0"/>
                </a:moveTo>
                <a:lnTo>
                  <a:pt x="3652" y="0"/>
                </a:lnTo>
                <a:lnTo>
                  <a:pt x="36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2" name=""/>
          <p:cNvSpPr/>
          <p:nvPr/>
        </p:nvSpPr>
        <p:spPr>
          <a:xfrm>
            <a:off x="2057040" y="3371760"/>
            <a:ext cx="10080" cy="1362240"/>
          </a:xfrm>
          <a:custGeom>
            <a:avLst/>
            <a:gdLst/>
            <a:ahLst/>
            <a:rect l="0" t="0" r="r" b="b"/>
            <a:pathLst>
              <a:path w="28" h="3784">
                <a:moveTo>
                  <a:pt x="0" y="0"/>
                </a:moveTo>
                <a:lnTo>
                  <a:pt x="28" y="0"/>
                </a:lnTo>
                <a:lnTo>
                  <a:pt x="28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3" name=""/>
          <p:cNvSpPr/>
          <p:nvPr/>
        </p:nvSpPr>
        <p:spPr>
          <a:xfrm>
            <a:off x="2066760" y="3362040"/>
            <a:ext cx="5515200" cy="10080"/>
          </a:xfrm>
          <a:custGeom>
            <a:avLst/>
            <a:gdLst/>
            <a:ahLst/>
            <a:rect l="0" t="0" r="r" b="b"/>
            <a:pathLst>
              <a:path w="15320" h="28">
                <a:moveTo>
                  <a:pt x="0" y="0"/>
                </a:moveTo>
                <a:lnTo>
                  <a:pt x="15320" y="0"/>
                </a:lnTo>
                <a:lnTo>
                  <a:pt x="15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4" name=""/>
          <p:cNvSpPr/>
          <p:nvPr/>
        </p:nvSpPr>
        <p:spPr>
          <a:xfrm>
            <a:off x="7572240" y="3371760"/>
            <a:ext cx="9720" cy="1362240"/>
          </a:xfrm>
          <a:custGeom>
            <a:avLst/>
            <a:gdLst/>
            <a:ahLst/>
            <a:rect l="0" t="0" r="r" b="b"/>
            <a:pathLst>
              <a:path w="27" h="3784">
                <a:moveTo>
                  <a:pt x="0" y="0"/>
                </a:moveTo>
                <a:lnTo>
                  <a:pt x="27" y="0"/>
                </a:lnTo>
                <a:lnTo>
                  <a:pt x="27" y="3784"/>
                </a:lnTo>
                <a:lnTo>
                  <a:pt x="0" y="37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5" name=""/>
          <p:cNvSpPr/>
          <p:nvPr/>
        </p:nvSpPr>
        <p:spPr>
          <a:xfrm>
            <a:off x="7581600" y="3362040"/>
            <a:ext cx="4248720" cy="10080"/>
          </a:xfrm>
          <a:custGeom>
            <a:avLst/>
            <a:gdLst/>
            <a:ahLst/>
            <a:rect l="0" t="0" r="r" b="b"/>
            <a:pathLst>
              <a:path w="11802" h="28">
                <a:moveTo>
                  <a:pt x="0" y="0"/>
                </a:moveTo>
                <a:lnTo>
                  <a:pt x="11802" y="0"/>
                </a:lnTo>
                <a:lnTo>
                  <a:pt x="118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6" name=""/>
          <p:cNvSpPr/>
          <p:nvPr/>
        </p:nvSpPr>
        <p:spPr>
          <a:xfrm>
            <a:off x="752400" y="4733640"/>
            <a:ext cx="9720" cy="1371960"/>
          </a:xfrm>
          <a:custGeom>
            <a:avLst/>
            <a:gdLst/>
            <a:ahLst/>
            <a:rect l="0" t="0" r="r" b="b"/>
            <a:pathLst>
              <a:path w="27" h="3811">
                <a:moveTo>
                  <a:pt x="0" y="0"/>
                </a:moveTo>
                <a:lnTo>
                  <a:pt x="27" y="0"/>
                </a:lnTo>
                <a:lnTo>
                  <a:pt x="27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7" name=""/>
          <p:cNvSpPr/>
          <p:nvPr/>
        </p:nvSpPr>
        <p:spPr>
          <a:xfrm>
            <a:off x="752400" y="4724280"/>
            <a:ext cx="1314720" cy="9720"/>
          </a:xfrm>
          <a:custGeom>
            <a:avLst/>
            <a:gdLst/>
            <a:ahLst/>
            <a:rect l="0" t="0" r="r" b="b"/>
            <a:pathLst>
              <a:path w="3652" h="27">
                <a:moveTo>
                  <a:pt x="0" y="0"/>
                </a:moveTo>
                <a:lnTo>
                  <a:pt x="3652" y="0"/>
                </a:lnTo>
                <a:lnTo>
                  <a:pt x="36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8" name=""/>
          <p:cNvSpPr/>
          <p:nvPr/>
        </p:nvSpPr>
        <p:spPr>
          <a:xfrm>
            <a:off x="2057040" y="4733640"/>
            <a:ext cx="10080" cy="1371960"/>
          </a:xfrm>
          <a:custGeom>
            <a:avLst/>
            <a:gdLst/>
            <a:ahLst/>
            <a:rect l="0" t="0" r="r" b="b"/>
            <a:pathLst>
              <a:path w="28" h="3811">
                <a:moveTo>
                  <a:pt x="0" y="0"/>
                </a:moveTo>
                <a:lnTo>
                  <a:pt x="28" y="0"/>
                </a:lnTo>
                <a:lnTo>
                  <a:pt x="28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49" name=""/>
          <p:cNvSpPr/>
          <p:nvPr/>
        </p:nvSpPr>
        <p:spPr>
          <a:xfrm>
            <a:off x="2066760" y="4724280"/>
            <a:ext cx="5515200" cy="9720"/>
          </a:xfrm>
          <a:custGeom>
            <a:avLst/>
            <a:gdLst/>
            <a:ahLst/>
            <a:rect l="0" t="0" r="r" b="b"/>
            <a:pathLst>
              <a:path w="15320" h="27">
                <a:moveTo>
                  <a:pt x="0" y="0"/>
                </a:moveTo>
                <a:lnTo>
                  <a:pt x="15320" y="0"/>
                </a:lnTo>
                <a:lnTo>
                  <a:pt x="1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0" name=""/>
          <p:cNvSpPr/>
          <p:nvPr/>
        </p:nvSpPr>
        <p:spPr>
          <a:xfrm>
            <a:off x="7572240" y="4733640"/>
            <a:ext cx="9720" cy="1371960"/>
          </a:xfrm>
          <a:custGeom>
            <a:avLst/>
            <a:gdLst/>
            <a:ahLst/>
            <a:rect l="0" t="0" r="r" b="b"/>
            <a:pathLst>
              <a:path w="27" h="3811">
                <a:moveTo>
                  <a:pt x="0" y="0"/>
                </a:moveTo>
                <a:lnTo>
                  <a:pt x="27" y="0"/>
                </a:lnTo>
                <a:lnTo>
                  <a:pt x="27" y="3811"/>
                </a:lnTo>
                <a:lnTo>
                  <a:pt x="0" y="381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1" name=""/>
          <p:cNvSpPr/>
          <p:nvPr/>
        </p:nvSpPr>
        <p:spPr>
          <a:xfrm>
            <a:off x="7581600" y="4724280"/>
            <a:ext cx="4248720" cy="9720"/>
          </a:xfrm>
          <a:custGeom>
            <a:avLst/>
            <a:gdLst/>
            <a:ahLst/>
            <a:rect l="0" t="0" r="r" b="b"/>
            <a:pathLst>
              <a:path w="11802" h="27">
                <a:moveTo>
                  <a:pt x="0" y="0"/>
                </a:moveTo>
                <a:lnTo>
                  <a:pt x="11802" y="0"/>
                </a:lnTo>
                <a:lnTo>
                  <a:pt x="118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2" name=""/>
          <p:cNvSpPr/>
          <p:nvPr/>
        </p:nvSpPr>
        <p:spPr>
          <a:xfrm>
            <a:off x="752400" y="6105240"/>
            <a:ext cx="9720" cy="1362600"/>
          </a:xfrm>
          <a:custGeom>
            <a:avLst/>
            <a:gdLst/>
            <a:ahLst/>
            <a:rect l="0" t="0" r="r" b="b"/>
            <a:pathLst>
              <a:path w="27" h="3785">
                <a:moveTo>
                  <a:pt x="0" y="0"/>
                </a:moveTo>
                <a:lnTo>
                  <a:pt x="27" y="0"/>
                </a:lnTo>
                <a:lnTo>
                  <a:pt x="27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3" name=""/>
          <p:cNvSpPr/>
          <p:nvPr/>
        </p:nvSpPr>
        <p:spPr>
          <a:xfrm>
            <a:off x="752400" y="6095880"/>
            <a:ext cx="1314720" cy="9720"/>
          </a:xfrm>
          <a:custGeom>
            <a:avLst/>
            <a:gdLst/>
            <a:ahLst/>
            <a:rect l="0" t="0" r="r" b="b"/>
            <a:pathLst>
              <a:path w="3652" h="27">
                <a:moveTo>
                  <a:pt x="0" y="0"/>
                </a:moveTo>
                <a:lnTo>
                  <a:pt x="3652" y="0"/>
                </a:lnTo>
                <a:lnTo>
                  <a:pt x="36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4" name=""/>
          <p:cNvSpPr/>
          <p:nvPr/>
        </p:nvSpPr>
        <p:spPr>
          <a:xfrm>
            <a:off x="2057040" y="6105240"/>
            <a:ext cx="10080" cy="1362600"/>
          </a:xfrm>
          <a:custGeom>
            <a:avLst/>
            <a:gdLst/>
            <a:ahLst/>
            <a:rect l="0" t="0" r="r" b="b"/>
            <a:pathLst>
              <a:path w="28" h="3785">
                <a:moveTo>
                  <a:pt x="0" y="0"/>
                </a:moveTo>
                <a:lnTo>
                  <a:pt x="28" y="0"/>
                </a:lnTo>
                <a:lnTo>
                  <a:pt x="28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5" name=""/>
          <p:cNvSpPr/>
          <p:nvPr/>
        </p:nvSpPr>
        <p:spPr>
          <a:xfrm>
            <a:off x="2066760" y="6095880"/>
            <a:ext cx="5515200" cy="9720"/>
          </a:xfrm>
          <a:custGeom>
            <a:avLst/>
            <a:gdLst/>
            <a:ahLst/>
            <a:rect l="0" t="0" r="r" b="b"/>
            <a:pathLst>
              <a:path w="15320" h="27">
                <a:moveTo>
                  <a:pt x="0" y="0"/>
                </a:moveTo>
                <a:lnTo>
                  <a:pt x="15320" y="0"/>
                </a:lnTo>
                <a:lnTo>
                  <a:pt x="15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6" name=""/>
          <p:cNvSpPr/>
          <p:nvPr/>
        </p:nvSpPr>
        <p:spPr>
          <a:xfrm>
            <a:off x="7572240" y="6105240"/>
            <a:ext cx="9720" cy="1362600"/>
          </a:xfrm>
          <a:custGeom>
            <a:avLst/>
            <a:gdLst/>
            <a:ahLst/>
            <a:rect l="0" t="0" r="r" b="b"/>
            <a:pathLst>
              <a:path w="27" h="3785">
                <a:moveTo>
                  <a:pt x="0" y="0"/>
                </a:moveTo>
                <a:lnTo>
                  <a:pt x="27" y="0"/>
                </a:lnTo>
                <a:lnTo>
                  <a:pt x="27" y="3785"/>
                </a:lnTo>
                <a:lnTo>
                  <a:pt x="0" y="37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7" name=""/>
          <p:cNvSpPr/>
          <p:nvPr/>
        </p:nvSpPr>
        <p:spPr>
          <a:xfrm>
            <a:off x="7581600" y="6095880"/>
            <a:ext cx="4248720" cy="9720"/>
          </a:xfrm>
          <a:custGeom>
            <a:avLst/>
            <a:gdLst/>
            <a:ahLst/>
            <a:rect l="0" t="0" r="r" b="b"/>
            <a:pathLst>
              <a:path w="11802" h="27">
                <a:moveTo>
                  <a:pt x="0" y="0"/>
                </a:moveTo>
                <a:lnTo>
                  <a:pt x="11802" y="0"/>
                </a:lnTo>
                <a:lnTo>
                  <a:pt x="118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258" name=""/>
          <p:cNvSpPr txBox="1"/>
          <p:nvPr/>
        </p:nvSpPr>
        <p:spPr>
          <a:xfrm>
            <a:off x="747720" y="770400"/>
            <a:ext cx="782028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5 — Garden gotchas (all silent failures)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1085760" y="1569240"/>
            <a:ext cx="645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Field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3402000" y="1569240"/>
            <a:ext cx="28368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WRONG (Ignition era)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8413560" y="1569240"/>
            <a:ext cx="2577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RIGHT (Garden era)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880920" y="2102760"/>
            <a:ext cx="5540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SDF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880920" y="2521800"/>
            <a:ext cx="738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plugin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2190600" y="2314440"/>
            <a:ext cx="5686920" cy="362160"/>
          </a:xfrm>
          <a:custGeom>
            <a:avLst/>
            <a:gdLst/>
            <a:ahLst/>
            <a:rect l="0" t="0" r="r" b="b"/>
            <a:pathLst>
              <a:path w="15797" h="1006">
                <a:moveTo>
                  <a:pt x="0" y="84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797" y="0"/>
                </a:lnTo>
                <a:lnTo>
                  <a:pt x="15797" y="1006"/>
                </a:lnTo>
                <a:lnTo>
                  <a:pt x="159" y="1006"/>
                </a:lnTo>
                <a:cubicBezTo>
                  <a:pt x="148" y="1006"/>
                  <a:pt x="138" y="1005"/>
                  <a:pt x="128" y="1003"/>
                </a:cubicBezTo>
                <a:cubicBezTo>
                  <a:pt x="117" y="1001"/>
                  <a:pt x="108" y="998"/>
                  <a:pt x="98" y="994"/>
                </a:cubicBezTo>
                <a:cubicBezTo>
                  <a:pt x="88" y="990"/>
                  <a:pt x="79" y="985"/>
                  <a:pt x="70" y="980"/>
                </a:cubicBezTo>
                <a:cubicBezTo>
                  <a:pt x="62" y="974"/>
                  <a:pt x="54" y="967"/>
                  <a:pt x="46" y="960"/>
                </a:cubicBezTo>
                <a:cubicBezTo>
                  <a:pt x="39" y="952"/>
                  <a:pt x="32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65" name=""/>
          <p:cNvSpPr txBox="1"/>
          <p:nvPr/>
        </p:nvSpPr>
        <p:spPr>
          <a:xfrm>
            <a:off x="880920" y="2931480"/>
            <a:ext cx="10447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filename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-2124360" y="2733480"/>
            <a:ext cx="5677200" cy="362160"/>
          </a:xfrm>
          <a:custGeom>
            <a:avLst/>
            <a:gdLst/>
            <a:ahLst/>
            <a:rect l="0" t="0" r="r" b="b"/>
            <a:pathLst>
              <a:path w="15770" h="1006">
                <a:moveTo>
                  <a:pt x="0" y="1006"/>
                </a:moveTo>
                <a:lnTo>
                  <a:pt x="0" y="0"/>
                </a:lnTo>
                <a:lnTo>
                  <a:pt x="15612" y="0"/>
                </a:lnTo>
                <a:cubicBezTo>
                  <a:pt x="15622" y="0"/>
                  <a:pt x="15632" y="1"/>
                  <a:pt x="15643" y="3"/>
                </a:cubicBezTo>
                <a:cubicBezTo>
                  <a:pt x="15653" y="5"/>
                  <a:pt x="15663" y="8"/>
                  <a:pt x="15672" y="12"/>
                </a:cubicBezTo>
                <a:cubicBezTo>
                  <a:pt x="15682" y="16"/>
                  <a:pt x="15691" y="21"/>
                  <a:pt x="15700" y="27"/>
                </a:cubicBezTo>
                <a:cubicBezTo>
                  <a:pt x="15709" y="33"/>
                  <a:pt x="15717" y="39"/>
                  <a:pt x="15724" y="47"/>
                </a:cubicBezTo>
                <a:cubicBezTo>
                  <a:pt x="15731" y="54"/>
                  <a:pt x="15738" y="62"/>
                  <a:pt x="15744" y="71"/>
                </a:cubicBezTo>
                <a:cubicBezTo>
                  <a:pt x="15749" y="79"/>
                  <a:pt x="15754" y="88"/>
                  <a:pt x="15758" y="98"/>
                </a:cubicBezTo>
                <a:cubicBezTo>
                  <a:pt x="15762" y="108"/>
                  <a:pt x="15765" y="118"/>
                  <a:pt x="15767" y="128"/>
                </a:cubicBezTo>
                <a:cubicBezTo>
                  <a:pt x="15769" y="138"/>
                  <a:pt x="15770" y="148"/>
                  <a:pt x="15770" y="159"/>
                </a:cubicBezTo>
                <a:lnTo>
                  <a:pt x="15770" y="847"/>
                </a:lnTo>
                <a:cubicBezTo>
                  <a:pt x="15770" y="857"/>
                  <a:pt x="15769" y="867"/>
                  <a:pt x="15767" y="878"/>
                </a:cubicBezTo>
                <a:cubicBezTo>
                  <a:pt x="15765" y="888"/>
                  <a:pt x="15762" y="898"/>
                  <a:pt x="15758" y="907"/>
                </a:cubicBezTo>
                <a:cubicBezTo>
                  <a:pt x="15754" y="917"/>
                  <a:pt x="15749" y="926"/>
                  <a:pt x="15744" y="935"/>
                </a:cubicBezTo>
                <a:cubicBezTo>
                  <a:pt x="15738" y="944"/>
                  <a:pt x="15731" y="953"/>
                  <a:pt x="15724" y="960"/>
                </a:cubicBezTo>
                <a:cubicBezTo>
                  <a:pt x="15717" y="967"/>
                  <a:pt x="15709" y="974"/>
                  <a:pt x="15700" y="980"/>
                </a:cubicBezTo>
                <a:cubicBezTo>
                  <a:pt x="15691" y="985"/>
                  <a:pt x="15682" y="990"/>
                  <a:pt x="15672" y="994"/>
                </a:cubicBezTo>
                <a:cubicBezTo>
                  <a:pt x="15663" y="998"/>
                  <a:pt x="15653" y="1001"/>
                  <a:pt x="15643" y="1003"/>
                </a:cubicBezTo>
                <a:cubicBezTo>
                  <a:pt x="15632" y="1005"/>
                  <a:pt x="15622" y="1006"/>
                  <a:pt x="15612" y="1006"/>
                </a:cubicBezTo>
                <a:lnTo>
                  <a:pt x="0" y="1006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67" name=""/>
          <p:cNvSpPr txBox="1"/>
          <p:nvPr/>
        </p:nvSpPr>
        <p:spPr>
          <a:xfrm>
            <a:off x="2286000" y="2365920"/>
            <a:ext cx="4206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libignition-gazebo-diff-drive-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7705440" y="2523960"/>
            <a:ext cx="3572280" cy="362160"/>
          </a:xfrm>
          <a:custGeom>
            <a:avLst/>
            <a:gdLst/>
            <a:ahLst/>
            <a:rect l="0" t="0" r="r" b="b"/>
            <a:pathLst>
              <a:path w="9923" h="1006">
                <a:moveTo>
                  <a:pt x="0" y="84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764" y="0"/>
                </a:lnTo>
                <a:cubicBezTo>
                  <a:pt x="9775" y="0"/>
                  <a:pt x="9785" y="1"/>
                  <a:pt x="9795" y="3"/>
                </a:cubicBezTo>
                <a:cubicBezTo>
                  <a:pt x="9806" y="5"/>
                  <a:pt x="9816" y="8"/>
                  <a:pt x="9825" y="12"/>
                </a:cubicBezTo>
                <a:cubicBezTo>
                  <a:pt x="9835" y="16"/>
                  <a:pt x="9844" y="21"/>
                  <a:pt x="9853" y="27"/>
                </a:cubicBezTo>
                <a:cubicBezTo>
                  <a:pt x="9861" y="33"/>
                  <a:pt x="9869" y="39"/>
                  <a:pt x="9877" y="46"/>
                </a:cubicBezTo>
                <a:cubicBezTo>
                  <a:pt x="9884" y="54"/>
                  <a:pt x="9891" y="62"/>
                  <a:pt x="9896" y="71"/>
                </a:cubicBezTo>
                <a:cubicBezTo>
                  <a:pt x="9902" y="79"/>
                  <a:pt x="9907" y="88"/>
                  <a:pt x="9911" y="98"/>
                </a:cubicBezTo>
                <a:cubicBezTo>
                  <a:pt x="9915" y="108"/>
                  <a:pt x="9918" y="118"/>
                  <a:pt x="9920" y="128"/>
                </a:cubicBezTo>
                <a:cubicBezTo>
                  <a:pt x="9922" y="138"/>
                  <a:pt x="9923" y="148"/>
                  <a:pt x="9923" y="159"/>
                </a:cubicBezTo>
                <a:lnTo>
                  <a:pt x="9923" y="848"/>
                </a:lnTo>
                <a:cubicBezTo>
                  <a:pt x="9923" y="858"/>
                  <a:pt x="9922" y="868"/>
                  <a:pt x="9920" y="879"/>
                </a:cubicBezTo>
                <a:cubicBezTo>
                  <a:pt x="9918" y="889"/>
                  <a:pt x="9915" y="899"/>
                  <a:pt x="9911" y="908"/>
                </a:cubicBezTo>
                <a:cubicBezTo>
                  <a:pt x="9907" y="918"/>
                  <a:pt x="9902" y="927"/>
                  <a:pt x="9896" y="936"/>
                </a:cubicBezTo>
                <a:cubicBezTo>
                  <a:pt x="9891" y="944"/>
                  <a:pt x="9884" y="953"/>
                  <a:pt x="9877" y="960"/>
                </a:cubicBezTo>
                <a:cubicBezTo>
                  <a:pt x="9869" y="967"/>
                  <a:pt x="9861" y="974"/>
                  <a:pt x="9853" y="980"/>
                </a:cubicBezTo>
                <a:cubicBezTo>
                  <a:pt x="9844" y="985"/>
                  <a:pt x="9835" y="990"/>
                  <a:pt x="9825" y="994"/>
                </a:cubicBezTo>
                <a:cubicBezTo>
                  <a:pt x="9816" y="998"/>
                  <a:pt x="9806" y="1001"/>
                  <a:pt x="9795" y="1003"/>
                </a:cubicBezTo>
                <a:cubicBezTo>
                  <a:pt x="9785" y="1005"/>
                  <a:pt x="9775" y="1006"/>
                  <a:pt x="9764" y="1006"/>
                </a:cubicBezTo>
                <a:lnTo>
                  <a:pt x="159" y="1006"/>
                </a:lnTo>
                <a:cubicBezTo>
                  <a:pt x="149" y="1006"/>
                  <a:pt x="138" y="1005"/>
                  <a:pt x="128" y="1003"/>
                </a:cubicBezTo>
                <a:cubicBezTo>
                  <a:pt x="118" y="1001"/>
                  <a:pt x="108" y="998"/>
                  <a:pt x="98" y="994"/>
                </a:cubicBezTo>
                <a:cubicBezTo>
                  <a:pt x="89" y="990"/>
                  <a:pt x="80" y="985"/>
                  <a:pt x="71" y="980"/>
                </a:cubicBezTo>
                <a:cubicBezTo>
                  <a:pt x="62" y="974"/>
                  <a:pt x="54" y="967"/>
                  <a:pt x="47" y="960"/>
                </a:cubicBezTo>
                <a:cubicBezTo>
                  <a:pt x="39" y="953"/>
                  <a:pt x="33" y="944"/>
                  <a:pt x="27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8"/>
                  <a:pt x="0" y="858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69" name=""/>
          <p:cNvSpPr txBox="1"/>
          <p:nvPr/>
        </p:nvSpPr>
        <p:spPr>
          <a:xfrm>
            <a:off x="2192400" y="2784960"/>
            <a:ext cx="1262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system.so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7801560" y="2575440"/>
            <a:ext cx="3365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gz-sim-diff-drive-system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880920" y="3474360"/>
            <a:ext cx="5540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SDF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880920" y="3884040"/>
            <a:ext cx="738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plugin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2190600" y="3895560"/>
            <a:ext cx="5258160" cy="352800"/>
          </a:xfrm>
          <a:custGeom>
            <a:avLst/>
            <a:gdLst/>
            <a:ahLst/>
            <a:rect l="0" t="0" r="r" b="b"/>
            <a:pathLst>
              <a:path w="14606" h="98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4447" y="0"/>
                </a:lnTo>
                <a:cubicBezTo>
                  <a:pt x="14458" y="0"/>
                  <a:pt x="14468" y="1"/>
                  <a:pt x="14478" y="3"/>
                </a:cubicBezTo>
                <a:cubicBezTo>
                  <a:pt x="14488" y="5"/>
                  <a:pt x="14498" y="8"/>
                  <a:pt x="14508" y="12"/>
                </a:cubicBezTo>
                <a:cubicBezTo>
                  <a:pt x="14518" y="16"/>
                  <a:pt x="14527" y="21"/>
                  <a:pt x="14535" y="27"/>
                </a:cubicBezTo>
                <a:cubicBezTo>
                  <a:pt x="14544" y="33"/>
                  <a:pt x="14552" y="39"/>
                  <a:pt x="14559" y="46"/>
                </a:cubicBezTo>
                <a:cubicBezTo>
                  <a:pt x="14567" y="54"/>
                  <a:pt x="14573" y="62"/>
                  <a:pt x="14579" y="71"/>
                </a:cubicBezTo>
                <a:cubicBezTo>
                  <a:pt x="14585" y="79"/>
                  <a:pt x="14590" y="88"/>
                  <a:pt x="14594" y="98"/>
                </a:cubicBezTo>
                <a:cubicBezTo>
                  <a:pt x="14598" y="108"/>
                  <a:pt x="14601" y="118"/>
                  <a:pt x="14603" y="128"/>
                </a:cubicBezTo>
                <a:cubicBezTo>
                  <a:pt x="14605" y="138"/>
                  <a:pt x="14606" y="148"/>
                  <a:pt x="14606" y="159"/>
                </a:cubicBezTo>
                <a:lnTo>
                  <a:pt x="14606" y="821"/>
                </a:lnTo>
                <a:cubicBezTo>
                  <a:pt x="14606" y="832"/>
                  <a:pt x="14605" y="842"/>
                  <a:pt x="14603" y="852"/>
                </a:cubicBezTo>
                <a:cubicBezTo>
                  <a:pt x="14601" y="862"/>
                  <a:pt x="14598" y="872"/>
                  <a:pt x="14594" y="882"/>
                </a:cubicBezTo>
                <a:cubicBezTo>
                  <a:pt x="14590" y="892"/>
                  <a:pt x="14585" y="901"/>
                  <a:pt x="14579" y="909"/>
                </a:cubicBezTo>
                <a:cubicBezTo>
                  <a:pt x="14573" y="918"/>
                  <a:pt x="14567" y="926"/>
                  <a:pt x="14559" y="933"/>
                </a:cubicBezTo>
                <a:cubicBezTo>
                  <a:pt x="14552" y="941"/>
                  <a:pt x="14544" y="947"/>
                  <a:pt x="14535" y="953"/>
                </a:cubicBezTo>
                <a:cubicBezTo>
                  <a:pt x="14527" y="959"/>
                  <a:pt x="14518" y="964"/>
                  <a:pt x="14508" y="968"/>
                </a:cubicBezTo>
                <a:cubicBezTo>
                  <a:pt x="14498" y="972"/>
                  <a:pt x="14488" y="975"/>
                  <a:pt x="14478" y="977"/>
                </a:cubicBezTo>
                <a:cubicBezTo>
                  <a:pt x="14468" y="979"/>
                  <a:pt x="14458" y="980"/>
                  <a:pt x="14447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8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74" name=""/>
          <p:cNvSpPr txBox="1"/>
          <p:nvPr/>
        </p:nvSpPr>
        <p:spPr>
          <a:xfrm>
            <a:off x="880920" y="4303080"/>
            <a:ext cx="6926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name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7705440" y="3895560"/>
            <a:ext cx="3991320" cy="352800"/>
          </a:xfrm>
          <a:custGeom>
            <a:avLst/>
            <a:gdLst/>
            <a:ahLst/>
            <a:rect l="0" t="0" r="r" b="b"/>
            <a:pathLst>
              <a:path w="11087" h="980">
                <a:moveTo>
                  <a:pt x="0" y="82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929" y="0"/>
                </a:lnTo>
                <a:cubicBezTo>
                  <a:pt x="10939" y="0"/>
                  <a:pt x="10949" y="1"/>
                  <a:pt x="10960" y="3"/>
                </a:cubicBezTo>
                <a:cubicBezTo>
                  <a:pt x="10970" y="5"/>
                  <a:pt x="10980" y="8"/>
                  <a:pt x="10989" y="12"/>
                </a:cubicBezTo>
                <a:cubicBezTo>
                  <a:pt x="10999" y="16"/>
                  <a:pt x="11008" y="21"/>
                  <a:pt x="11017" y="27"/>
                </a:cubicBezTo>
                <a:cubicBezTo>
                  <a:pt x="11025" y="33"/>
                  <a:pt x="11033" y="39"/>
                  <a:pt x="11041" y="46"/>
                </a:cubicBezTo>
                <a:cubicBezTo>
                  <a:pt x="11048" y="54"/>
                  <a:pt x="11055" y="62"/>
                  <a:pt x="11061" y="71"/>
                </a:cubicBezTo>
                <a:cubicBezTo>
                  <a:pt x="11066" y="79"/>
                  <a:pt x="11071" y="88"/>
                  <a:pt x="11075" y="98"/>
                </a:cubicBezTo>
                <a:cubicBezTo>
                  <a:pt x="11079" y="108"/>
                  <a:pt x="11082" y="118"/>
                  <a:pt x="11084" y="128"/>
                </a:cubicBezTo>
                <a:cubicBezTo>
                  <a:pt x="11086" y="138"/>
                  <a:pt x="11087" y="148"/>
                  <a:pt x="11087" y="159"/>
                </a:cubicBezTo>
                <a:lnTo>
                  <a:pt x="11087" y="821"/>
                </a:lnTo>
                <a:cubicBezTo>
                  <a:pt x="11087" y="832"/>
                  <a:pt x="11086" y="842"/>
                  <a:pt x="11084" y="852"/>
                </a:cubicBezTo>
                <a:cubicBezTo>
                  <a:pt x="11082" y="862"/>
                  <a:pt x="11079" y="872"/>
                  <a:pt x="11075" y="882"/>
                </a:cubicBezTo>
                <a:cubicBezTo>
                  <a:pt x="11071" y="892"/>
                  <a:pt x="11066" y="901"/>
                  <a:pt x="11061" y="909"/>
                </a:cubicBezTo>
                <a:cubicBezTo>
                  <a:pt x="11055" y="918"/>
                  <a:pt x="11048" y="926"/>
                  <a:pt x="11041" y="933"/>
                </a:cubicBezTo>
                <a:cubicBezTo>
                  <a:pt x="11033" y="941"/>
                  <a:pt x="11025" y="947"/>
                  <a:pt x="11017" y="953"/>
                </a:cubicBezTo>
                <a:cubicBezTo>
                  <a:pt x="11008" y="959"/>
                  <a:pt x="10999" y="964"/>
                  <a:pt x="10989" y="968"/>
                </a:cubicBezTo>
                <a:cubicBezTo>
                  <a:pt x="10980" y="972"/>
                  <a:pt x="10970" y="975"/>
                  <a:pt x="10960" y="977"/>
                </a:cubicBezTo>
                <a:cubicBezTo>
                  <a:pt x="10949" y="979"/>
                  <a:pt x="10939" y="980"/>
                  <a:pt x="10929" y="980"/>
                </a:cubicBezTo>
                <a:lnTo>
                  <a:pt x="159" y="980"/>
                </a:lnTo>
                <a:cubicBezTo>
                  <a:pt x="149" y="980"/>
                  <a:pt x="138" y="979"/>
                  <a:pt x="128" y="977"/>
                </a:cubicBezTo>
                <a:cubicBezTo>
                  <a:pt x="118" y="975"/>
                  <a:pt x="108" y="972"/>
                  <a:pt x="98" y="968"/>
                </a:cubicBezTo>
                <a:cubicBezTo>
                  <a:pt x="89" y="964"/>
                  <a:pt x="80" y="959"/>
                  <a:pt x="71" y="953"/>
                </a:cubicBezTo>
                <a:cubicBezTo>
                  <a:pt x="62" y="947"/>
                  <a:pt x="54" y="941"/>
                  <a:pt x="47" y="933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76" name=""/>
          <p:cNvSpPr txBox="1"/>
          <p:nvPr/>
        </p:nvSpPr>
        <p:spPr>
          <a:xfrm>
            <a:off x="2286000" y="3947040"/>
            <a:ext cx="5048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ignition::gazebo::systems::DiffDrive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7801560" y="3947040"/>
            <a:ext cx="3646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gz::sim::systems::DiffDriv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880920" y="4836240"/>
            <a:ext cx="7992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Bridge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880920" y="5255640"/>
            <a:ext cx="523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msg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2190600" y="5257440"/>
            <a:ext cx="3143520" cy="362520"/>
          </a:xfrm>
          <a:custGeom>
            <a:avLst/>
            <a:gdLst/>
            <a:ahLst/>
            <a:rect l="0" t="0" r="r" b="b"/>
            <a:pathLst>
              <a:path w="8732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7" y="6"/>
                  <a:pt x="128" y="4"/>
                </a:cubicBezTo>
                <a:cubicBezTo>
                  <a:pt x="138" y="2"/>
                  <a:pt x="148" y="1"/>
                  <a:pt x="159" y="0"/>
                </a:cubicBezTo>
                <a:lnTo>
                  <a:pt x="8573" y="0"/>
                </a:lnTo>
                <a:cubicBezTo>
                  <a:pt x="8584" y="1"/>
                  <a:pt x="8594" y="2"/>
                  <a:pt x="8604" y="4"/>
                </a:cubicBezTo>
                <a:cubicBezTo>
                  <a:pt x="8615" y="6"/>
                  <a:pt x="8625" y="9"/>
                  <a:pt x="8634" y="13"/>
                </a:cubicBezTo>
                <a:cubicBezTo>
                  <a:pt x="8644" y="17"/>
                  <a:pt x="8653" y="21"/>
                  <a:pt x="8662" y="27"/>
                </a:cubicBezTo>
                <a:cubicBezTo>
                  <a:pt x="8670" y="33"/>
                  <a:pt x="8678" y="40"/>
                  <a:pt x="8686" y="47"/>
                </a:cubicBezTo>
                <a:cubicBezTo>
                  <a:pt x="8693" y="54"/>
                  <a:pt x="8700" y="62"/>
                  <a:pt x="8705" y="71"/>
                </a:cubicBezTo>
                <a:cubicBezTo>
                  <a:pt x="8711" y="80"/>
                  <a:pt x="8716" y="89"/>
                  <a:pt x="8720" y="98"/>
                </a:cubicBezTo>
                <a:cubicBezTo>
                  <a:pt x="8724" y="108"/>
                  <a:pt x="8727" y="118"/>
                  <a:pt x="8729" y="128"/>
                </a:cubicBezTo>
                <a:cubicBezTo>
                  <a:pt x="8731" y="139"/>
                  <a:pt x="8732" y="149"/>
                  <a:pt x="8732" y="159"/>
                </a:cubicBezTo>
                <a:lnTo>
                  <a:pt x="8732" y="847"/>
                </a:lnTo>
                <a:cubicBezTo>
                  <a:pt x="8732" y="858"/>
                  <a:pt x="8731" y="868"/>
                  <a:pt x="8729" y="878"/>
                </a:cubicBezTo>
                <a:cubicBezTo>
                  <a:pt x="8727" y="888"/>
                  <a:pt x="8724" y="898"/>
                  <a:pt x="8720" y="908"/>
                </a:cubicBezTo>
                <a:cubicBezTo>
                  <a:pt x="8716" y="918"/>
                  <a:pt x="8711" y="927"/>
                  <a:pt x="8705" y="935"/>
                </a:cubicBezTo>
                <a:cubicBezTo>
                  <a:pt x="8700" y="944"/>
                  <a:pt x="8693" y="952"/>
                  <a:pt x="8686" y="959"/>
                </a:cubicBezTo>
                <a:cubicBezTo>
                  <a:pt x="8678" y="967"/>
                  <a:pt x="8670" y="973"/>
                  <a:pt x="8662" y="980"/>
                </a:cubicBezTo>
                <a:cubicBezTo>
                  <a:pt x="8653" y="986"/>
                  <a:pt x="8644" y="991"/>
                  <a:pt x="8634" y="995"/>
                </a:cubicBezTo>
                <a:cubicBezTo>
                  <a:pt x="8625" y="999"/>
                  <a:pt x="8615" y="1002"/>
                  <a:pt x="8604" y="1004"/>
                </a:cubicBezTo>
                <a:cubicBezTo>
                  <a:pt x="8594" y="1006"/>
                  <a:pt x="8584" y="1007"/>
                  <a:pt x="8573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8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3"/>
                  <a:pt x="54" y="967"/>
                  <a:pt x="46" y="959"/>
                </a:cubicBezTo>
                <a:cubicBezTo>
                  <a:pt x="39" y="952"/>
                  <a:pt x="32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81" name=""/>
          <p:cNvSpPr txBox="1"/>
          <p:nvPr/>
        </p:nvSpPr>
        <p:spPr>
          <a:xfrm>
            <a:off x="880920" y="5664960"/>
            <a:ext cx="523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type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7705440" y="5257440"/>
            <a:ext cx="2305440" cy="362520"/>
          </a:xfrm>
          <a:custGeom>
            <a:avLst/>
            <a:gdLst/>
            <a:ahLst/>
            <a:rect l="0" t="0" r="r" b="b"/>
            <a:pathLst>
              <a:path w="6404" h="1007">
                <a:moveTo>
                  <a:pt x="0" y="84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1"/>
                  <a:pt x="159" y="0"/>
                </a:cubicBezTo>
                <a:lnTo>
                  <a:pt x="6245" y="0"/>
                </a:lnTo>
                <a:cubicBezTo>
                  <a:pt x="6256" y="1"/>
                  <a:pt x="6266" y="2"/>
                  <a:pt x="6276" y="4"/>
                </a:cubicBezTo>
                <a:cubicBezTo>
                  <a:pt x="6287" y="6"/>
                  <a:pt x="6297" y="9"/>
                  <a:pt x="6306" y="13"/>
                </a:cubicBezTo>
                <a:cubicBezTo>
                  <a:pt x="6316" y="17"/>
                  <a:pt x="6325" y="21"/>
                  <a:pt x="6334" y="27"/>
                </a:cubicBezTo>
                <a:cubicBezTo>
                  <a:pt x="6342" y="33"/>
                  <a:pt x="6350" y="40"/>
                  <a:pt x="6358" y="47"/>
                </a:cubicBezTo>
                <a:cubicBezTo>
                  <a:pt x="6365" y="54"/>
                  <a:pt x="6372" y="62"/>
                  <a:pt x="6377" y="71"/>
                </a:cubicBezTo>
                <a:cubicBezTo>
                  <a:pt x="6383" y="80"/>
                  <a:pt x="6388" y="89"/>
                  <a:pt x="6392" y="98"/>
                </a:cubicBezTo>
                <a:cubicBezTo>
                  <a:pt x="6396" y="108"/>
                  <a:pt x="6399" y="118"/>
                  <a:pt x="6401" y="128"/>
                </a:cubicBezTo>
                <a:cubicBezTo>
                  <a:pt x="6403" y="139"/>
                  <a:pt x="6404" y="149"/>
                  <a:pt x="6404" y="159"/>
                </a:cubicBezTo>
                <a:lnTo>
                  <a:pt x="6404" y="847"/>
                </a:lnTo>
                <a:cubicBezTo>
                  <a:pt x="6404" y="858"/>
                  <a:pt x="6403" y="868"/>
                  <a:pt x="6401" y="878"/>
                </a:cubicBezTo>
                <a:cubicBezTo>
                  <a:pt x="6399" y="888"/>
                  <a:pt x="6396" y="898"/>
                  <a:pt x="6392" y="908"/>
                </a:cubicBezTo>
                <a:cubicBezTo>
                  <a:pt x="6388" y="918"/>
                  <a:pt x="6383" y="927"/>
                  <a:pt x="6377" y="935"/>
                </a:cubicBezTo>
                <a:cubicBezTo>
                  <a:pt x="6372" y="944"/>
                  <a:pt x="6365" y="952"/>
                  <a:pt x="6358" y="959"/>
                </a:cubicBezTo>
                <a:cubicBezTo>
                  <a:pt x="6350" y="967"/>
                  <a:pt x="6342" y="973"/>
                  <a:pt x="6334" y="980"/>
                </a:cubicBezTo>
                <a:cubicBezTo>
                  <a:pt x="6325" y="986"/>
                  <a:pt x="6316" y="991"/>
                  <a:pt x="6306" y="995"/>
                </a:cubicBezTo>
                <a:cubicBezTo>
                  <a:pt x="6297" y="999"/>
                  <a:pt x="6287" y="1002"/>
                  <a:pt x="6276" y="1004"/>
                </a:cubicBezTo>
                <a:cubicBezTo>
                  <a:pt x="6266" y="1006"/>
                  <a:pt x="6256" y="1007"/>
                  <a:pt x="6245" y="1007"/>
                </a:cubicBez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3"/>
                  <a:pt x="54" y="967"/>
                  <a:pt x="47" y="959"/>
                </a:cubicBezTo>
                <a:cubicBezTo>
                  <a:pt x="39" y="952"/>
                  <a:pt x="33" y="944"/>
                  <a:pt x="27" y="935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8"/>
                  <a:pt x="5" y="888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83" name=""/>
          <p:cNvSpPr txBox="1"/>
          <p:nvPr/>
        </p:nvSpPr>
        <p:spPr>
          <a:xfrm>
            <a:off x="2286000" y="5309280"/>
            <a:ext cx="2944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…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@ignition.msgs.Twist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84" name=""/>
          <p:cNvSpPr txBox="1"/>
          <p:nvPr/>
        </p:nvSpPr>
        <p:spPr>
          <a:xfrm>
            <a:off x="7801560" y="5309280"/>
            <a:ext cx="2103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…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@gz.msgs.Twist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85" name=""/>
          <p:cNvSpPr txBox="1"/>
          <p:nvPr/>
        </p:nvSpPr>
        <p:spPr>
          <a:xfrm>
            <a:off x="880920" y="6207840"/>
            <a:ext cx="415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Apt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2190600" y="6629040"/>
            <a:ext cx="3572280" cy="352800"/>
          </a:xfrm>
          <a:custGeom>
            <a:avLst/>
            <a:gdLst/>
            <a:ahLst/>
            <a:rect l="0" t="0" r="r" b="b"/>
            <a:pathLst>
              <a:path w="9923" h="980">
                <a:moveTo>
                  <a:pt x="0" y="822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7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9764" y="0"/>
                </a:lnTo>
                <a:cubicBezTo>
                  <a:pt x="9774" y="0"/>
                  <a:pt x="9785" y="2"/>
                  <a:pt x="9795" y="4"/>
                </a:cubicBezTo>
                <a:cubicBezTo>
                  <a:pt x="9805" y="6"/>
                  <a:pt x="9815" y="9"/>
                  <a:pt x="9825" y="13"/>
                </a:cubicBezTo>
                <a:cubicBezTo>
                  <a:pt x="9834" y="17"/>
                  <a:pt x="9844" y="21"/>
                  <a:pt x="9852" y="27"/>
                </a:cubicBezTo>
                <a:cubicBezTo>
                  <a:pt x="9861" y="33"/>
                  <a:pt x="9869" y="40"/>
                  <a:pt x="9876" y="47"/>
                </a:cubicBezTo>
                <a:cubicBezTo>
                  <a:pt x="9884" y="54"/>
                  <a:pt x="9890" y="62"/>
                  <a:pt x="9896" y="71"/>
                </a:cubicBezTo>
                <a:cubicBezTo>
                  <a:pt x="9902" y="80"/>
                  <a:pt x="9907" y="89"/>
                  <a:pt x="9911" y="98"/>
                </a:cubicBezTo>
                <a:cubicBezTo>
                  <a:pt x="9915" y="108"/>
                  <a:pt x="9918" y="118"/>
                  <a:pt x="9920" y="128"/>
                </a:cubicBezTo>
                <a:cubicBezTo>
                  <a:pt x="9922" y="139"/>
                  <a:pt x="9923" y="149"/>
                  <a:pt x="9923" y="159"/>
                </a:cubicBezTo>
                <a:lnTo>
                  <a:pt x="9923" y="822"/>
                </a:lnTo>
                <a:cubicBezTo>
                  <a:pt x="9923" y="832"/>
                  <a:pt x="9922" y="842"/>
                  <a:pt x="9920" y="853"/>
                </a:cubicBezTo>
                <a:cubicBezTo>
                  <a:pt x="9918" y="863"/>
                  <a:pt x="9915" y="873"/>
                  <a:pt x="9911" y="882"/>
                </a:cubicBezTo>
                <a:cubicBezTo>
                  <a:pt x="9907" y="892"/>
                  <a:pt x="9902" y="901"/>
                  <a:pt x="9896" y="910"/>
                </a:cubicBezTo>
                <a:cubicBezTo>
                  <a:pt x="9890" y="919"/>
                  <a:pt x="9884" y="927"/>
                  <a:pt x="9876" y="934"/>
                </a:cubicBezTo>
                <a:cubicBezTo>
                  <a:pt x="9869" y="941"/>
                  <a:pt x="9861" y="948"/>
                  <a:pt x="9852" y="954"/>
                </a:cubicBezTo>
                <a:cubicBezTo>
                  <a:pt x="9844" y="959"/>
                  <a:pt x="9834" y="964"/>
                  <a:pt x="9825" y="968"/>
                </a:cubicBezTo>
                <a:cubicBezTo>
                  <a:pt x="9815" y="972"/>
                  <a:pt x="9805" y="975"/>
                  <a:pt x="9795" y="977"/>
                </a:cubicBezTo>
                <a:cubicBezTo>
                  <a:pt x="9785" y="979"/>
                  <a:pt x="9774" y="980"/>
                  <a:pt x="9764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8" y="972"/>
                  <a:pt x="98" y="968"/>
                </a:cubicBezTo>
                <a:cubicBezTo>
                  <a:pt x="88" y="964"/>
                  <a:pt x="79" y="959"/>
                  <a:pt x="70" y="954"/>
                </a:cubicBezTo>
                <a:cubicBezTo>
                  <a:pt x="62" y="948"/>
                  <a:pt x="54" y="941"/>
                  <a:pt x="46" y="934"/>
                </a:cubicBezTo>
                <a:cubicBezTo>
                  <a:pt x="39" y="927"/>
                  <a:pt x="32" y="919"/>
                  <a:pt x="27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3"/>
                </a:cubicBezTo>
                <a:cubicBezTo>
                  <a:pt x="1" y="842"/>
                  <a:pt x="0" y="832"/>
                  <a:pt x="0" y="82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87" name=""/>
          <p:cNvSpPr txBox="1"/>
          <p:nvPr/>
        </p:nvSpPr>
        <p:spPr>
          <a:xfrm>
            <a:off x="880920" y="6617520"/>
            <a:ext cx="768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bridge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88" name=""/>
          <p:cNvSpPr txBox="1"/>
          <p:nvPr/>
        </p:nvSpPr>
        <p:spPr>
          <a:xfrm>
            <a:off x="2286000" y="6680880"/>
            <a:ext cx="3365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ros-humble-ros-gz-bridge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7705440" y="6419520"/>
            <a:ext cx="4420080" cy="362520"/>
          </a:xfrm>
          <a:custGeom>
            <a:avLst/>
            <a:gdLst/>
            <a:ahLst/>
            <a:rect l="0" t="0" r="r" b="b"/>
            <a:pathLst>
              <a:path w="12278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278" y="0"/>
                </a:lnTo>
                <a:lnTo>
                  <a:pt x="12278" y="1007"/>
                </a:lnTo>
                <a:lnTo>
                  <a:pt x="159" y="1007"/>
                </a:lnTo>
                <a:cubicBezTo>
                  <a:pt x="149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80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8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90" name=""/>
          <p:cNvSpPr txBox="1"/>
          <p:nvPr/>
        </p:nvSpPr>
        <p:spPr>
          <a:xfrm>
            <a:off x="5837040" y="6617520"/>
            <a:ext cx="11970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(Fortress)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4228920" y="6829200"/>
            <a:ext cx="4420080" cy="362520"/>
          </a:xfrm>
          <a:custGeom>
            <a:avLst/>
            <a:gdLst/>
            <a:ahLst/>
            <a:rect l="0" t="0" r="r" b="b"/>
            <a:pathLst>
              <a:path w="12278" h="1007">
                <a:moveTo>
                  <a:pt x="0" y="1007"/>
                </a:moveTo>
                <a:lnTo>
                  <a:pt x="0" y="0"/>
                </a:lnTo>
                <a:lnTo>
                  <a:pt x="12119" y="0"/>
                </a:lnTo>
                <a:cubicBezTo>
                  <a:pt x="12129" y="0"/>
                  <a:pt x="12140" y="1"/>
                  <a:pt x="12150" y="3"/>
                </a:cubicBezTo>
                <a:cubicBezTo>
                  <a:pt x="12160" y="5"/>
                  <a:pt x="12170" y="8"/>
                  <a:pt x="12180" y="12"/>
                </a:cubicBezTo>
                <a:cubicBezTo>
                  <a:pt x="12189" y="16"/>
                  <a:pt x="12198" y="21"/>
                  <a:pt x="12207" y="27"/>
                </a:cubicBezTo>
                <a:cubicBezTo>
                  <a:pt x="12216" y="33"/>
                  <a:pt x="12224" y="39"/>
                  <a:pt x="12231" y="47"/>
                </a:cubicBezTo>
                <a:cubicBezTo>
                  <a:pt x="12239" y="54"/>
                  <a:pt x="12245" y="62"/>
                  <a:pt x="12251" y="71"/>
                </a:cubicBezTo>
                <a:cubicBezTo>
                  <a:pt x="12257" y="79"/>
                  <a:pt x="12262" y="88"/>
                  <a:pt x="12266" y="98"/>
                </a:cubicBezTo>
                <a:cubicBezTo>
                  <a:pt x="12270" y="108"/>
                  <a:pt x="12273" y="118"/>
                  <a:pt x="12275" y="128"/>
                </a:cubicBezTo>
                <a:cubicBezTo>
                  <a:pt x="12277" y="138"/>
                  <a:pt x="12278" y="148"/>
                  <a:pt x="12278" y="159"/>
                </a:cubicBezTo>
                <a:lnTo>
                  <a:pt x="12278" y="848"/>
                </a:lnTo>
                <a:cubicBezTo>
                  <a:pt x="12278" y="858"/>
                  <a:pt x="12277" y="869"/>
                  <a:pt x="12275" y="879"/>
                </a:cubicBezTo>
                <a:cubicBezTo>
                  <a:pt x="12273" y="889"/>
                  <a:pt x="12270" y="899"/>
                  <a:pt x="12266" y="909"/>
                </a:cubicBezTo>
                <a:cubicBezTo>
                  <a:pt x="12262" y="918"/>
                  <a:pt x="12257" y="927"/>
                  <a:pt x="12251" y="936"/>
                </a:cubicBezTo>
                <a:cubicBezTo>
                  <a:pt x="12245" y="945"/>
                  <a:pt x="12239" y="953"/>
                  <a:pt x="12231" y="960"/>
                </a:cubicBezTo>
                <a:cubicBezTo>
                  <a:pt x="12224" y="967"/>
                  <a:pt x="12216" y="974"/>
                  <a:pt x="12207" y="980"/>
                </a:cubicBezTo>
                <a:cubicBezTo>
                  <a:pt x="12198" y="986"/>
                  <a:pt x="12189" y="990"/>
                  <a:pt x="12180" y="994"/>
                </a:cubicBezTo>
                <a:cubicBezTo>
                  <a:pt x="12170" y="998"/>
                  <a:pt x="12160" y="1001"/>
                  <a:pt x="12150" y="1003"/>
                </a:cubicBezTo>
                <a:cubicBezTo>
                  <a:pt x="12140" y="1006"/>
                  <a:pt x="12129" y="1007"/>
                  <a:pt x="12119" y="1007"/>
                </a:cubicBezTo>
                <a:lnTo>
                  <a:pt x="0" y="1007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292" name=""/>
          <p:cNvSpPr txBox="1"/>
          <p:nvPr/>
        </p:nvSpPr>
        <p:spPr>
          <a:xfrm>
            <a:off x="7801560" y="6471000"/>
            <a:ext cx="3365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ros-humble-ros-gzgarden-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31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95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97" name=""/>
          <p:cNvSpPr/>
          <p:nvPr/>
        </p:nvSpPr>
        <p:spPr>
          <a:xfrm>
            <a:off x="757080" y="1461960"/>
            <a:ext cx="10687320" cy="4096080"/>
          </a:xfrm>
          <a:custGeom>
            <a:avLst/>
            <a:gdLst/>
            <a:ahLst/>
            <a:rect l="0" t="0" r="r" b="b"/>
            <a:pathLst>
              <a:path w="29687" h="11378">
                <a:moveTo>
                  <a:pt x="0" y="1123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1232"/>
                </a:lnTo>
                <a:cubicBezTo>
                  <a:pt x="29687" y="11242"/>
                  <a:pt x="29686" y="11251"/>
                  <a:pt x="29684" y="11261"/>
                </a:cubicBezTo>
                <a:cubicBezTo>
                  <a:pt x="29683" y="11270"/>
                  <a:pt x="29680" y="11279"/>
                  <a:pt x="29676" y="11288"/>
                </a:cubicBezTo>
                <a:cubicBezTo>
                  <a:pt x="29672" y="11297"/>
                  <a:pt x="29668" y="11305"/>
                  <a:pt x="29663" y="11313"/>
                </a:cubicBezTo>
                <a:cubicBezTo>
                  <a:pt x="29657" y="11321"/>
                  <a:pt x="29651" y="11329"/>
                  <a:pt x="29645" y="11335"/>
                </a:cubicBezTo>
                <a:cubicBezTo>
                  <a:pt x="29638" y="11342"/>
                  <a:pt x="29630" y="11348"/>
                  <a:pt x="29623" y="11353"/>
                </a:cubicBezTo>
                <a:cubicBezTo>
                  <a:pt x="29615" y="11359"/>
                  <a:pt x="29606" y="11363"/>
                  <a:pt x="29597" y="11367"/>
                </a:cubicBezTo>
                <a:cubicBezTo>
                  <a:pt x="29589" y="11371"/>
                  <a:pt x="29579" y="11373"/>
                  <a:pt x="29570" y="11375"/>
                </a:cubicBezTo>
                <a:cubicBezTo>
                  <a:pt x="29561" y="11377"/>
                  <a:pt x="29551" y="11378"/>
                  <a:pt x="29542" y="11378"/>
                </a:cubicBezTo>
                <a:lnTo>
                  <a:pt x="145" y="11378"/>
                </a:lnTo>
                <a:cubicBezTo>
                  <a:pt x="136" y="11378"/>
                  <a:pt x="126" y="11377"/>
                  <a:pt x="117" y="11375"/>
                </a:cubicBezTo>
                <a:cubicBezTo>
                  <a:pt x="108" y="11373"/>
                  <a:pt x="99" y="11371"/>
                  <a:pt x="90" y="11367"/>
                </a:cubicBezTo>
                <a:cubicBezTo>
                  <a:pt x="81" y="11363"/>
                  <a:pt x="73" y="11359"/>
                  <a:pt x="65" y="11353"/>
                </a:cubicBezTo>
                <a:cubicBezTo>
                  <a:pt x="57" y="11348"/>
                  <a:pt x="49" y="11342"/>
                  <a:pt x="43" y="11335"/>
                </a:cubicBezTo>
                <a:cubicBezTo>
                  <a:pt x="36" y="11329"/>
                  <a:pt x="30" y="11321"/>
                  <a:pt x="24" y="11313"/>
                </a:cubicBezTo>
                <a:cubicBezTo>
                  <a:pt x="19" y="11305"/>
                  <a:pt x="15" y="11297"/>
                  <a:pt x="11" y="11288"/>
                </a:cubicBezTo>
                <a:cubicBezTo>
                  <a:pt x="7" y="11279"/>
                  <a:pt x="5" y="11270"/>
                  <a:pt x="3" y="11261"/>
                </a:cubicBezTo>
                <a:cubicBezTo>
                  <a:pt x="1" y="11251"/>
                  <a:pt x="0" y="11242"/>
                  <a:pt x="0" y="1123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298" name=""/>
          <p:cNvSpPr/>
          <p:nvPr/>
        </p:nvSpPr>
        <p:spPr>
          <a:xfrm>
            <a:off x="757080" y="1461960"/>
            <a:ext cx="10687320" cy="4096080"/>
          </a:xfrm>
          <a:custGeom>
            <a:avLst/>
            <a:gdLst/>
            <a:ahLst/>
            <a:rect l="0" t="0" r="r" b="b"/>
            <a:pathLst>
              <a:path w="29687" h="11378">
                <a:moveTo>
                  <a:pt x="0" y="1123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1232"/>
                </a:lnTo>
                <a:cubicBezTo>
                  <a:pt x="29687" y="11242"/>
                  <a:pt x="29686" y="11251"/>
                  <a:pt x="29684" y="11261"/>
                </a:cubicBezTo>
                <a:cubicBezTo>
                  <a:pt x="29683" y="11270"/>
                  <a:pt x="29680" y="11279"/>
                  <a:pt x="29676" y="11288"/>
                </a:cubicBezTo>
                <a:cubicBezTo>
                  <a:pt x="29672" y="11297"/>
                  <a:pt x="29668" y="11305"/>
                  <a:pt x="29663" y="11313"/>
                </a:cubicBezTo>
                <a:cubicBezTo>
                  <a:pt x="29657" y="11321"/>
                  <a:pt x="29651" y="11329"/>
                  <a:pt x="29645" y="11335"/>
                </a:cubicBezTo>
                <a:cubicBezTo>
                  <a:pt x="29638" y="11342"/>
                  <a:pt x="29630" y="11348"/>
                  <a:pt x="29623" y="11353"/>
                </a:cubicBezTo>
                <a:cubicBezTo>
                  <a:pt x="29615" y="11359"/>
                  <a:pt x="29606" y="11363"/>
                  <a:pt x="29597" y="11367"/>
                </a:cubicBezTo>
                <a:cubicBezTo>
                  <a:pt x="29589" y="11371"/>
                  <a:pt x="29579" y="11373"/>
                  <a:pt x="29570" y="11375"/>
                </a:cubicBezTo>
                <a:cubicBezTo>
                  <a:pt x="29561" y="11377"/>
                  <a:pt x="29551" y="11378"/>
                  <a:pt x="29542" y="11378"/>
                </a:cubicBezTo>
                <a:lnTo>
                  <a:pt x="145" y="11378"/>
                </a:lnTo>
                <a:cubicBezTo>
                  <a:pt x="136" y="11378"/>
                  <a:pt x="126" y="11377"/>
                  <a:pt x="117" y="11375"/>
                </a:cubicBezTo>
                <a:cubicBezTo>
                  <a:pt x="108" y="11373"/>
                  <a:pt x="99" y="11371"/>
                  <a:pt x="90" y="11367"/>
                </a:cubicBezTo>
                <a:cubicBezTo>
                  <a:pt x="81" y="11363"/>
                  <a:pt x="73" y="11359"/>
                  <a:pt x="65" y="11353"/>
                </a:cubicBezTo>
                <a:cubicBezTo>
                  <a:pt x="57" y="11348"/>
                  <a:pt x="49" y="11342"/>
                  <a:pt x="43" y="11335"/>
                </a:cubicBezTo>
                <a:cubicBezTo>
                  <a:pt x="36" y="11329"/>
                  <a:pt x="30" y="11321"/>
                  <a:pt x="24" y="11313"/>
                </a:cubicBezTo>
                <a:cubicBezTo>
                  <a:pt x="19" y="11305"/>
                  <a:pt x="15" y="11297"/>
                  <a:pt x="11" y="11288"/>
                </a:cubicBezTo>
                <a:cubicBezTo>
                  <a:pt x="7" y="11279"/>
                  <a:pt x="5" y="11270"/>
                  <a:pt x="3" y="11261"/>
                </a:cubicBezTo>
                <a:cubicBezTo>
                  <a:pt x="1" y="11251"/>
                  <a:pt x="0" y="11242"/>
                  <a:pt x="0" y="1123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299" name=""/>
          <p:cNvSpPr/>
          <p:nvPr/>
        </p:nvSpPr>
        <p:spPr>
          <a:xfrm>
            <a:off x="757080" y="5719680"/>
            <a:ext cx="10687320" cy="1933920"/>
          </a:xfrm>
          <a:custGeom>
            <a:avLst/>
            <a:gdLst/>
            <a:ahLst/>
            <a:rect l="0" t="0" r="r" b="b"/>
            <a:pathLst>
              <a:path w="29687" h="5372">
                <a:moveTo>
                  <a:pt x="0" y="522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26"/>
                </a:lnTo>
                <a:cubicBezTo>
                  <a:pt x="29687" y="5236"/>
                  <a:pt x="29686" y="5245"/>
                  <a:pt x="29684" y="5255"/>
                </a:cubicBezTo>
                <a:cubicBezTo>
                  <a:pt x="29683" y="5264"/>
                  <a:pt x="29680" y="5273"/>
                  <a:pt x="29676" y="5282"/>
                </a:cubicBezTo>
                <a:cubicBezTo>
                  <a:pt x="29672" y="5291"/>
                  <a:pt x="29668" y="5299"/>
                  <a:pt x="29663" y="5307"/>
                </a:cubicBezTo>
                <a:cubicBezTo>
                  <a:pt x="29657" y="5315"/>
                  <a:pt x="29651" y="5322"/>
                  <a:pt x="29645" y="5329"/>
                </a:cubicBezTo>
                <a:cubicBezTo>
                  <a:pt x="29638" y="5336"/>
                  <a:pt x="29630" y="5342"/>
                  <a:pt x="29623" y="5347"/>
                </a:cubicBezTo>
                <a:cubicBezTo>
                  <a:pt x="29615" y="5353"/>
                  <a:pt x="29606" y="5357"/>
                  <a:pt x="29597" y="5361"/>
                </a:cubicBezTo>
                <a:cubicBezTo>
                  <a:pt x="29589" y="5364"/>
                  <a:pt x="29579" y="5367"/>
                  <a:pt x="29570" y="5369"/>
                </a:cubicBezTo>
                <a:cubicBezTo>
                  <a:pt x="29561" y="5371"/>
                  <a:pt x="29551" y="5372"/>
                  <a:pt x="29542" y="5372"/>
                </a:cubicBezTo>
                <a:lnTo>
                  <a:pt x="145" y="5372"/>
                </a:lnTo>
                <a:cubicBezTo>
                  <a:pt x="136" y="5372"/>
                  <a:pt x="126" y="5371"/>
                  <a:pt x="117" y="5369"/>
                </a:cubicBezTo>
                <a:cubicBezTo>
                  <a:pt x="108" y="5367"/>
                  <a:pt x="99" y="5364"/>
                  <a:pt x="90" y="5361"/>
                </a:cubicBezTo>
                <a:cubicBezTo>
                  <a:pt x="81" y="5357"/>
                  <a:pt x="73" y="5353"/>
                  <a:pt x="65" y="5347"/>
                </a:cubicBezTo>
                <a:cubicBezTo>
                  <a:pt x="57" y="5342"/>
                  <a:pt x="49" y="5336"/>
                  <a:pt x="43" y="5329"/>
                </a:cubicBezTo>
                <a:cubicBezTo>
                  <a:pt x="36" y="5322"/>
                  <a:pt x="30" y="5315"/>
                  <a:pt x="24" y="5307"/>
                </a:cubicBezTo>
                <a:cubicBezTo>
                  <a:pt x="19" y="5299"/>
                  <a:pt x="15" y="5291"/>
                  <a:pt x="11" y="5282"/>
                </a:cubicBezTo>
                <a:cubicBezTo>
                  <a:pt x="7" y="5273"/>
                  <a:pt x="5" y="5264"/>
                  <a:pt x="3" y="5255"/>
                </a:cubicBezTo>
                <a:cubicBezTo>
                  <a:pt x="1" y="5245"/>
                  <a:pt x="0" y="5236"/>
                  <a:pt x="0" y="522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00" name=""/>
          <p:cNvSpPr/>
          <p:nvPr/>
        </p:nvSpPr>
        <p:spPr>
          <a:xfrm>
            <a:off x="757080" y="5719680"/>
            <a:ext cx="10687320" cy="1933920"/>
          </a:xfrm>
          <a:custGeom>
            <a:avLst/>
            <a:gdLst/>
            <a:ahLst/>
            <a:rect l="0" t="0" r="r" b="b"/>
            <a:pathLst>
              <a:path w="29687" h="5372">
                <a:moveTo>
                  <a:pt x="0" y="522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26"/>
                </a:lnTo>
                <a:cubicBezTo>
                  <a:pt x="29687" y="5236"/>
                  <a:pt x="29686" y="5245"/>
                  <a:pt x="29684" y="5255"/>
                </a:cubicBezTo>
                <a:cubicBezTo>
                  <a:pt x="29683" y="5264"/>
                  <a:pt x="29680" y="5273"/>
                  <a:pt x="29676" y="5282"/>
                </a:cubicBezTo>
                <a:cubicBezTo>
                  <a:pt x="29672" y="5291"/>
                  <a:pt x="29668" y="5299"/>
                  <a:pt x="29663" y="5307"/>
                </a:cubicBezTo>
                <a:cubicBezTo>
                  <a:pt x="29657" y="5315"/>
                  <a:pt x="29651" y="5322"/>
                  <a:pt x="29645" y="5329"/>
                </a:cubicBezTo>
                <a:cubicBezTo>
                  <a:pt x="29638" y="5336"/>
                  <a:pt x="29630" y="5342"/>
                  <a:pt x="29623" y="5347"/>
                </a:cubicBezTo>
                <a:cubicBezTo>
                  <a:pt x="29615" y="5353"/>
                  <a:pt x="29606" y="5357"/>
                  <a:pt x="29597" y="5361"/>
                </a:cubicBezTo>
                <a:cubicBezTo>
                  <a:pt x="29589" y="5364"/>
                  <a:pt x="29579" y="5367"/>
                  <a:pt x="29570" y="5369"/>
                </a:cubicBezTo>
                <a:cubicBezTo>
                  <a:pt x="29561" y="5371"/>
                  <a:pt x="29551" y="5372"/>
                  <a:pt x="29542" y="5372"/>
                </a:cubicBezTo>
                <a:lnTo>
                  <a:pt x="145" y="5372"/>
                </a:lnTo>
                <a:cubicBezTo>
                  <a:pt x="136" y="5372"/>
                  <a:pt x="126" y="5371"/>
                  <a:pt x="117" y="5369"/>
                </a:cubicBezTo>
                <a:cubicBezTo>
                  <a:pt x="108" y="5367"/>
                  <a:pt x="99" y="5364"/>
                  <a:pt x="90" y="5361"/>
                </a:cubicBezTo>
                <a:cubicBezTo>
                  <a:pt x="81" y="5357"/>
                  <a:pt x="73" y="5353"/>
                  <a:pt x="65" y="5347"/>
                </a:cubicBezTo>
                <a:cubicBezTo>
                  <a:pt x="57" y="5342"/>
                  <a:pt x="49" y="5336"/>
                  <a:pt x="43" y="5329"/>
                </a:cubicBezTo>
                <a:cubicBezTo>
                  <a:pt x="36" y="5322"/>
                  <a:pt x="30" y="5315"/>
                  <a:pt x="24" y="5307"/>
                </a:cubicBezTo>
                <a:cubicBezTo>
                  <a:pt x="19" y="5299"/>
                  <a:pt x="15" y="5291"/>
                  <a:pt x="11" y="5282"/>
                </a:cubicBezTo>
                <a:cubicBezTo>
                  <a:pt x="7" y="5273"/>
                  <a:pt x="5" y="5264"/>
                  <a:pt x="3" y="5255"/>
                </a:cubicBezTo>
                <a:cubicBezTo>
                  <a:pt x="1" y="5245"/>
                  <a:pt x="0" y="5236"/>
                  <a:pt x="0" y="522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301" name=""/>
          <p:cNvSpPr txBox="1"/>
          <p:nvPr/>
        </p:nvSpPr>
        <p:spPr>
          <a:xfrm>
            <a:off x="747720" y="770400"/>
            <a:ext cx="95850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6 — rover-safe defaults + bottom-edge repurpose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914400" y="1623600"/>
            <a:ext cx="4487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configs/rover_simulation.json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914400" y="1890360"/>
            <a:ext cx="4487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─────────────────────────────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914400" y="2166480"/>
            <a:ext cx="561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{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914400" y="2433240"/>
            <a:ext cx="75718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"max_forward":   1.0,         (was 4.0 for drone)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914400" y="2700000"/>
            <a:ext cx="3646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"max_backward":  0.5,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914400" y="2976120"/>
            <a:ext cx="9534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"kp_yaw":        60,          (was 120 — narrower yaw dynamics)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914400" y="3242880"/>
            <a:ext cx="3646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"kp_distance":   1.0,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914400" y="3509640"/>
            <a:ext cx="9254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"_omitted":      "all altitude knobs — capability-gated off",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914400" y="3785760"/>
            <a:ext cx="2384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"tracker": {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914400" y="4052520"/>
            <a:ext cx="3926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"track_thresh":  0.4,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914400" y="4319280"/>
            <a:ext cx="9114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"track_buffer":  30,        (was 90 → 1 s vs 3 s @ 30 fps)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914400" y="4595400"/>
            <a:ext cx="3786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"match_thresh":  0.8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914400" y="4862160"/>
            <a:ext cx="841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}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914400" y="5128920"/>
            <a:ext cx="561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}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914400" y="5881320"/>
            <a:ext cx="2944800" cy="26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4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40" spc="-1" strike="noStrike">
                <a:solidFill>
                  <a:srgbClr val="1f2328"/>
                </a:solidFill>
                <a:latin typeface="Courier New"/>
              </a:rPr>
              <a:t>bottom-edge safety</a:t>
            </a:r>
            <a:endParaRPr b="0" lang="en-US" sz="1840" spc="-1" strike="noStrike"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914400" y="6146640"/>
            <a:ext cx="9254520" cy="26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40" spc="-1" strike="noStrike">
                <a:solidFill>
                  <a:srgbClr val="1f2328"/>
                </a:solidFill>
                <a:latin typeface="Courier New"/>
              </a:rPr>
              <a:t>   ───────────────────────────────────────────────────────────────</a:t>
            </a:r>
            <a:endParaRPr b="0" lang="en-US" sz="1840" spc="-1" strike="noStrike"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914400" y="6421320"/>
            <a:ext cx="9114120" cy="26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4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40" spc="-1" strike="noStrike">
                <a:solidFill>
                  <a:srgbClr val="1f2328"/>
                </a:solidFill>
                <a:latin typeface="Courier New"/>
              </a:rPr>
              <a:t>if caps.has_altitude:                if not caps.has_altitude:</a:t>
            </a:r>
            <a:endParaRPr b="0" lang="en-US" sz="1840" spc="-1" strike="noStrike"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1895040" y="6686640"/>
            <a:ext cx="3506040" cy="26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40" spc="-1" strike="noStrike">
                <a:solidFill>
                  <a:srgbClr val="1f2328"/>
                </a:solidFill>
                <a:latin typeface="Courier New"/>
              </a:rPr>
              <a:t># DRONE: retreat for tilt</a:t>
            </a:r>
            <a:endParaRPr b="0" lang="en-US" sz="1840" spc="-1" strike="noStrike"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6937560" y="6686640"/>
            <a:ext cx="2804760" cy="26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40" spc="-1" strike="noStrike">
                <a:solidFill>
                  <a:srgbClr val="1f2328"/>
                </a:solidFill>
                <a:latin typeface="Courier New"/>
              </a:rPr>
              <a:t># ROVER: slow / stop</a:t>
            </a:r>
            <a:endParaRPr b="0" lang="en-US" sz="1840" spc="-1" strike="noStrike"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32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2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25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26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327" name=""/>
          <p:cNvSpPr txBox="1"/>
          <p:nvPr/>
        </p:nvSpPr>
        <p:spPr>
          <a:xfrm>
            <a:off x="747720" y="770400"/>
            <a:ext cx="79866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Phase 6 — end-to-end test (RINT-04 + RINT-06)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914400" y="1622520"/>
            <a:ext cx="46274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test_rover_follow_walk_across_then_approach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914400" y="1814040"/>
            <a:ext cx="47282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────────────────────────────────────────────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914400" y="2012040"/>
            <a:ext cx="51303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start sim (walk_across_then_approach world)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914400" y="220356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914400" y="239508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914400" y="2593440"/>
            <a:ext cx="72428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launch robot-follow --robot rover --config rover_simulation.json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914400" y="278460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914400" y="297612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914400" y="3174480"/>
            <a:ext cx="60357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wait for first detection            ◄── timeout 10 s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914400" y="336600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914400" y="355716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914400" y="3755520"/>
            <a:ext cx="25153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capture target_id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914400" y="394704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914400" y="413856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914400" y="4336560"/>
            <a:ext cx="160992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run 45 s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914400" y="452808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914400" y="472644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914400" y="4917600"/>
            <a:ext cx="372240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ASSERT  target_id_lost_events == 0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914400" y="5109120"/>
            <a:ext cx="47282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ASSERT  final_target_id == initial_target_id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914400" y="530748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914400" y="549900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914400" y="5690160"/>
            <a:ext cx="14086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Ctrl+C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914400" y="588852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│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914400" y="6080040"/>
            <a:ext cx="150948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           ▼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914400" y="6271560"/>
            <a:ext cx="633744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ASSERT  /cmd_vel messages within 100 ms == 0     ◄── RINT-06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914400" y="6469560"/>
            <a:ext cx="3521160" cy="19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20" spc="-1" strike="noStrike">
                <a:solidFill>
                  <a:srgbClr val="1f2328"/>
                </a:solidFill>
                <a:latin typeface="Courier New"/>
              </a:rPr>
              <a:t>ASSERT  rover stopped within 1 s</a:t>
            </a:r>
            <a:endParaRPr b="0" lang="en-US" sz="1320" spc="-1" strike="noStrike"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33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56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58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59" name=""/>
          <p:cNvSpPr/>
          <p:nvPr/>
        </p:nvSpPr>
        <p:spPr>
          <a:xfrm>
            <a:off x="757080" y="1461960"/>
            <a:ext cx="10687320" cy="5353200"/>
          </a:xfrm>
          <a:custGeom>
            <a:avLst/>
            <a:gdLst/>
            <a:ahLst/>
            <a:rect l="0" t="0" r="r" b="b"/>
            <a:pathLst>
              <a:path w="29687" h="14870">
                <a:moveTo>
                  <a:pt x="0" y="1472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725"/>
                </a:lnTo>
                <a:cubicBezTo>
                  <a:pt x="29687" y="14734"/>
                  <a:pt x="29686" y="14744"/>
                  <a:pt x="29684" y="14753"/>
                </a:cubicBezTo>
                <a:cubicBezTo>
                  <a:pt x="29683" y="14763"/>
                  <a:pt x="29680" y="14772"/>
                  <a:pt x="29676" y="14781"/>
                </a:cubicBezTo>
                <a:cubicBezTo>
                  <a:pt x="29672" y="14789"/>
                  <a:pt x="29668" y="14798"/>
                  <a:pt x="29663" y="14806"/>
                </a:cubicBezTo>
                <a:cubicBezTo>
                  <a:pt x="29657" y="14814"/>
                  <a:pt x="29651" y="14821"/>
                  <a:pt x="29645" y="14828"/>
                </a:cubicBezTo>
                <a:cubicBezTo>
                  <a:pt x="29638" y="14835"/>
                  <a:pt x="29630" y="14841"/>
                  <a:pt x="29623" y="14846"/>
                </a:cubicBezTo>
                <a:cubicBezTo>
                  <a:pt x="29615" y="14851"/>
                  <a:pt x="29606" y="14856"/>
                  <a:pt x="29597" y="14859"/>
                </a:cubicBezTo>
                <a:cubicBezTo>
                  <a:pt x="29589" y="14863"/>
                  <a:pt x="29579" y="14866"/>
                  <a:pt x="29570" y="14868"/>
                </a:cubicBezTo>
                <a:cubicBezTo>
                  <a:pt x="29561" y="14870"/>
                  <a:pt x="29551" y="14870"/>
                  <a:pt x="29542" y="14870"/>
                </a:cubicBezTo>
                <a:lnTo>
                  <a:pt x="145" y="14870"/>
                </a:lnTo>
                <a:cubicBezTo>
                  <a:pt x="136" y="14870"/>
                  <a:pt x="126" y="14870"/>
                  <a:pt x="117" y="14868"/>
                </a:cubicBezTo>
                <a:cubicBezTo>
                  <a:pt x="108" y="14866"/>
                  <a:pt x="99" y="14863"/>
                  <a:pt x="90" y="14859"/>
                </a:cubicBezTo>
                <a:cubicBezTo>
                  <a:pt x="81" y="14856"/>
                  <a:pt x="73" y="14851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1"/>
                  <a:pt x="30" y="14814"/>
                  <a:pt x="24" y="14806"/>
                </a:cubicBezTo>
                <a:cubicBezTo>
                  <a:pt x="19" y="14798"/>
                  <a:pt x="15" y="14789"/>
                  <a:pt x="11" y="14781"/>
                </a:cubicBezTo>
                <a:cubicBezTo>
                  <a:pt x="7" y="14772"/>
                  <a:pt x="5" y="14763"/>
                  <a:pt x="3" y="14753"/>
                </a:cubicBezTo>
                <a:cubicBezTo>
                  <a:pt x="1" y="14744"/>
                  <a:pt x="0" y="14734"/>
                  <a:pt x="0" y="147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360" name=""/>
          <p:cNvSpPr txBox="1"/>
          <p:nvPr/>
        </p:nvSpPr>
        <p:spPr>
          <a:xfrm>
            <a:off x="747720" y="770400"/>
            <a:ext cx="438084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Before / after architecture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914400" y="1622520"/>
            <a:ext cx="58896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TODAY                                       v1.1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914400" y="2027520"/>
            <a:ext cx="69408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drone_follow_app.py                         robot_follow_app.py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914400" y="2226600"/>
            <a:ext cx="56790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│                                            │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914400" y="2425680"/>
            <a:ext cx="767736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│                                            │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pre-parse --robot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914400" y="2631600"/>
            <a:ext cx="56790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▼                                            ▼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914400" y="2830680"/>
            <a:ext cx="662544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run_drone()                                  run_robot(args)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914400" y="3029760"/>
            <a:ext cx="56790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│                                            │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914400" y="3235680"/>
            <a:ext cx="799272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▼                                            ├─►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MavsdkDroneAdapter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914400" y="3434760"/>
            <a:ext cx="862344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follow_api / pipeline_adapter                     │      (moved from drone_api/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914400" y="3633840"/>
            <a:ext cx="883368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│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(unchanged)                               │       to robot_api/adapters/)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914400" y="3839760"/>
            <a:ext cx="56790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▼                                            │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914400" y="4038840"/>
            <a:ext cx="883368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VelocityCommand                                   └─►  Ros2RoverAdapter   ◄── NEW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914400" y="4237920"/>
            <a:ext cx="788724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│                                                   │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rclpy + Twist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914400" y="4443840"/>
            <a:ext cx="76770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▼                                                   │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on /cmd_vel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914400" y="4642920"/>
            <a:ext cx="883368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drone_api.mavsdk_drone                              [capability-gated controller]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914400" y="4849200"/>
            <a:ext cx="64152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│                                                   │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914400" y="5047920"/>
            <a:ext cx="64152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▼                                                   ▼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914400" y="5247000"/>
            <a:ext cx="757188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PX4 ─► drone                                       PX4 │ Gazebo rover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914400" y="5453280"/>
            <a:ext cx="620496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                                                  │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914400" y="5652000"/>
            <a:ext cx="620496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                                   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NEW:        │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914400" y="5851080"/>
            <a:ext cx="673092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                                   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robot_api/robot.py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914400" y="6057360"/>
            <a:ext cx="820296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                                   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robot_api/adapters/ros2_rover.py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914400" y="6256080"/>
            <a:ext cx="58896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                                   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sim/rover/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914400" y="6455160"/>
            <a:ext cx="7887600" cy="20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                                              </a:t>
            </a:r>
            <a:r>
              <a:rPr b="0" lang="en-US" sz="1380" spc="-1" strike="noStrike">
                <a:solidFill>
                  <a:srgbClr val="1f2328"/>
                </a:solidFill>
                <a:latin typeface="Courier New"/>
              </a:rPr>
              <a:t>configs/rover_simulation.json</a:t>
            </a:r>
            <a:endParaRPr b="0" lang="en-US" sz="1380" spc="-1" strike="noStrike">
              <a:latin typeface="Times New Roman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34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8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89" name=""/>
          <p:cNvSpPr/>
          <p:nvPr/>
        </p:nvSpPr>
        <p:spPr>
          <a:xfrm>
            <a:off x="752400" y="1457280"/>
            <a:ext cx="409680" cy="543240"/>
          </a:xfrm>
          <a:custGeom>
            <a:avLst/>
            <a:gdLst/>
            <a:ahLst/>
            <a:rect l="0" t="0" r="r" b="b"/>
            <a:pathLst>
              <a:path w="1138" h="1509">
                <a:moveTo>
                  <a:pt x="0" y="0"/>
                </a:moveTo>
                <a:lnTo>
                  <a:pt x="1138" y="0"/>
                </a:lnTo>
                <a:lnTo>
                  <a:pt x="113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90" name=""/>
          <p:cNvSpPr/>
          <p:nvPr/>
        </p:nvSpPr>
        <p:spPr>
          <a:xfrm>
            <a:off x="1161720" y="1457280"/>
            <a:ext cx="3943800" cy="543240"/>
          </a:xfrm>
          <a:custGeom>
            <a:avLst/>
            <a:gdLst/>
            <a:ahLst/>
            <a:rect l="0" t="0" r="r" b="b"/>
            <a:pathLst>
              <a:path w="10955" h="1509">
                <a:moveTo>
                  <a:pt x="0" y="0"/>
                </a:moveTo>
                <a:lnTo>
                  <a:pt x="10955" y="0"/>
                </a:lnTo>
                <a:lnTo>
                  <a:pt x="1095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91" name=""/>
          <p:cNvSpPr/>
          <p:nvPr/>
        </p:nvSpPr>
        <p:spPr>
          <a:xfrm>
            <a:off x="5105160" y="1457280"/>
            <a:ext cx="1381680" cy="543240"/>
          </a:xfrm>
          <a:custGeom>
            <a:avLst/>
            <a:gdLst/>
            <a:ahLst/>
            <a:rect l="0" t="0" r="r" b="b"/>
            <a:pathLst>
              <a:path w="3838" h="1509">
                <a:moveTo>
                  <a:pt x="0" y="0"/>
                </a:moveTo>
                <a:lnTo>
                  <a:pt x="3838" y="0"/>
                </a:lnTo>
                <a:lnTo>
                  <a:pt x="383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92" name=""/>
          <p:cNvSpPr/>
          <p:nvPr/>
        </p:nvSpPr>
        <p:spPr>
          <a:xfrm>
            <a:off x="6486480" y="1457280"/>
            <a:ext cx="4953240" cy="543240"/>
          </a:xfrm>
          <a:custGeom>
            <a:avLst/>
            <a:gdLst/>
            <a:ahLst/>
            <a:rect l="0" t="0" r="r" b="b"/>
            <a:pathLst>
              <a:path w="13759" h="1509">
                <a:moveTo>
                  <a:pt x="0" y="0"/>
                </a:moveTo>
                <a:lnTo>
                  <a:pt x="13759" y="0"/>
                </a:lnTo>
                <a:lnTo>
                  <a:pt x="137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93" name=""/>
          <p:cNvSpPr/>
          <p:nvPr/>
        </p:nvSpPr>
        <p:spPr>
          <a:xfrm>
            <a:off x="752400" y="2000160"/>
            <a:ext cx="409680" cy="952920"/>
          </a:xfrm>
          <a:custGeom>
            <a:avLst/>
            <a:gdLst/>
            <a:ahLst/>
            <a:rect l="0" t="0" r="r" b="b"/>
            <a:pathLst>
              <a:path w="1138" h="2647">
                <a:moveTo>
                  <a:pt x="0" y="0"/>
                </a:moveTo>
                <a:lnTo>
                  <a:pt x="1138" y="0"/>
                </a:lnTo>
                <a:lnTo>
                  <a:pt x="11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94" name=""/>
          <p:cNvSpPr/>
          <p:nvPr/>
        </p:nvSpPr>
        <p:spPr>
          <a:xfrm>
            <a:off x="1161720" y="2000160"/>
            <a:ext cx="3943800" cy="952920"/>
          </a:xfrm>
          <a:custGeom>
            <a:avLst/>
            <a:gdLst/>
            <a:ahLst/>
            <a:rect l="0" t="0" r="r" b="b"/>
            <a:pathLst>
              <a:path w="10955" h="2647">
                <a:moveTo>
                  <a:pt x="0" y="0"/>
                </a:moveTo>
                <a:lnTo>
                  <a:pt x="10955" y="0"/>
                </a:lnTo>
                <a:lnTo>
                  <a:pt x="1095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95" name=""/>
          <p:cNvSpPr/>
          <p:nvPr/>
        </p:nvSpPr>
        <p:spPr>
          <a:xfrm>
            <a:off x="5105160" y="2000160"/>
            <a:ext cx="1381680" cy="952920"/>
          </a:xfrm>
          <a:custGeom>
            <a:avLst/>
            <a:gdLst/>
            <a:ahLst/>
            <a:rect l="0" t="0" r="r" b="b"/>
            <a:pathLst>
              <a:path w="3838" h="2647">
                <a:moveTo>
                  <a:pt x="0" y="0"/>
                </a:moveTo>
                <a:lnTo>
                  <a:pt x="3838" y="0"/>
                </a:lnTo>
                <a:lnTo>
                  <a:pt x="38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96" name=""/>
          <p:cNvSpPr/>
          <p:nvPr/>
        </p:nvSpPr>
        <p:spPr>
          <a:xfrm>
            <a:off x="6486480" y="2000160"/>
            <a:ext cx="4953240" cy="952920"/>
          </a:xfrm>
          <a:custGeom>
            <a:avLst/>
            <a:gdLst/>
            <a:ahLst/>
            <a:rect l="0" t="0" r="r" b="b"/>
            <a:pathLst>
              <a:path w="13759" h="2647">
                <a:moveTo>
                  <a:pt x="0" y="0"/>
                </a:moveTo>
                <a:lnTo>
                  <a:pt x="13759" y="0"/>
                </a:lnTo>
                <a:lnTo>
                  <a:pt x="1375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397" name=""/>
          <p:cNvSpPr/>
          <p:nvPr/>
        </p:nvSpPr>
        <p:spPr>
          <a:xfrm>
            <a:off x="752400" y="2952720"/>
            <a:ext cx="409680" cy="952560"/>
          </a:xfrm>
          <a:custGeom>
            <a:avLst/>
            <a:gdLst/>
            <a:ahLst/>
            <a:rect l="0" t="0" r="r" b="b"/>
            <a:pathLst>
              <a:path w="1138" h="2646">
                <a:moveTo>
                  <a:pt x="0" y="0"/>
                </a:moveTo>
                <a:lnTo>
                  <a:pt x="1138" y="0"/>
                </a:lnTo>
                <a:lnTo>
                  <a:pt x="113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98" name=""/>
          <p:cNvSpPr/>
          <p:nvPr/>
        </p:nvSpPr>
        <p:spPr>
          <a:xfrm>
            <a:off x="1161720" y="2952720"/>
            <a:ext cx="3943800" cy="952560"/>
          </a:xfrm>
          <a:custGeom>
            <a:avLst/>
            <a:gdLst/>
            <a:ahLst/>
            <a:rect l="0" t="0" r="r" b="b"/>
            <a:pathLst>
              <a:path w="10955" h="2646">
                <a:moveTo>
                  <a:pt x="0" y="0"/>
                </a:moveTo>
                <a:lnTo>
                  <a:pt x="10955" y="0"/>
                </a:lnTo>
                <a:lnTo>
                  <a:pt x="10955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399" name=""/>
          <p:cNvSpPr/>
          <p:nvPr/>
        </p:nvSpPr>
        <p:spPr>
          <a:xfrm>
            <a:off x="5105160" y="2952720"/>
            <a:ext cx="1381680" cy="952560"/>
          </a:xfrm>
          <a:custGeom>
            <a:avLst/>
            <a:gdLst/>
            <a:ahLst/>
            <a:rect l="0" t="0" r="r" b="b"/>
            <a:pathLst>
              <a:path w="3838" h="2646">
                <a:moveTo>
                  <a:pt x="0" y="0"/>
                </a:moveTo>
                <a:lnTo>
                  <a:pt x="3838" y="0"/>
                </a:lnTo>
                <a:lnTo>
                  <a:pt x="383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00" name=""/>
          <p:cNvSpPr/>
          <p:nvPr/>
        </p:nvSpPr>
        <p:spPr>
          <a:xfrm>
            <a:off x="6486480" y="2952720"/>
            <a:ext cx="4953240" cy="952560"/>
          </a:xfrm>
          <a:custGeom>
            <a:avLst/>
            <a:gdLst/>
            <a:ahLst/>
            <a:rect l="0" t="0" r="r" b="b"/>
            <a:pathLst>
              <a:path w="13759" h="2646">
                <a:moveTo>
                  <a:pt x="0" y="0"/>
                </a:moveTo>
                <a:lnTo>
                  <a:pt x="13759" y="0"/>
                </a:lnTo>
                <a:lnTo>
                  <a:pt x="13759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01" name=""/>
          <p:cNvSpPr/>
          <p:nvPr/>
        </p:nvSpPr>
        <p:spPr>
          <a:xfrm>
            <a:off x="752400" y="3904920"/>
            <a:ext cx="409680" cy="952920"/>
          </a:xfrm>
          <a:custGeom>
            <a:avLst/>
            <a:gdLst/>
            <a:ahLst/>
            <a:rect l="0" t="0" r="r" b="b"/>
            <a:pathLst>
              <a:path w="1138" h="2647">
                <a:moveTo>
                  <a:pt x="0" y="0"/>
                </a:moveTo>
                <a:lnTo>
                  <a:pt x="1138" y="0"/>
                </a:lnTo>
                <a:lnTo>
                  <a:pt x="11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02" name=""/>
          <p:cNvSpPr/>
          <p:nvPr/>
        </p:nvSpPr>
        <p:spPr>
          <a:xfrm>
            <a:off x="1161720" y="3904920"/>
            <a:ext cx="3943800" cy="952920"/>
          </a:xfrm>
          <a:custGeom>
            <a:avLst/>
            <a:gdLst/>
            <a:ahLst/>
            <a:rect l="0" t="0" r="r" b="b"/>
            <a:pathLst>
              <a:path w="10955" h="2647">
                <a:moveTo>
                  <a:pt x="0" y="0"/>
                </a:moveTo>
                <a:lnTo>
                  <a:pt x="10955" y="0"/>
                </a:lnTo>
                <a:lnTo>
                  <a:pt x="1095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03" name=""/>
          <p:cNvSpPr/>
          <p:nvPr/>
        </p:nvSpPr>
        <p:spPr>
          <a:xfrm>
            <a:off x="5105160" y="3904920"/>
            <a:ext cx="1381680" cy="952920"/>
          </a:xfrm>
          <a:custGeom>
            <a:avLst/>
            <a:gdLst/>
            <a:ahLst/>
            <a:rect l="0" t="0" r="r" b="b"/>
            <a:pathLst>
              <a:path w="3838" h="2647">
                <a:moveTo>
                  <a:pt x="0" y="0"/>
                </a:moveTo>
                <a:lnTo>
                  <a:pt x="3838" y="0"/>
                </a:lnTo>
                <a:lnTo>
                  <a:pt x="38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04" name=""/>
          <p:cNvSpPr/>
          <p:nvPr/>
        </p:nvSpPr>
        <p:spPr>
          <a:xfrm>
            <a:off x="6486480" y="3904920"/>
            <a:ext cx="4953240" cy="952920"/>
          </a:xfrm>
          <a:custGeom>
            <a:avLst/>
            <a:gdLst/>
            <a:ahLst/>
            <a:rect l="0" t="0" r="r" b="b"/>
            <a:pathLst>
              <a:path w="13759" h="2647">
                <a:moveTo>
                  <a:pt x="0" y="0"/>
                </a:moveTo>
                <a:lnTo>
                  <a:pt x="13759" y="0"/>
                </a:lnTo>
                <a:lnTo>
                  <a:pt x="1375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05" name=""/>
          <p:cNvSpPr/>
          <p:nvPr/>
        </p:nvSpPr>
        <p:spPr>
          <a:xfrm>
            <a:off x="752400" y="4857480"/>
            <a:ext cx="409680" cy="952920"/>
          </a:xfrm>
          <a:custGeom>
            <a:avLst/>
            <a:gdLst/>
            <a:ahLst/>
            <a:rect l="0" t="0" r="r" b="b"/>
            <a:pathLst>
              <a:path w="1138" h="2647">
                <a:moveTo>
                  <a:pt x="0" y="0"/>
                </a:moveTo>
                <a:lnTo>
                  <a:pt x="1138" y="0"/>
                </a:lnTo>
                <a:lnTo>
                  <a:pt x="11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06" name=""/>
          <p:cNvSpPr/>
          <p:nvPr/>
        </p:nvSpPr>
        <p:spPr>
          <a:xfrm>
            <a:off x="1161720" y="4857480"/>
            <a:ext cx="3943800" cy="952920"/>
          </a:xfrm>
          <a:custGeom>
            <a:avLst/>
            <a:gdLst/>
            <a:ahLst/>
            <a:rect l="0" t="0" r="r" b="b"/>
            <a:pathLst>
              <a:path w="10955" h="2647">
                <a:moveTo>
                  <a:pt x="0" y="0"/>
                </a:moveTo>
                <a:lnTo>
                  <a:pt x="10955" y="0"/>
                </a:lnTo>
                <a:lnTo>
                  <a:pt x="1095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07" name=""/>
          <p:cNvSpPr/>
          <p:nvPr/>
        </p:nvSpPr>
        <p:spPr>
          <a:xfrm>
            <a:off x="5105160" y="4857480"/>
            <a:ext cx="1381680" cy="952920"/>
          </a:xfrm>
          <a:custGeom>
            <a:avLst/>
            <a:gdLst/>
            <a:ahLst/>
            <a:rect l="0" t="0" r="r" b="b"/>
            <a:pathLst>
              <a:path w="3838" h="2647">
                <a:moveTo>
                  <a:pt x="0" y="0"/>
                </a:moveTo>
                <a:lnTo>
                  <a:pt x="3838" y="0"/>
                </a:lnTo>
                <a:lnTo>
                  <a:pt x="38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08" name=""/>
          <p:cNvSpPr/>
          <p:nvPr/>
        </p:nvSpPr>
        <p:spPr>
          <a:xfrm>
            <a:off x="6486480" y="4857480"/>
            <a:ext cx="4953240" cy="952920"/>
          </a:xfrm>
          <a:custGeom>
            <a:avLst/>
            <a:gdLst/>
            <a:ahLst/>
            <a:rect l="0" t="0" r="r" b="b"/>
            <a:pathLst>
              <a:path w="13759" h="2647">
                <a:moveTo>
                  <a:pt x="0" y="0"/>
                </a:moveTo>
                <a:lnTo>
                  <a:pt x="13759" y="0"/>
                </a:lnTo>
                <a:lnTo>
                  <a:pt x="1375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09" name=""/>
          <p:cNvSpPr/>
          <p:nvPr/>
        </p:nvSpPr>
        <p:spPr>
          <a:xfrm>
            <a:off x="752400" y="5810040"/>
            <a:ext cx="409680" cy="952920"/>
          </a:xfrm>
          <a:custGeom>
            <a:avLst/>
            <a:gdLst/>
            <a:ahLst/>
            <a:rect l="0" t="0" r="r" b="b"/>
            <a:pathLst>
              <a:path w="1138" h="2647">
                <a:moveTo>
                  <a:pt x="0" y="0"/>
                </a:moveTo>
                <a:lnTo>
                  <a:pt x="1138" y="0"/>
                </a:lnTo>
                <a:lnTo>
                  <a:pt x="11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10" name=""/>
          <p:cNvSpPr/>
          <p:nvPr/>
        </p:nvSpPr>
        <p:spPr>
          <a:xfrm>
            <a:off x="1161720" y="5810040"/>
            <a:ext cx="3943800" cy="952920"/>
          </a:xfrm>
          <a:custGeom>
            <a:avLst/>
            <a:gdLst/>
            <a:ahLst/>
            <a:rect l="0" t="0" r="r" b="b"/>
            <a:pathLst>
              <a:path w="10955" h="2647">
                <a:moveTo>
                  <a:pt x="0" y="0"/>
                </a:moveTo>
                <a:lnTo>
                  <a:pt x="10955" y="0"/>
                </a:lnTo>
                <a:lnTo>
                  <a:pt x="1095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11" name=""/>
          <p:cNvSpPr/>
          <p:nvPr/>
        </p:nvSpPr>
        <p:spPr>
          <a:xfrm>
            <a:off x="5105160" y="5810040"/>
            <a:ext cx="1381680" cy="952920"/>
          </a:xfrm>
          <a:custGeom>
            <a:avLst/>
            <a:gdLst/>
            <a:ahLst/>
            <a:rect l="0" t="0" r="r" b="b"/>
            <a:pathLst>
              <a:path w="3838" h="2647">
                <a:moveTo>
                  <a:pt x="0" y="0"/>
                </a:moveTo>
                <a:lnTo>
                  <a:pt x="3838" y="0"/>
                </a:lnTo>
                <a:lnTo>
                  <a:pt x="38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12" name=""/>
          <p:cNvSpPr/>
          <p:nvPr/>
        </p:nvSpPr>
        <p:spPr>
          <a:xfrm>
            <a:off x="6486480" y="5810040"/>
            <a:ext cx="4953240" cy="952920"/>
          </a:xfrm>
          <a:custGeom>
            <a:avLst/>
            <a:gdLst/>
            <a:ahLst/>
            <a:rect l="0" t="0" r="r" b="b"/>
            <a:pathLst>
              <a:path w="13759" h="2647">
                <a:moveTo>
                  <a:pt x="0" y="0"/>
                </a:moveTo>
                <a:lnTo>
                  <a:pt x="13759" y="0"/>
                </a:lnTo>
                <a:lnTo>
                  <a:pt x="1375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413" name=""/>
          <p:cNvSpPr/>
          <p:nvPr/>
        </p:nvSpPr>
        <p:spPr>
          <a:xfrm>
            <a:off x="752400" y="6762600"/>
            <a:ext cx="409680" cy="952920"/>
          </a:xfrm>
          <a:custGeom>
            <a:avLst/>
            <a:gdLst/>
            <a:ahLst/>
            <a:rect l="0" t="0" r="r" b="b"/>
            <a:pathLst>
              <a:path w="1138" h="2647">
                <a:moveTo>
                  <a:pt x="0" y="0"/>
                </a:moveTo>
                <a:lnTo>
                  <a:pt x="1138" y="0"/>
                </a:lnTo>
                <a:lnTo>
                  <a:pt x="11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14" name=""/>
          <p:cNvSpPr/>
          <p:nvPr/>
        </p:nvSpPr>
        <p:spPr>
          <a:xfrm>
            <a:off x="1161720" y="6762600"/>
            <a:ext cx="3943800" cy="952920"/>
          </a:xfrm>
          <a:custGeom>
            <a:avLst/>
            <a:gdLst/>
            <a:ahLst/>
            <a:rect l="0" t="0" r="r" b="b"/>
            <a:pathLst>
              <a:path w="10955" h="2647">
                <a:moveTo>
                  <a:pt x="0" y="0"/>
                </a:moveTo>
                <a:lnTo>
                  <a:pt x="10955" y="0"/>
                </a:lnTo>
                <a:lnTo>
                  <a:pt x="10955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15" name=""/>
          <p:cNvSpPr/>
          <p:nvPr/>
        </p:nvSpPr>
        <p:spPr>
          <a:xfrm>
            <a:off x="5105160" y="6762600"/>
            <a:ext cx="1381680" cy="952920"/>
          </a:xfrm>
          <a:custGeom>
            <a:avLst/>
            <a:gdLst/>
            <a:ahLst/>
            <a:rect l="0" t="0" r="r" b="b"/>
            <a:pathLst>
              <a:path w="3838" h="2647">
                <a:moveTo>
                  <a:pt x="0" y="0"/>
                </a:moveTo>
                <a:lnTo>
                  <a:pt x="3838" y="0"/>
                </a:lnTo>
                <a:lnTo>
                  <a:pt x="38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16" name=""/>
          <p:cNvSpPr/>
          <p:nvPr/>
        </p:nvSpPr>
        <p:spPr>
          <a:xfrm>
            <a:off x="6486480" y="6762600"/>
            <a:ext cx="4953240" cy="952920"/>
          </a:xfrm>
          <a:custGeom>
            <a:avLst/>
            <a:gdLst/>
            <a:ahLst/>
            <a:rect l="0" t="0" r="r" b="b"/>
            <a:pathLst>
              <a:path w="13759" h="2647">
                <a:moveTo>
                  <a:pt x="0" y="0"/>
                </a:moveTo>
                <a:lnTo>
                  <a:pt x="13759" y="0"/>
                </a:lnTo>
                <a:lnTo>
                  <a:pt x="1375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417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18" name=""/>
          <p:cNvSpPr/>
          <p:nvPr/>
        </p:nvSpPr>
        <p:spPr>
          <a:xfrm>
            <a:off x="752400" y="145728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19" name=""/>
          <p:cNvSpPr/>
          <p:nvPr/>
        </p:nvSpPr>
        <p:spPr>
          <a:xfrm>
            <a:off x="116172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0" name=""/>
          <p:cNvSpPr/>
          <p:nvPr/>
        </p:nvSpPr>
        <p:spPr>
          <a:xfrm>
            <a:off x="1171440" y="1457280"/>
            <a:ext cx="3943800" cy="9720"/>
          </a:xfrm>
          <a:custGeom>
            <a:avLst/>
            <a:gdLst/>
            <a:ahLst/>
            <a:rect l="0" t="0" r="r" b="b"/>
            <a:pathLst>
              <a:path w="10955" h="27">
                <a:moveTo>
                  <a:pt x="0" y="0"/>
                </a:moveTo>
                <a:lnTo>
                  <a:pt x="10955" y="0"/>
                </a:lnTo>
                <a:lnTo>
                  <a:pt x="109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1" name=""/>
          <p:cNvSpPr/>
          <p:nvPr/>
        </p:nvSpPr>
        <p:spPr>
          <a:xfrm>
            <a:off x="510516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2" name=""/>
          <p:cNvSpPr/>
          <p:nvPr/>
        </p:nvSpPr>
        <p:spPr>
          <a:xfrm>
            <a:off x="5114880" y="145728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3" name=""/>
          <p:cNvSpPr/>
          <p:nvPr/>
        </p:nvSpPr>
        <p:spPr>
          <a:xfrm>
            <a:off x="647676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4" name=""/>
          <p:cNvSpPr/>
          <p:nvPr/>
        </p:nvSpPr>
        <p:spPr>
          <a:xfrm>
            <a:off x="6486480" y="1457280"/>
            <a:ext cx="4962600" cy="9720"/>
          </a:xfrm>
          <a:custGeom>
            <a:avLst/>
            <a:gdLst/>
            <a:ahLst/>
            <a:rect l="0" t="0" r="r" b="b"/>
            <a:pathLst>
              <a:path w="13785" h="27">
                <a:moveTo>
                  <a:pt x="0" y="0"/>
                </a:moveTo>
                <a:lnTo>
                  <a:pt x="13785" y="0"/>
                </a:lnTo>
                <a:lnTo>
                  <a:pt x="1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5" name=""/>
          <p:cNvSpPr/>
          <p:nvPr/>
        </p:nvSpPr>
        <p:spPr>
          <a:xfrm>
            <a:off x="1143936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6" name=""/>
          <p:cNvSpPr/>
          <p:nvPr/>
        </p:nvSpPr>
        <p:spPr>
          <a:xfrm>
            <a:off x="752400" y="1990440"/>
            <a:ext cx="419400" cy="10080"/>
          </a:xfrm>
          <a:custGeom>
            <a:avLst/>
            <a:gdLst/>
            <a:ahLst/>
            <a:rect l="0" t="0" r="r" b="b"/>
            <a:pathLst>
              <a:path w="1165" h="28">
                <a:moveTo>
                  <a:pt x="0" y="0"/>
                </a:moveTo>
                <a:lnTo>
                  <a:pt x="1165" y="0"/>
                </a:lnTo>
                <a:lnTo>
                  <a:pt x="11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7" name=""/>
          <p:cNvSpPr/>
          <p:nvPr/>
        </p:nvSpPr>
        <p:spPr>
          <a:xfrm>
            <a:off x="1171440" y="1990440"/>
            <a:ext cx="3943800" cy="10080"/>
          </a:xfrm>
          <a:custGeom>
            <a:avLst/>
            <a:gdLst/>
            <a:ahLst/>
            <a:rect l="0" t="0" r="r" b="b"/>
            <a:pathLst>
              <a:path w="10955" h="28">
                <a:moveTo>
                  <a:pt x="0" y="0"/>
                </a:moveTo>
                <a:lnTo>
                  <a:pt x="10955" y="0"/>
                </a:lnTo>
                <a:lnTo>
                  <a:pt x="109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8" name=""/>
          <p:cNvSpPr/>
          <p:nvPr/>
        </p:nvSpPr>
        <p:spPr>
          <a:xfrm>
            <a:off x="5114880" y="1990440"/>
            <a:ext cx="1371960" cy="10080"/>
          </a:xfrm>
          <a:custGeom>
            <a:avLst/>
            <a:gdLst/>
            <a:ah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29" name=""/>
          <p:cNvSpPr/>
          <p:nvPr/>
        </p:nvSpPr>
        <p:spPr>
          <a:xfrm>
            <a:off x="6486480" y="1990440"/>
            <a:ext cx="4962600" cy="10080"/>
          </a:xfrm>
          <a:custGeom>
            <a:avLst/>
            <a:gdLst/>
            <a:ahLst/>
            <a:rect l="0" t="0" r="r" b="b"/>
            <a:pathLst>
              <a:path w="13785" h="28">
                <a:moveTo>
                  <a:pt x="0" y="0"/>
                </a:moveTo>
                <a:lnTo>
                  <a:pt x="13785" y="0"/>
                </a:lnTo>
                <a:lnTo>
                  <a:pt x="13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0" name=""/>
          <p:cNvSpPr/>
          <p:nvPr/>
        </p:nvSpPr>
        <p:spPr>
          <a:xfrm>
            <a:off x="75240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1" name=""/>
          <p:cNvSpPr/>
          <p:nvPr/>
        </p:nvSpPr>
        <p:spPr>
          <a:xfrm>
            <a:off x="1161720" y="2000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2" name=""/>
          <p:cNvSpPr/>
          <p:nvPr/>
        </p:nvSpPr>
        <p:spPr>
          <a:xfrm>
            <a:off x="5105160" y="2000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3" name=""/>
          <p:cNvSpPr/>
          <p:nvPr/>
        </p:nvSpPr>
        <p:spPr>
          <a:xfrm>
            <a:off x="6476760" y="200016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4" name=""/>
          <p:cNvSpPr/>
          <p:nvPr/>
        </p:nvSpPr>
        <p:spPr>
          <a:xfrm>
            <a:off x="11439360" y="200016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5" name=""/>
          <p:cNvSpPr/>
          <p:nvPr/>
        </p:nvSpPr>
        <p:spPr>
          <a:xfrm>
            <a:off x="75240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6" name=""/>
          <p:cNvSpPr/>
          <p:nvPr/>
        </p:nvSpPr>
        <p:spPr>
          <a:xfrm>
            <a:off x="752400" y="2943000"/>
            <a:ext cx="419400" cy="10080"/>
          </a:xfrm>
          <a:custGeom>
            <a:avLst/>
            <a:gdLst/>
            <a:ahLst/>
            <a:rect l="0" t="0" r="r" b="b"/>
            <a:pathLst>
              <a:path w="1165" h="28">
                <a:moveTo>
                  <a:pt x="0" y="0"/>
                </a:moveTo>
                <a:lnTo>
                  <a:pt x="1165" y="0"/>
                </a:lnTo>
                <a:lnTo>
                  <a:pt x="11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7" name=""/>
          <p:cNvSpPr/>
          <p:nvPr/>
        </p:nvSpPr>
        <p:spPr>
          <a:xfrm>
            <a:off x="1161720" y="295272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8" name=""/>
          <p:cNvSpPr/>
          <p:nvPr/>
        </p:nvSpPr>
        <p:spPr>
          <a:xfrm>
            <a:off x="1171440" y="2943000"/>
            <a:ext cx="3943800" cy="10080"/>
          </a:xfrm>
          <a:custGeom>
            <a:avLst/>
            <a:gdLst/>
            <a:ahLst/>
            <a:rect l="0" t="0" r="r" b="b"/>
            <a:pathLst>
              <a:path w="10955" h="28">
                <a:moveTo>
                  <a:pt x="0" y="0"/>
                </a:moveTo>
                <a:lnTo>
                  <a:pt x="10955" y="0"/>
                </a:lnTo>
                <a:lnTo>
                  <a:pt x="109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39" name=""/>
          <p:cNvSpPr/>
          <p:nvPr/>
        </p:nvSpPr>
        <p:spPr>
          <a:xfrm>
            <a:off x="5105160" y="295272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0" name=""/>
          <p:cNvSpPr/>
          <p:nvPr/>
        </p:nvSpPr>
        <p:spPr>
          <a:xfrm>
            <a:off x="5114880" y="2943000"/>
            <a:ext cx="1371960" cy="10080"/>
          </a:xfrm>
          <a:custGeom>
            <a:avLst/>
            <a:gdLst/>
            <a:ahLst/>
            <a:rect l="0" t="0" r="r" b="b"/>
            <a:pathLst>
              <a:path w="3811" h="28">
                <a:moveTo>
                  <a:pt x="0" y="0"/>
                </a:moveTo>
                <a:lnTo>
                  <a:pt x="3811" y="0"/>
                </a:lnTo>
                <a:lnTo>
                  <a:pt x="38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1" name=""/>
          <p:cNvSpPr/>
          <p:nvPr/>
        </p:nvSpPr>
        <p:spPr>
          <a:xfrm>
            <a:off x="6476760" y="295272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2" name=""/>
          <p:cNvSpPr/>
          <p:nvPr/>
        </p:nvSpPr>
        <p:spPr>
          <a:xfrm>
            <a:off x="6486480" y="2943000"/>
            <a:ext cx="4962600" cy="10080"/>
          </a:xfrm>
          <a:custGeom>
            <a:avLst/>
            <a:gdLst/>
            <a:ahLst/>
            <a:rect l="0" t="0" r="r" b="b"/>
            <a:pathLst>
              <a:path w="13785" h="28">
                <a:moveTo>
                  <a:pt x="0" y="0"/>
                </a:moveTo>
                <a:lnTo>
                  <a:pt x="13785" y="0"/>
                </a:lnTo>
                <a:lnTo>
                  <a:pt x="13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3" name=""/>
          <p:cNvSpPr/>
          <p:nvPr/>
        </p:nvSpPr>
        <p:spPr>
          <a:xfrm>
            <a:off x="11439360" y="295272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4" name=""/>
          <p:cNvSpPr/>
          <p:nvPr/>
        </p:nvSpPr>
        <p:spPr>
          <a:xfrm>
            <a:off x="752400" y="390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5" name=""/>
          <p:cNvSpPr/>
          <p:nvPr/>
        </p:nvSpPr>
        <p:spPr>
          <a:xfrm>
            <a:off x="752400" y="389556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6" name=""/>
          <p:cNvSpPr/>
          <p:nvPr/>
        </p:nvSpPr>
        <p:spPr>
          <a:xfrm>
            <a:off x="1161720" y="39049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7" name=""/>
          <p:cNvSpPr/>
          <p:nvPr/>
        </p:nvSpPr>
        <p:spPr>
          <a:xfrm>
            <a:off x="1171440" y="3895560"/>
            <a:ext cx="3943800" cy="9720"/>
          </a:xfrm>
          <a:custGeom>
            <a:avLst/>
            <a:gdLst/>
            <a:ahLst/>
            <a:rect l="0" t="0" r="r" b="b"/>
            <a:pathLst>
              <a:path w="10955" h="27">
                <a:moveTo>
                  <a:pt x="0" y="0"/>
                </a:moveTo>
                <a:lnTo>
                  <a:pt x="10955" y="0"/>
                </a:lnTo>
                <a:lnTo>
                  <a:pt x="109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8" name=""/>
          <p:cNvSpPr/>
          <p:nvPr/>
        </p:nvSpPr>
        <p:spPr>
          <a:xfrm>
            <a:off x="5105160" y="39049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49" name=""/>
          <p:cNvSpPr/>
          <p:nvPr/>
        </p:nvSpPr>
        <p:spPr>
          <a:xfrm>
            <a:off x="5114880" y="389556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0" name=""/>
          <p:cNvSpPr/>
          <p:nvPr/>
        </p:nvSpPr>
        <p:spPr>
          <a:xfrm>
            <a:off x="6476760" y="39049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1" name=""/>
          <p:cNvSpPr/>
          <p:nvPr/>
        </p:nvSpPr>
        <p:spPr>
          <a:xfrm>
            <a:off x="6486480" y="3895560"/>
            <a:ext cx="4962600" cy="9720"/>
          </a:xfrm>
          <a:custGeom>
            <a:avLst/>
            <a:gdLst/>
            <a:ahLst/>
            <a:rect l="0" t="0" r="r" b="b"/>
            <a:pathLst>
              <a:path w="13785" h="27">
                <a:moveTo>
                  <a:pt x="0" y="0"/>
                </a:moveTo>
                <a:lnTo>
                  <a:pt x="13785" y="0"/>
                </a:lnTo>
                <a:lnTo>
                  <a:pt x="1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2" name=""/>
          <p:cNvSpPr/>
          <p:nvPr/>
        </p:nvSpPr>
        <p:spPr>
          <a:xfrm>
            <a:off x="11439360" y="39049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3" name=""/>
          <p:cNvSpPr/>
          <p:nvPr/>
        </p:nvSpPr>
        <p:spPr>
          <a:xfrm>
            <a:off x="752400" y="4857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4" name=""/>
          <p:cNvSpPr/>
          <p:nvPr/>
        </p:nvSpPr>
        <p:spPr>
          <a:xfrm>
            <a:off x="752400" y="484812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5" name=""/>
          <p:cNvSpPr/>
          <p:nvPr/>
        </p:nvSpPr>
        <p:spPr>
          <a:xfrm>
            <a:off x="1161720" y="485748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6" name=""/>
          <p:cNvSpPr/>
          <p:nvPr/>
        </p:nvSpPr>
        <p:spPr>
          <a:xfrm>
            <a:off x="1171440" y="4848120"/>
            <a:ext cx="3943800" cy="9720"/>
          </a:xfrm>
          <a:custGeom>
            <a:avLst/>
            <a:gdLst/>
            <a:ahLst/>
            <a:rect l="0" t="0" r="r" b="b"/>
            <a:pathLst>
              <a:path w="10955" h="27">
                <a:moveTo>
                  <a:pt x="0" y="0"/>
                </a:moveTo>
                <a:lnTo>
                  <a:pt x="10955" y="0"/>
                </a:lnTo>
                <a:lnTo>
                  <a:pt x="109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7" name=""/>
          <p:cNvSpPr/>
          <p:nvPr/>
        </p:nvSpPr>
        <p:spPr>
          <a:xfrm>
            <a:off x="5105160" y="485748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8" name=""/>
          <p:cNvSpPr/>
          <p:nvPr/>
        </p:nvSpPr>
        <p:spPr>
          <a:xfrm>
            <a:off x="5114880" y="484812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59" name=""/>
          <p:cNvSpPr/>
          <p:nvPr/>
        </p:nvSpPr>
        <p:spPr>
          <a:xfrm>
            <a:off x="6476760" y="485748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0" name=""/>
          <p:cNvSpPr/>
          <p:nvPr/>
        </p:nvSpPr>
        <p:spPr>
          <a:xfrm>
            <a:off x="6486480" y="4848120"/>
            <a:ext cx="4962600" cy="9720"/>
          </a:xfrm>
          <a:custGeom>
            <a:avLst/>
            <a:gdLst/>
            <a:ahLst/>
            <a:rect l="0" t="0" r="r" b="b"/>
            <a:pathLst>
              <a:path w="13785" h="27">
                <a:moveTo>
                  <a:pt x="0" y="0"/>
                </a:moveTo>
                <a:lnTo>
                  <a:pt x="13785" y="0"/>
                </a:lnTo>
                <a:lnTo>
                  <a:pt x="1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1" name=""/>
          <p:cNvSpPr/>
          <p:nvPr/>
        </p:nvSpPr>
        <p:spPr>
          <a:xfrm>
            <a:off x="11439360" y="485748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2" name=""/>
          <p:cNvSpPr/>
          <p:nvPr/>
        </p:nvSpPr>
        <p:spPr>
          <a:xfrm>
            <a:off x="752400" y="58100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3" name=""/>
          <p:cNvSpPr/>
          <p:nvPr/>
        </p:nvSpPr>
        <p:spPr>
          <a:xfrm>
            <a:off x="752400" y="5800680"/>
            <a:ext cx="419400" cy="9720"/>
          </a:xfrm>
          <a:custGeom>
            <a:avLst/>
            <a:gdLst/>
            <a:ahLst/>
            <a:rect l="0" t="0" r="r" b="b"/>
            <a:pathLst>
              <a:path w="1165" h="27">
                <a:moveTo>
                  <a:pt x="0" y="0"/>
                </a:moveTo>
                <a:lnTo>
                  <a:pt x="1165" y="0"/>
                </a:lnTo>
                <a:lnTo>
                  <a:pt x="11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4" name=""/>
          <p:cNvSpPr/>
          <p:nvPr/>
        </p:nvSpPr>
        <p:spPr>
          <a:xfrm>
            <a:off x="1161720" y="581004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5" name=""/>
          <p:cNvSpPr/>
          <p:nvPr/>
        </p:nvSpPr>
        <p:spPr>
          <a:xfrm>
            <a:off x="1171440" y="5800680"/>
            <a:ext cx="3943800" cy="9720"/>
          </a:xfrm>
          <a:custGeom>
            <a:avLst/>
            <a:gdLst/>
            <a:ahLst/>
            <a:rect l="0" t="0" r="r" b="b"/>
            <a:pathLst>
              <a:path w="10955" h="27">
                <a:moveTo>
                  <a:pt x="0" y="0"/>
                </a:moveTo>
                <a:lnTo>
                  <a:pt x="10955" y="0"/>
                </a:lnTo>
                <a:lnTo>
                  <a:pt x="109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6" name=""/>
          <p:cNvSpPr/>
          <p:nvPr/>
        </p:nvSpPr>
        <p:spPr>
          <a:xfrm>
            <a:off x="5105160" y="581004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7" name=""/>
          <p:cNvSpPr/>
          <p:nvPr/>
        </p:nvSpPr>
        <p:spPr>
          <a:xfrm>
            <a:off x="5114880" y="5800680"/>
            <a:ext cx="1371960" cy="9720"/>
          </a:xfrm>
          <a:custGeom>
            <a:avLst/>
            <a:gdLst/>
            <a:ahLst/>
            <a:rect l="0" t="0" r="r" b="b"/>
            <a:pathLst>
              <a:path w="3811" h="27">
                <a:moveTo>
                  <a:pt x="0" y="0"/>
                </a:moveTo>
                <a:lnTo>
                  <a:pt x="3811" y="0"/>
                </a:lnTo>
                <a:lnTo>
                  <a:pt x="38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8" name=""/>
          <p:cNvSpPr/>
          <p:nvPr/>
        </p:nvSpPr>
        <p:spPr>
          <a:xfrm>
            <a:off x="6476760" y="581004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69" name=""/>
          <p:cNvSpPr/>
          <p:nvPr/>
        </p:nvSpPr>
        <p:spPr>
          <a:xfrm>
            <a:off x="6486480" y="5800680"/>
            <a:ext cx="4962600" cy="9720"/>
          </a:xfrm>
          <a:custGeom>
            <a:avLst/>
            <a:gdLst/>
            <a:ahLst/>
            <a:rect l="0" t="0" r="r" b="b"/>
            <a:pathLst>
              <a:path w="13785" h="27">
                <a:moveTo>
                  <a:pt x="0" y="0"/>
                </a:moveTo>
                <a:lnTo>
                  <a:pt x="13785" y="0"/>
                </a:lnTo>
                <a:lnTo>
                  <a:pt x="13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0" name=""/>
          <p:cNvSpPr/>
          <p:nvPr/>
        </p:nvSpPr>
        <p:spPr>
          <a:xfrm>
            <a:off x="11439360" y="58100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1" name=""/>
          <p:cNvSpPr/>
          <p:nvPr/>
        </p:nvSpPr>
        <p:spPr>
          <a:xfrm>
            <a:off x="752400" y="67626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2" name=""/>
          <p:cNvSpPr/>
          <p:nvPr/>
        </p:nvSpPr>
        <p:spPr>
          <a:xfrm>
            <a:off x="752400" y="6752880"/>
            <a:ext cx="419400" cy="10440"/>
          </a:xfrm>
          <a:custGeom>
            <a:avLst/>
            <a:gdLst/>
            <a:ahLst/>
            <a:rect l="0" t="0" r="r" b="b"/>
            <a:pathLst>
              <a:path w="1165" h="29">
                <a:moveTo>
                  <a:pt x="0" y="0"/>
                </a:moveTo>
                <a:lnTo>
                  <a:pt x="1165" y="0"/>
                </a:lnTo>
                <a:lnTo>
                  <a:pt x="116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3" name=""/>
          <p:cNvSpPr/>
          <p:nvPr/>
        </p:nvSpPr>
        <p:spPr>
          <a:xfrm>
            <a:off x="1161720" y="67626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4" name=""/>
          <p:cNvSpPr/>
          <p:nvPr/>
        </p:nvSpPr>
        <p:spPr>
          <a:xfrm>
            <a:off x="1171440" y="6752880"/>
            <a:ext cx="3943800" cy="10440"/>
          </a:xfrm>
          <a:custGeom>
            <a:avLst/>
            <a:gdLst/>
            <a:ahLst/>
            <a:rect l="0" t="0" r="r" b="b"/>
            <a:pathLst>
              <a:path w="10955" h="29">
                <a:moveTo>
                  <a:pt x="0" y="0"/>
                </a:moveTo>
                <a:lnTo>
                  <a:pt x="10955" y="0"/>
                </a:lnTo>
                <a:lnTo>
                  <a:pt x="1095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5" name=""/>
          <p:cNvSpPr/>
          <p:nvPr/>
        </p:nvSpPr>
        <p:spPr>
          <a:xfrm>
            <a:off x="5105160" y="67626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6" name=""/>
          <p:cNvSpPr/>
          <p:nvPr/>
        </p:nvSpPr>
        <p:spPr>
          <a:xfrm>
            <a:off x="5114880" y="6752880"/>
            <a:ext cx="1371960" cy="10440"/>
          </a:xfrm>
          <a:custGeom>
            <a:avLst/>
            <a:gdLst/>
            <a:ahLst/>
            <a:rect l="0" t="0" r="r" b="b"/>
            <a:pathLst>
              <a:path w="3811" h="29">
                <a:moveTo>
                  <a:pt x="0" y="0"/>
                </a:moveTo>
                <a:lnTo>
                  <a:pt x="3811" y="0"/>
                </a:lnTo>
                <a:lnTo>
                  <a:pt x="381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7" name=""/>
          <p:cNvSpPr/>
          <p:nvPr/>
        </p:nvSpPr>
        <p:spPr>
          <a:xfrm>
            <a:off x="6476760" y="676260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8" name=""/>
          <p:cNvSpPr/>
          <p:nvPr/>
        </p:nvSpPr>
        <p:spPr>
          <a:xfrm>
            <a:off x="6486480" y="6752880"/>
            <a:ext cx="4962600" cy="10440"/>
          </a:xfrm>
          <a:custGeom>
            <a:avLst/>
            <a:gdLst/>
            <a:ahLst/>
            <a:rect l="0" t="0" r="r" b="b"/>
            <a:pathLst>
              <a:path w="13785" h="29">
                <a:moveTo>
                  <a:pt x="0" y="0"/>
                </a:moveTo>
                <a:lnTo>
                  <a:pt x="13785" y="0"/>
                </a:lnTo>
                <a:lnTo>
                  <a:pt x="1378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79" name=""/>
          <p:cNvSpPr/>
          <p:nvPr/>
        </p:nvSpPr>
        <p:spPr>
          <a:xfrm>
            <a:off x="11439360" y="676260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480" name=""/>
          <p:cNvSpPr txBox="1"/>
          <p:nvPr/>
        </p:nvSpPr>
        <p:spPr>
          <a:xfrm>
            <a:off x="747720" y="770400"/>
            <a:ext cx="247860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Risks (ranked)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880920" y="15692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#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2844360" y="1569240"/>
            <a:ext cx="5842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Risk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5259960" y="1569240"/>
            <a:ext cx="10753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Severity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8310600" y="1569240"/>
            <a:ext cx="1303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Mitigation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880920" y="231228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1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1292040" y="2102760"/>
            <a:ext cx="34372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rclpy steals SIGINT → rover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1292040" y="2521800"/>
            <a:ext cx="29574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keeps moving on Ctrl+C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6610320" y="2114280"/>
            <a:ext cx="3429360" cy="352800"/>
          </a:xfrm>
          <a:custGeom>
            <a:avLst/>
            <a:gdLst/>
            <a:ahLst/>
            <a:rect l="0" t="0" r="r" b="b"/>
            <a:pathLst>
              <a:path w="9526" h="980">
                <a:moveTo>
                  <a:pt x="0" y="821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9367" y="0"/>
                </a:lnTo>
                <a:cubicBezTo>
                  <a:pt x="9377" y="0"/>
                  <a:pt x="9388" y="1"/>
                  <a:pt x="9398" y="3"/>
                </a:cubicBezTo>
                <a:cubicBezTo>
                  <a:pt x="9408" y="5"/>
                  <a:pt x="9418" y="8"/>
                  <a:pt x="9428" y="12"/>
                </a:cubicBezTo>
                <a:cubicBezTo>
                  <a:pt x="9437" y="16"/>
                  <a:pt x="9446" y="21"/>
                  <a:pt x="9455" y="27"/>
                </a:cubicBezTo>
                <a:cubicBezTo>
                  <a:pt x="9464" y="33"/>
                  <a:pt x="9472" y="39"/>
                  <a:pt x="9479" y="47"/>
                </a:cubicBezTo>
                <a:cubicBezTo>
                  <a:pt x="9486" y="54"/>
                  <a:pt x="9493" y="62"/>
                  <a:pt x="9499" y="71"/>
                </a:cubicBezTo>
                <a:cubicBezTo>
                  <a:pt x="9505" y="79"/>
                  <a:pt x="9510" y="89"/>
                  <a:pt x="9513" y="98"/>
                </a:cubicBezTo>
                <a:cubicBezTo>
                  <a:pt x="9517" y="108"/>
                  <a:pt x="9520" y="118"/>
                  <a:pt x="9523" y="128"/>
                </a:cubicBezTo>
                <a:cubicBezTo>
                  <a:pt x="9525" y="138"/>
                  <a:pt x="9526" y="149"/>
                  <a:pt x="9526" y="159"/>
                </a:cubicBezTo>
                <a:lnTo>
                  <a:pt x="9526" y="821"/>
                </a:lnTo>
                <a:cubicBezTo>
                  <a:pt x="9526" y="832"/>
                  <a:pt x="9525" y="842"/>
                  <a:pt x="9523" y="852"/>
                </a:cubicBezTo>
                <a:cubicBezTo>
                  <a:pt x="9520" y="863"/>
                  <a:pt x="9517" y="873"/>
                  <a:pt x="9513" y="882"/>
                </a:cubicBezTo>
                <a:cubicBezTo>
                  <a:pt x="9510" y="892"/>
                  <a:pt x="9505" y="901"/>
                  <a:pt x="9499" y="910"/>
                </a:cubicBezTo>
                <a:cubicBezTo>
                  <a:pt x="9493" y="918"/>
                  <a:pt x="9486" y="926"/>
                  <a:pt x="9479" y="934"/>
                </a:cubicBezTo>
                <a:cubicBezTo>
                  <a:pt x="9472" y="941"/>
                  <a:pt x="9464" y="948"/>
                  <a:pt x="9455" y="953"/>
                </a:cubicBezTo>
                <a:cubicBezTo>
                  <a:pt x="9446" y="959"/>
                  <a:pt x="9437" y="964"/>
                  <a:pt x="9428" y="968"/>
                </a:cubicBezTo>
                <a:cubicBezTo>
                  <a:pt x="9418" y="972"/>
                  <a:pt x="9408" y="975"/>
                  <a:pt x="9398" y="977"/>
                </a:cubicBezTo>
                <a:cubicBezTo>
                  <a:pt x="9388" y="979"/>
                  <a:pt x="9377" y="980"/>
                  <a:pt x="9367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1" y="948"/>
                  <a:pt x="53" y="941"/>
                  <a:pt x="46" y="934"/>
                </a:cubicBezTo>
                <a:cubicBezTo>
                  <a:pt x="39" y="926"/>
                  <a:pt x="32" y="918"/>
                  <a:pt x="26" y="910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3"/>
                  <a:pt x="5" y="863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489" name=""/>
          <p:cNvSpPr txBox="1"/>
          <p:nvPr/>
        </p:nvSpPr>
        <p:spPr>
          <a:xfrm>
            <a:off x="5237280" y="2312280"/>
            <a:ext cx="6912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HIGH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0" name=""/>
          <p:cNvSpPr txBox="1"/>
          <p:nvPr/>
        </p:nvSpPr>
        <p:spPr>
          <a:xfrm>
            <a:off x="6708600" y="2165760"/>
            <a:ext cx="3225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SignalHandlerOptions.NO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491" name=""/>
          <p:cNvSpPr txBox="1"/>
          <p:nvPr/>
        </p:nvSpPr>
        <p:spPr>
          <a:xfrm>
            <a:off x="10042200" y="2102760"/>
            <a:ext cx="11192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; post-init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6614640" y="2521800"/>
            <a:ext cx="24710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assert; RINT-06 test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3" name=""/>
          <p:cNvSpPr txBox="1"/>
          <p:nvPr/>
        </p:nvSpPr>
        <p:spPr>
          <a:xfrm>
            <a:off x="880920" y="326484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2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4" name=""/>
          <p:cNvSpPr txBox="1"/>
          <p:nvPr/>
        </p:nvSpPr>
        <p:spPr>
          <a:xfrm>
            <a:off x="1292040" y="3055320"/>
            <a:ext cx="32896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Phase 3 regression breaks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1292040" y="3474360"/>
            <a:ext cx="13676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drone SITL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5237280" y="3264840"/>
            <a:ext cx="6912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HIGH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6614640" y="3055320"/>
            <a:ext cx="40942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Critical gate — full SITL test must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8" name=""/>
          <p:cNvSpPr txBox="1"/>
          <p:nvPr/>
        </p:nvSpPr>
        <p:spPr>
          <a:xfrm>
            <a:off x="6614640" y="3474360"/>
            <a:ext cx="27669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pass before Phase 4/5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1295280" y="4019400"/>
            <a:ext cx="2295720" cy="352800"/>
          </a:xfrm>
          <a:custGeom>
            <a:avLst/>
            <a:gdLst/>
            <a:ahLst/>
            <a:rect l="0" t="0" r="r" b="b"/>
            <a:pathLst>
              <a:path w="6377" h="980">
                <a:moveTo>
                  <a:pt x="0" y="821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219" y="0"/>
                </a:lnTo>
                <a:cubicBezTo>
                  <a:pt x="6229" y="0"/>
                  <a:pt x="6239" y="1"/>
                  <a:pt x="6250" y="3"/>
                </a:cubicBezTo>
                <a:cubicBezTo>
                  <a:pt x="6260" y="5"/>
                  <a:pt x="6270" y="8"/>
                  <a:pt x="6279" y="12"/>
                </a:cubicBezTo>
                <a:cubicBezTo>
                  <a:pt x="6289" y="16"/>
                  <a:pt x="6298" y="21"/>
                  <a:pt x="6307" y="27"/>
                </a:cubicBezTo>
                <a:cubicBezTo>
                  <a:pt x="6315" y="32"/>
                  <a:pt x="6323" y="39"/>
                  <a:pt x="6331" y="46"/>
                </a:cubicBezTo>
                <a:cubicBezTo>
                  <a:pt x="6338" y="54"/>
                  <a:pt x="6345" y="62"/>
                  <a:pt x="6351" y="70"/>
                </a:cubicBezTo>
                <a:cubicBezTo>
                  <a:pt x="6356" y="79"/>
                  <a:pt x="6361" y="89"/>
                  <a:pt x="6365" y="99"/>
                </a:cubicBezTo>
                <a:cubicBezTo>
                  <a:pt x="6369" y="109"/>
                  <a:pt x="6372" y="118"/>
                  <a:pt x="6374" y="129"/>
                </a:cubicBezTo>
                <a:cubicBezTo>
                  <a:pt x="6376" y="139"/>
                  <a:pt x="6377" y="149"/>
                  <a:pt x="6377" y="160"/>
                </a:cubicBezTo>
                <a:lnTo>
                  <a:pt x="6377" y="821"/>
                </a:lnTo>
                <a:cubicBezTo>
                  <a:pt x="6377" y="832"/>
                  <a:pt x="6376" y="842"/>
                  <a:pt x="6374" y="852"/>
                </a:cubicBezTo>
                <a:cubicBezTo>
                  <a:pt x="6372" y="862"/>
                  <a:pt x="6369" y="872"/>
                  <a:pt x="6365" y="882"/>
                </a:cubicBezTo>
                <a:cubicBezTo>
                  <a:pt x="6361" y="892"/>
                  <a:pt x="6356" y="901"/>
                  <a:pt x="6351" y="909"/>
                </a:cubicBezTo>
                <a:cubicBezTo>
                  <a:pt x="6345" y="918"/>
                  <a:pt x="6338" y="926"/>
                  <a:pt x="6331" y="933"/>
                </a:cubicBezTo>
                <a:cubicBezTo>
                  <a:pt x="6323" y="941"/>
                  <a:pt x="6315" y="947"/>
                  <a:pt x="6307" y="953"/>
                </a:cubicBezTo>
                <a:cubicBezTo>
                  <a:pt x="6298" y="959"/>
                  <a:pt x="6289" y="964"/>
                  <a:pt x="6279" y="968"/>
                </a:cubicBezTo>
                <a:cubicBezTo>
                  <a:pt x="6270" y="972"/>
                  <a:pt x="6260" y="975"/>
                  <a:pt x="6250" y="977"/>
                </a:cubicBezTo>
                <a:cubicBezTo>
                  <a:pt x="6239" y="979"/>
                  <a:pt x="6229" y="980"/>
                  <a:pt x="6219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500" name=""/>
          <p:cNvSpPr txBox="1"/>
          <p:nvPr/>
        </p:nvSpPr>
        <p:spPr>
          <a:xfrm>
            <a:off x="880920" y="42174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3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1386000" y="4070880"/>
            <a:ext cx="2103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_rclpy_pybind11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1292040" y="4426920"/>
            <a:ext cx="3007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ImportError in hailo venv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5237280" y="4217400"/>
            <a:ext cx="11210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MEDIUM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8839080" y="4019400"/>
            <a:ext cx="1876680" cy="352800"/>
          </a:xfrm>
          <a:custGeom>
            <a:avLst/>
            <a:gdLst/>
            <a:ahLst/>
            <a:rect l="0" t="0" r="r" b="b"/>
            <a:pathLst>
              <a:path w="5213" h="980">
                <a:moveTo>
                  <a:pt x="0" y="821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054" y="0"/>
                </a:lnTo>
                <a:cubicBezTo>
                  <a:pt x="5065" y="0"/>
                  <a:pt x="5075" y="1"/>
                  <a:pt x="5085" y="3"/>
                </a:cubicBezTo>
                <a:cubicBezTo>
                  <a:pt x="5096" y="5"/>
                  <a:pt x="5105" y="8"/>
                  <a:pt x="5115" y="12"/>
                </a:cubicBezTo>
                <a:cubicBezTo>
                  <a:pt x="5125" y="16"/>
                  <a:pt x="5134" y="21"/>
                  <a:pt x="5143" y="27"/>
                </a:cubicBezTo>
                <a:cubicBezTo>
                  <a:pt x="5151" y="32"/>
                  <a:pt x="5159" y="39"/>
                  <a:pt x="5167" y="46"/>
                </a:cubicBezTo>
                <a:cubicBezTo>
                  <a:pt x="5174" y="54"/>
                  <a:pt x="5181" y="62"/>
                  <a:pt x="5186" y="70"/>
                </a:cubicBezTo>
                <a:cubicBezTo>
                  <a:pt x="5192" y="79"/>
                  <a:pt x="5197" y="89"/>
                  <a:pt x="5201" y="99"/>
                </a:cubicBezTo>
                <a:cubicBezTo>
                  <a:pt x="5205" y="109"/>
                  <a:pt x="5208" y="118"/>
                  <a:pt x="5210" y="129"/>
                </a:cubicBezTo>
                <a:cubicBezTo>
                  <a:pt x="5212" y="139"/>
                  <a:pt x="5213" y="149"/>
                  <a:pt x="5213" y="160"/>
                </a:cubicBezTo>
                <a:lnTo>
                  <a:pt x="5213" y="821"/>
                </a:lnTo>
                <a:cubicBezTo>
                  <a:pt x="5213" y="832"/>
                  <a:pt x="5212" y="842"/>
                  <a:pt x="5210" y="852"/>
                </a:cubicBezTo>
                <a:cubicBezTo>
                  <a:pt x="5208" y="862"/>
                  <a:pt x="5205" y="872"/>
                  <a:pt x="5201" y="882"/>
                </a:cubicBezTo>
                <a:cubicBezTo>
                  <a:pt x="5197" y="892"/>
                  <a:pt x="5192" y="901"/>
                  <a:pt x="5186" y="909"/>
                </a:cubicBezTo>
                <a:cubicBezTo>
                  <a:pt x="5181" y="918"/>
                  <a:pt x="5174" y="926"/>
                  <a:pt x="5167" y="933"/>
                </a:cubicBezTo>
                <a:cubicBezTo>
                  <a:pt x="5159" y="941"/>
                  <a:pt x="5151" y="947"/>
                  <a:pt x="5143" y="953"/>
                </a:cubicBezTo>
                <a:cubicBezTo>
                  <a:pt x="5134" y="959"/>
                  <a:pt x="5125" y="964"/>
                  <a:pt x="5115" y="968"/>
                </a:cubicBezTo>
                <a:cubicBezTo>
                  <a:pt x="5105" y="972"/>
                  <a:pt x="5096" y="975"/>
                  <a:pt x="5085" y="977"/>
                </a:cubicBezTo>
                <a:cubicBezTo>
                  <a:pt x="5075" y="979"/>
                  <a:pt x="5065" y="980"/>
                  <a:pt x="5054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505" name=""/>
          <p:cNvSpPr txBox="1"/>
          <p:nvPr/>
        </p:nvSpPr>
        <p:spPr>
          <a:xfrm>
            <a:off x="6614640" y="4007520"/>
            <a:ext cx="2225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Defensive import;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8934840" y="4070880"/>
            <a:ext cx="16833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setup_env.sh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6614640" y="4426920"/>
            <a:ext cx="2274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auto-sources ROS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08" name=""/>
          <p:cNvSpPr txBox="1"/>
          <p:nvPr/>
        </p:nvSpPr>
        <p:spPr>
          <a:xfrm>
            <a:off x="880920" y="516960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4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1292040" y="4960080"/>
            <a:ext cx="2872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Garden silent SDF load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2209680" y="5381280"/>
            <a:ext cx="1600560" cy="362520"/>
          </a:xfrm>
          <a:custGeom>
            <a:avLst/>
            <a:gdLst/>
            <a:ahLst/>
            <a:rect l="0" t="0" r="r" b="b"/>
            <a:pathLst>
              <a:path w="4446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4287" y="0"/>
                </a:lnTo>
                <a:cubicBezTo>
                  <a:pt x="4298" y="0"/>
                  <a:pt x="4308" y="1"/>
                  <a:pt x="4318" y="4"/>
                </a:cubicBezTo>
                <a:cubicBezTo>
                  <a:pt x="4328" y="6"/>
                  <a:pt x="4338" y="9"/>
                  <a:pt x="4348" y="13"/>
                </a:cubicBezTo>
                <a:cubicBezTo>
                  <a:pt x="4357" y="17"/>
                  <a:pt x="4367" y="21"/>
                  <a:pt x="4375" y="27"/>
                </a:cubicBezTo>
                <a:cubicBezTo>
                  <a:pt x="4384" y="33"/>
                  <a:pt x="4392" y="40"/>
                  <a:pt x="4399" y="47"/>
                </a:cubicBezTo>
                <a:cubicBezTo>
                  <a:pt x="4407" y="54"/>
                  <a:pt x="4413" y="62"/>
                  <a:pt x="4419" y="71"/>
                </a:cubicBezTo>
                <a:cubicBezTo>
                  <a:pt x="4425" y="80"/>
                  <a:pt x="4430" y="89"/>
                  <a:pt x="4434" y="98"/>
                </a:cubicBezTo>
                <a:cubicBezTo>
                  <a:pt x="4438" y="108"/>
                  <a:pt x="4441" y="118"/>
                  <a:pt x="4443" y="128"/>
                </a:cubicBezTo>
                <a:cubicBezTo>
                  <a:pt x="4445" y="138"/>
                  <a:pt x="4446" y="149"/>
                  <a:pt x="4446" y="159"/>
                </a:cubicBezTo>
                <a:lnTo>
                  <a:pt x="4446" y="848"/>
                </a:lnTo>
                <a:cubicBezTo>
                  <a:pt x="4446" y="859"/>
                  <a:pt x="4445" y="869"/>
                  <a:pt x="4443" y="879"/>
                </a:cubicBezTo>
                <a:cubicBezTo>
                  <a:pt x="4441" y="889"/>
                  <a:pt x="4438" y="899"/>
                  <a:pt x="4434" y="909"/>
                </a:cubicBezTo>
                <a:cubicBezTo>
                  <a:pt x="4430" y="919"/>
                  <a:pt x="4425" y="928"/>
                  <a:pt x="4419" y="936"/>
                </a:cubicBezTo>
                <a:cubicBezTo>
                  <a:pt x="4413" y="945"/>
                  <a:pt x="4407" y="953"/>
                  <a:pt x="4399" y="960"/>
                </a:cubicBezTo>
                <a:cubicBezTo>
                  <a:pt x="4392" y="968"/>
                  <a:pt x="4384" y="974"/>
                  <a:pt x="4375" y="980"/>
                </a:cubicBezTo>
                <a:cubicBezTo>
                  <a:pt x="4367" y="986"/>
                  <a:pt x="4357" y="991"/>
                  <a:pt x="4348" y="995"/>
                </a:cubicBezTo>
                <a:cubicBezTo>
                  <a:pt x="4338" y="999"/>
                  <a:pt x="4328" y="1002"/>
                  <a:pt x="4318" y="1004"/>
                </a:cubicBezTo>
                <a:cubicBezTo>
                  <a:pt x="4308" y="1006"/>
                  <a:pt x="4298" y="1007"/>
                  <a:pt x="4287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7" y="1002"/>
                  <a:pt x="107" y="999"/>
                  <a:pt x="98" y="995"/>
                </a:cubicBezTo>
                <a:cubicBezTo>
                  <a:pt x="88" y="991"/>
                  <a:pt x="79" y="986"/>
                  <a:pt x="70" y="980"/>
                </a:cubicBezTo>
                <a:cubicBezTo>
                  <a:pt x="62" y="974"/>
                  <a:pt x="54" y="968"/>
                  <a:pt x="46" y="960"/>
                </a:cubicBezTo>
                <a:cubicBezTo>
                  <a:pt x="39" y="953"/>
                  <a:pt x="32" y="945"/>
                  <a:pt x="27" y="936"/>
                </a:cubicBezTo>
                <a:cubicBezTo>
                  <a:pt x="21" y="928"/>
                  <a:pt x="16" y="919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511" name=""/>
          <p:cNvSpPr txBox="1"/>
          <p:nvPr/>
        </p:nvSpPr>
        <p:spPr>
          <a:xfrm>
            <a:off x="1292040" y="5379120"/>
            <a:ext cx="9198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failure (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12" name=""/>
          <p:cNvSpPr txBox="1"/>
          <p:nvPr/>
        </p:nvSpPr>
        <p:spPr>
          <a:xfrm>
            <a:off x="2306880" y="5433120"/>
            <a:ext cx="1402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ignition::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3809520" y="5379120"/>
            <a:ext cx="843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prefix)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14" name=""/>
          <p:cNvSpPr txBox="1"/>
          <p:nvPr/>
        </p:nvSpPr>
        <p:spPr>
          <a:xfrm>
            <a:off x="5237280" y="5169600"/>
            <a:ext cx="11210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MEDIUM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9982080" y="4971960"/>
            <a:ext cx="1743480" cy="352800"/>
          </a:xfrm>
          <a:custGeom>
            <a:avLst/>
            <a:gdLst/>
            <a:ahLst/>
            <a:rect l="0" t="0" r="r" b="b"/>
            <a:pathLst>
              <a:path w="4843" h="980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843" y="0"/>
                </a:lnTo>
                <a:lnTo>
                  <a:pt x="4843" y="980"/>
                </a:ln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516" name=""/>
          <p:cNvSpPr txBox="1"/>
          <p:nvPr/>
        </p:nvSpPr>
        <p:spPr>
          <a:xfrm>
            <a:off x="6614640" y="4960080"/>
            <a:ext cx="3385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PITFALLS.md + README;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6095880" y="5381280"/>
            <a:ext cx="1743480" cy="362520"/>
          </a:xfrm>
          <a:custGeom>
            <a:avLst/>
            <a:gdLst/>
            <a:ahLst/>
            <a:rect l="0" t="0" r="r" b="b"/>
            <a:pathLst>
              <a:path w="4843" h="1007">
                <a:moveTo>
                  <a:pt x="0" y="1007"/>
                </a:moveTo>
                <a:lnTo>
                  <a:pt x="0" y="0"/>
                </a:lnTo>
                <a:lnTo>
                  <a:pt x="4684" y="0"/>
                </a:lnTo>
                <a:cubicBezTo>
                  <a:pt x="4694" y="0"/>
                  <a:pt x="4705" y="1"/>
                  <a:pt x="4715" y="4"/>
                </a:cubicBezTo>
                <a:cubicBezTo>
                  <a:pt x="4725" y="6"/>
                  <a:pt x="4735" y="9"/>
                  <a:pt x="4745" y="13"/>
                </a:cubicBezTo>
                <a:cubicBezTo>
                  <a:pt x="4754" y="17"/>
                  <a:pt x="4763" y="21"/>
                  <a:pt x="4772" y="27"/>
                </a:cubicBezTo>
                <a:cubicBezTo>
                  <a:pt x="4781" y="33"/>
                  <a:pt x="4789" y="40"/>
                  <a:pt x="4796" y="47"/>
                </a:cubicBezTo>
                <a:cubicBezTo>
                  <a:pt x="4804" y="54"/>
                  <a:pt x="4810" y="62"/>
                  <a:pt x="4816" y="71"/>
                </a:cubicBezTo>
                <a:cubicBezTo>
                  <a:pt x="4822" y="80"/>
                  <a:pt x="4827" y="89"/>
                  <a:pt x="4831" y="98"/>
                </a:cubicBezTo>
                <a:cubicBezTo>
                  <a:pt x="4835" y="108"/>
                  <a:pt x="4838" y="118"/>
                  <a:pt x="4840" y="128"/>
                </a:cubicBezTo>
                <a:cubicBezTo>
                  <a:pt x="4842" y="138"/>
                  <a:pt x="4843" y="149"/>
                  <a:pt x="4843" y="159"/>
                </a:cubicBezTo>
                <a:lnTo>
                  <a:pt x="4843" y="848"/>
                </a:lnTo>
                <a:cubicBezTo>
                  <a:pt x="4843" y="859"/>
                  <a:pt x="4842" y="869"/>
                  <a:pt x="4840" y="879"/>
                </a:cubicBezTo>
                <a:cubicBezTo>
                  <a:pt x="4838" y="889"/>
                  <a:pt x="4835" y="899"/>
                  <a:pt x="4831" y="909"/>
                </a:cubicBezTo>
                <a:cubicBezTo>
                  <a:pt x="4827" y="919"/>
                  <a:pt x="4822" y="928"/>
                  <a:pt x="4816" y="936"/>
                </a:cubicBezTo>
                <a:cubicBezTo>
                  <a:pt x="4810" y="945"/>
                  <a:pt x="4804" y="953"/>
                  <a:pt x="4796" y="960"/>
                </a:cubicBezTo>
                <a:cubicBezTo>
                  <a:pt x="4789" y="968"/>
                  <a:pt x="4781" y="974"/>
                  <a:pt x="4772" y="980"/>
                </a:cubicBezTo>
                <a:cubicBezTo>
                  <a:pt x="4763" y="986"/>
                  <a:pt x="4754" y="991"/>
                  <a:pt x="4745" y="995"/>
                </a:cubicBezTo>
                <a:cubicBezTo>
                  <a:pt x="4735" y="999"/>
                  <a:pt x="4725" y="1002"/>
                  <a:pt x="4715" y="1004"/>
                </a:cubicBezTo>
                <a:cubicBezTo>
                  <a:pt x="4705" y="1006"/>
                  <a:pt x="4694" y="1007"/>
                  <a:pt x="4684" y="1007"/>
                </a:cubicBezTo>
                <a:lnTo>
                  <a:pt x="0" y="1007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518" name=""/>
          <p:cNvSpPr txBox="1"/>
          <p:nvPr/>
        </p:nvSpPr>
        <p:spPr>
          <a:xfrm>
            <a:off x="10078200" y="5023440"/>
            <a:ext cx="421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gz 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519" name=""/>
          <p:cNvSpPr txBox="1"/>
          <p:nvPr/>
        </p:nvSpPr>
        <p:spPr>
          <a:xfrm>
            <a:off x="6614640" y="5433120"/>
            <a:ext cx="11224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topic -l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520" name=""/>
          <p:cNvSpPr txBox="1"/>
          <p:nvPr/>
        </p:nvSpPr>
        <p:spPr>
          <a:xfrm>
            <a:off x="7835400" y="5379120"/>
            <a:ext cx="18432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validation step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1295280" y="5924520"/>
            <a:ext cx="2019600" cy="352800"/>
          </a:xfrm>
          <a:custGeom>
            <a:avLst/>
            <a:gdLst/>
            <a:ahLst/>
            <a:rect l="0" t="0" r="r" b="b"/>
            <a:pathLst>
              <a:path w="5610" h="980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451" y="0"/>
                </a:lnTo>
                <a:cubicBezTo>
                  <a:pt x="5462" y="0"/>
                  <a:pt x="5472" y="1"/>
                  <a:pt x="5482" y="3"/>
                </a:cubicBezTo>
                <a:cubicBezTo>
                  <a:pt x="5492" y="5"/>
                  <a:pt x="5502" y="8"/>
                  <a:pt x="5512" y="12"/>
                </a:cubicBezTo>
                <a:cubicBezTo>
                  <a:pt x="5522" y="16"/>
                  <a:pt x="5531" y="21"/>
                  <a:pt x="5539" y="26"/>
                </a:cubicBezTo>
                <a:cubicBezTo>
                  <a:pt x="5548" y="32"/>
                  <a:pt x="5556" y="39"/>
                  <a:pt x="5564" y="46"/>
                </a:cubicBezTo>
                <a:cubicBezTo>
                  <a:pt x="5571" y="53"/>
                  <a:pt x="5577" y="61"/>
                  <a:pt x="5583" y="70"/>
                </a:cubicBezTo>
                <a:cubicBezTo>
                  <a:pt x="5589" y="79"/>
                  <a:pt x="5594" y="88"/>
                  <a:pt x="5598" y="98"/>
                </a:cubicBezTo>
                <a:cubicBezTo>
                  <a:pt x="5602" y="107"/>
                  <a:pt x="5605" y="117"/>
                  <a:pt x="5607" y="127"/>
                </a:cubicBezTo>
                <a:cubicBezTo>
                  <a:pt x="5609" y="138"/>
                  <a:pt x="5610" y="148"/>
                  <a:pt x="5610" y="158"/>
                </a:cubicBezTo>
                <a:lnTo>
                  <a:pt x="5610" y="821"/>
                </a:lnTo>
                <a:cubicBezTo>
                  <a:pt x="5610" y="831"/>
                  <a:pt x="5609" y="842"/>
                  <a:pt x="5607" y="852"/>
                </a:cubicBezTo>
                <a:cubicBezTo>
                  <a:pt x="5605" y="862"/>
                  <a:pt x="5602" y="872"/>
                  <a:pt x="5598" y="882"/>
                </a:cubicBezTo>
                <a:cubicBezTo>
                  <a:pt x="5594" y="891"/>
                  <a:pt x="5589" y="900"/>
                  <a:pt x="5583" y="909"/>
                </a:cubicBezTo>
                <a:cubicBezTo>
                  <a:pt x="5577" y="918"/>
                  <a:pt x="5571" y="926"/>
                  <a:pt x="5564" y="933"/>
                </a:cubicBezTo>
                <a:cubicBezTo>
                  <a:pt x="5556" y="940"/>
                  <a:pt x="5548" y="947"/>
                  <a:pt x="5539" y="953"/>
                </a:cubicBezTo>
                <a:cubicBezTo>
                  <a:pt x="5531" y="959"/>
                  <a:pt x="5522" y="963"/>
                  <a:pt x="5512" y="967"/>
                </a:cubicBezTo>
                <a:cubicBezTo>
                  <a:pt x="5502" y="971"/>
                  <a:pt x="5492" y="974"/>
                  <a:pt x="5482" y="976"/>
                </a:cubicBezTo>
                <a:cubicBezTo>
                  <a:pt x="5472" y="979"/>
                  <a:pt x="5462" y="980"/>
                  <a:pt x="5451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6"/>
                </a:cubicBezTo>
                <a:cubicBezTo>
                  <a:pt x="117" y="974"/>
                  <a:pt x="107" y="971"/>
                  <a:pt x="98" y="967"/>
                </a:cubicBezTo>
                <a:cubicBezTo>
                  <a:pt x="88" y="963"/>
                  <a:pt x="79" y="959"/>
                  <a:pt x="70" y="953"/>
                </a:cubicBezTo>
                <a:cubicBezTo>
                  <a:pt x="62" y="947"/>
                  <a:pt x="54" y="940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522" name=""/>
          <p:cNvSpPr txBox="1"/>
          <p:nvPr/>
        </p:nvSpPr>
        <p:spPr>
          <a:xfrm>
            <a:off x="880920" y="6122160"/>
            <a:ext cx="275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5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1386000" y="5976000"/>
            <a:ext cx="1823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ros_gz_bridge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3310920" y="5912640"/>
            <a:ext cx="7995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15 Hz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1292040" y="6331680"/>
            <a:ext cx="1782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camera ceiling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5237280" y="6122160"/>
            <a:ext cx="11210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MEDIUM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8296200" y="5924520"/>
            <a:ext cx="2295720" cy="352800"/>
          </a:xfrm>
          <a:custGeom>
            <a:avLst/>
            <a:gdLst/>
            <a:ahLst/>
            <a:rect l="0" t="0" r="r" b="b"/>
            <a:pathLst>
              <a:path w="6377" h="980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6218" y="0"/>
                </a:lnTo>
                <a:cubicBezTo>
                  <a:pt x="6229" y="0"/>
                  <a:pt x="6239" y="1"/>
                  <a:pt x="6249" y="3"/>
                </a:cubicBezTo>
                <a:cubicBezTo>
                  <a:pt x="6260" y="5"/>
                  <a:pt x="6270" y="8"/>
                  <a:pt x="6279" y="12"/>
                </a:cubicBezTo>
                <a:cubicBezTo>
                  <a:pt x="6289" y="16"/>
                  <a:pt x="6298" y="21"/>
                  <a:pt x="6307" y="26"/>
                </a:cubicBezTo>
                <a:cubicBezTo>
                  <a:pt x="6315" y="32"/>
                  <a:pt x="6323" y="39"/>
                  <a:pt x="6331" y="46"/>
                </a:cubicBezTo>
                <a:cubicBezTo>
                  <a:pt x="6338" y="53"/>
                  <a:pt x="6345" y="61"/>
                  <a:pt x="6350" y="70"/>
                </a:cubicBezTo>
                <a:cubicBezTo>
                  <a:pt x="6356" y="79"/>
                  <a:pt x="6361" y="88"/>
                  <a:pt x="6365" y="98"/>
                </a:cubicBezTo>
                <a:cubicBezTo>
                  <a:pt x="6369" y="107"/>
                  <a:pt x="6372" y="117"/>
                  <a:pt x="6374" y="127"/>
                </a:cubicBezTo>
                <a:cubicBezTo>
                  <a:pt x="6376" y="138"/>
                  <a:pt x="6377" y="148"/>
                  <a:pt x="6377" y="158"/>
                </a:cubicBezTo>
                <a:lnTo>
                  <a:pt x="6377" y="821"/>
                </a:lnTo>
                <a:cubicBezTo>
                  <a:pt x="6377" y="831"/>
                  <a:pt x="6376" y="842"/>
                  <a:pt x="6374" y="852"/>
                </a:cubicBezTo>
                <a:cubicBezTo>
                  <a:pt x="6372" y="862"/>
                  <a:pt x="6369" y="872"/>
                  <a:pt x="6365" y="882"/>
                </a:cubicBezTo>
                <a:cubicBezTo>
                  <a:pt x="6361" y="891"/>
                  <a:pt x="6356" y="900"/>
                  <a:pt x="6350" y="909"/>
                </a:cubicBezTo>
                <a:cubicBezTo>
                  <a:pt x="6345" y="918"/>
                  <a:pt x="6338" y="926"/>
                  <a:pt x="6331" y="933"/>
                </a:cubicBezTo>
                <a:cubicBezTo>
                  <a:pt x="6323" y="940"/>
                  <a:pt x="6315" y="947"/>
                  <a:pt x="6307" y="953"/>
                </a:cubicBezTo>
                <a:cubicBezTo>
                  <a:pt x="6298" y="959"/>
                  <a:pt x="6289" y="963"/>
                  <a:pt x="6279" y="967"/>
                </a:cubicBezTo>
                <a:cubicBezTo>
                  <a:pt x="6270" y="971"/>
                  <a:pt x="6260" y="974"/>
                  <a:pt x="6249" y="976"/>
                </a:cubicBezTo>
                <a:cubicBezTo>
                  <a:pt x="6239" y="979"/>
                  <a:pt x="6229" y="980"/>
                  <a:pt x="6218" y="980"/>
                </a:cubicBezTo>
                <a:lnTo>
                  <a:pt x="158" y="980"/>
                </a:lnTo>
                <a:cubicBezTo>
                  <a:pt x="148" y="980"/>
                  <a:pt x="138" y="979"/>
                  <a:pt x="127" y="976"/>
                </a:cubicBezTo>
                <a:cubicBezTo>
                  <a:pt x="117" y="974"/>
                  <a:pt x="107" y="971"/>
                  <a:pt x="98" y="967"/>
                </a:cubicBezTo>
                <a:cubicBezTo>
                  <a:pt x="88" y="963"/>
                  <a:pt x="79" y="959"/>
                  <a:pt x="70" y="953"/>
                </a:cubicBezTo>
                <a:cubicBezTo>
                  <a:pt x="62" y="947"/>
                  <a:pt x="54" y="940"/>
                  <a:pt x="46" y="933"/>
                </a:cubicBezTo>
                <a:cubicBezTo>
                  <a:pt x="39" y="926"/>
                  <a:pt x="32" y="918"/>
                  <a:pt x="26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528" name=""/>
          <p:cNvSpPr txBox="1"/>
          <p:nvPr/>
        </p:nvSpPr>
        <p:spPr>
          <a:xfrm>
            <a:off x="6614640" y="5912640"/>
            <a:ext cx="1689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Avoid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: reuse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29" name=""/>
          <p:cNvSpPr txBox="1"/>
          <p:nvPr/>
        </p:nvSpPr>
        <p:spPr>
          <a:xfrm>
            <a:off x="8386920" y="5976000"/>
            <a:ext cx="2103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video_bridge.py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10593720" y="5912640"/>
            <a:ext cx="5526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 </a:t>
            </a:r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(gz-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31" name=""/>
          <p:cNvSpPr txBox="1"/>
          <p:nvPr/>
        </p:nvSpPr>
        <p:spPr>
          <a:xfrm>
            <a:off x="6614640" y="6331680"/>
            <a:ext cx="11818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transport)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35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34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36" name=""/>
          <p:cNvSpPr/>
          <p:nvPr/>
        </p:nvSpPr>
        <p:spPr>
          <a:xfrm>
            <a:off x="752400" y="1457280"/>
            <a:ext cx="3486240" cy="543240"/>
          </a:xfrm>
          <a:custGeom>
            <a:avLst/>
            <a:gdLst/>
            <a:ahLst/>
            <a:rect l="0" t="0" r="r" b="b"/>
            <a:pathLst>
              <a:path w="9684" h="1509">
                <a:moveTo>
                  <a:pt x="0" y="0"/>
                </a:moveTo>
                <a:lnTo>
                  <a:pt x="9684" y="0"/>
                </a:lnTo>
                <a:lnTo>
                  <a:pt x="968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37" name=""/>
          <p:cNvSpPr/>
          <p:nvPr/>
        </p:nvSpPr>
        <p:spPr>
          <a:xfrm>
            <a:off x="4238280" y="1457280"/>
            <a:ext cx="7201440" cy="543240"/>
          </a:xfrm>
          <a:custGeom>
            <a:avLst/>
            <a:gdLst/>
            <a:ahLst/>
            <a:rect l="0" t="0" r="r" b="b"/>
            <a:pathLst>
              <a:path w="20004" h="1509">
                <a:moveTo>
                  <a:pt x="0" y="0"/>
                </a:moveTo>
                <a:lnTo>
                  <a:pt x="20004" y="0"/>
                </a:lnTo>
                <a:lnTo>
                  <a:pt x="2000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38" name=""/>
          <p:cNvSpPr/>
          <p:nvPr/>
        </p:nvSpPr>
        <p:spPr>
          <a:xfrm>
            <a:off x="752400" y="2000160"/>
            <a:ext cx="3486240" cy="533520"/>
          </a:xfrm>
          <a:custGeom>
            <a:avLst/>
            <a:gdLst/>
            <a:ahLst/>
            <a:rect l="0" t="0" r="r" b="b"/>
            <a:pathLst>
              <a:path w="9684" h="1482">
                <a:moveTo>
                  <a:pt x="0" y="0"/>
                </a:moveTo>
                <a:lnTo>
                  <a:pt x="9684" y="0"/>
                </a:lnTo>
                <a:lnTo>
                  <a:pt x="968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39" name=""/>
          <p:cNvSpPr/>
          <p:nvPr/>
        </p:nvSpPr>
        <p:spPr>
          <a:xfrm>
            <a:off x="4238280" y="2000160"/>
            <a:ext cx="7201440" cy="533520"/>
          </a:xfrm>
          <a:custGeom>
            <a:avLst/>
            <a:gdLst/>
            <a:ahLst/>
            <a:rect l="0" t="0" r="r" b="b"/>
            <a:pathLst>
              <a:path w="20004" h="1482">
                <a:moveTo>
                  <a:pt x="0" y="0"/>
                </a:moveTo>
                <a:lnTo>
                  <a:pt x="20004" y="0"/>
                </a:lnTo>
                <a:lnTo>
                  <a:pt x="2000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40" name=""/>
          <p:cNvSpPr/>
          <p:nvPr/>
        </p:nvSpPr>
        <p:spPr>
          <a:xfrm>
            <a:off x="752400" y="2533320"/>
            <a:ext cx="3486240" cy="543600"/>
          </a:xfrm>
          <a:custGeom>
            <a:avLst/>
            <a:gdLst/>
            <a:ahLst/>
            <a:rect l="0" t="0" r="r" b="b"/>
            <a:pathLst>
              <a:path w="9684" h="1510">
                <a:moveTo>
                  <a:pt x="0" y="0"/>
                </a:moveTo>
                <a:lnTo>
                  <a:pt x="9684" y="0"/>
                </a:lnTo>
                <a:lnTo>
                  <a:pt x="968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41" name=""/>
          <p:cNvSpPr/>
          <p:nvPr/>
        </p:nvSpPr>
        <p:spPr>
          <a:xfrm>
            <a:off x="4238280" y="2533320"/>
            <a:ext cx="7201440" cy="543600"/>
          </a:xfrm>
          <a:custGeom>
            <a:avLst/>
            <a:gdLst/>
            <a:ahLst/>
            <a:rect l="0" t="0" r="r" b="b"/>
            <a:pathLst>
              <a:path w="20004" h="1510">
                <a:moveTo>
                  <a:pt x="0" y="0"/>
                </a:moveTo>
                <a:lnTo>
                  <a:pt x="20004" y="0"/>
                </a:lnTo>
                <a:lnTo>
                  <a:pt x="20004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42" name=""/>
          <p:cNvSpPr/>
          <p:nvPr/>
        </p:nvSpPr>
        <p:spPr>
          <a:xfrm>
            <a:off x="752400" y="3076560"/>
            <a:ext cx="3486240" cy="533520"/>
          </a:xfrm>
          <a:custGeom>
            <a:avLst/>
            <a:gdLst/>
            <a:ahLst/>
            <a:rect l="0" t="0" r="r" b="b"/>
            <a:pathLst>
              <a:path w="9684" h="1482">
                <a:moveTo>
                  <a:pt x="0" y="0"/>
                </a:moveTo>
                <a:lnTo>
                  <a:pt x="9684" y="0"/>
                </a:lnTo>
                <a:lnTo>
                  <a:pt x="968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43" name=""/>
          <p:cNvSpPr/>
          <p:nvPr/>
        </p:nvSpPr>
        <p:spPr>
          <a:xfrm>
            <a:off x="4238280" y="3076560"/>
            <a:ext cx="7201440" cy="533520"/>
          </a:xfrm>
          <a:custGeom>
            <a:avLst/>
            <a:gdLst/>
            <a:ahLst/>
            <a:rect l="0" t="0" r="r" b="b"/>
            <a:pathLst>
              <a:path w="20004" h="1482">
                <a:moveTo>
                  <a:pt x="0" y="0"/>
                </a:moveTo>
                <a:lnTo>
                  <a:pt x="20004" y="0"/>
                </a:lnTo>
                <a:lnTo>
                  <a:pt x="2000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44" name=""/>
          <p:cNvSpPr/>
          <p:nvPr/>
        </p:nvSpPr>
        <p:spPr>
          <a:xfrm>
            <a:off x="752400" y="3609720"/>
            <a:ext cx="3486240" cy="952920"/>
          </a:xfrm>
          <a:custGeom>
            <a:avLst/>
            <a:gdLst/>
            <a:ahLst/>
            <a:rect l="0" t="0" r="r" b="b"/>
            <a:pathLst>
              <a:path w="9684" h="2647">
                <a:moveTo>
                  <a:pt x="0" y="0"/>
                </a:moveTo>
                <a:lnTo>
                  <a:pt x="9684" y="0"/>
                </a:lnTo>
                <a:lnTo>
                  <a:pt x="9684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45" name=""/>
          <p:cNvSpPr/>
          <p:nvPr/>
        </p:nvSpPr>
        <p:spPr>
          <a:xfrm>
            <a:off x="4238280" y="3609720"/>
            <a:ext cx="7201440" cy="952920"/>
          </a:xfrm>
          <a:custGeom>
            <a:avLst/>
            <a:gdLst/>
            <a:ahLst/>
            <a:rect l="0" t="0" r="r" b="b"/>
            <a:pathLst>
              <a:path w="20004" h="2647">
                <a:moveTo>
                  <a:pt x="0" y="0"/>
                </a:moveTo>
                <a:lnTo>
                  <a:pt x="20004" y="0"/>
                </a:lnTo>
                <a:lnTo>
                  <a:pt x="20004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46" name=""/>
          <p:cNvSpPr/>
          <p:nvPr/>
        </p:nvSpPr>
        <p:spPr>
          <a:xfrm>
            <a:off x="752400" y="4562280"/>
            <a:ext cx="3486240" cy="952920"/>
          </a:xfrm>
          <a:custGeom>
            <a:avLst/>
            <a:gdLst/>
            <a:ahLst/>
            <a:rect l="0" t="0" r="r" b="b"/>
            <a:pathLst>
              <a:path w="9684" h="2647">
                <a:moveTo>
                  <a:pt x="0" y="0"/>
                </a:moveTo>
                <a:lnTo>
                  <a:pt x="9684" y="0"/>
                </a:lnTo>
                <a:lnTo>
                  <a:pt x="9684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47" name=""/>
          <p:cNvSpPr/>
          <p:nvPr/>
        </p:nvSpPr>
        <p:spPr>
          <a:xfrm>
            <a:off x="4238280" y="4562280"/>
            <a:ext cx="7201440" cy="952920"/>
          </a:xfrm>
          <a:custGeom>
            <a:avLst/>
            <a:gdLst/>
            <a:ahLst/>
            <a:rect l="0" t="0" r="r" b="b"/>
            <a:pathLst>
              <a:path w="20004" h="2647">
                <a:moveTo>
                  <a:pt x="0" y="0"/>
                </a:moveTo>
                <a:lnTo>
                  <a:pt x="20004" y="0"/>
                </a:lnTo>
                <a:lnTo>
                  <a:pt x="20004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48" name=""/>
          <p:cNvSpPr/>
          <p:nvPr/>
        </p:nvSpPr>
        <p:spPr>
          <a:xfrm>
            <a:off x="752400" y="5514840"/>
            <a:ext cx="3486240" cy="543240"/>
          </a:xfrm>
          <a:custGeom>
            <a:avLst/>
            <a:gdLst/>
            <a:ahLst/>
            <a:rect l="0" t="0" r="r" b="b"/>
            <a:pathLst>
              <a:path w="9684" h="1509">
                <a:moveTo>
                  <a:pt x="0" y="0"/>
                </a:moveTo>
                <a:lnTo>
                  <a:pt x="9684" y="0"/>
                </a:lnTo>
                <a:lnTo>
                  <a:pt x="968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49" name=""/>
          <p:cNvSpPr/>
          <p:nvPr/>
        </p:nvSpPr>
        <p:spPr>
          <a:xfrm>
            <a:off x="4238280" y="5514840"/>
            <a:ext cx="7201440" cy="543240"/>
          </a:xfrm>
          <a:custGeom>
            <a:avLst/>
            <a:gdLst/>
            <a:ahLst/>
            <a:rect l="0" t="0" r="r" b="b"/>
            <a:pathLst>
              <a:path w="20004" h="1509">
                <a:moveTo>
                  <a:pt x="0" y="0"/>
                </a:moveTo>
                <a:lnTo>
                  <a:pt x="20004" y="0"/>
                </a:lnTo>
                <a:lnTo>
                  <a:pt x="20004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550" name=""/>
          <p:cNvSpPr/>
          <p:nvPr/>
        </p:nvSpPr>
        <p:spPr>
          <a:xfrm>
            <a:off x="752400" y="6057720"/>
            <a:ext cx="3486240" cy="952920"/>
          </a:xfrm>
          <a:custGeom>
            <a:avLst/>
            <a:gdLst/>
            <a:ahLst/>
            <a:rect l="0" t="0" r="r" b="b"/>
            <a:pathLst>
              <a:path w="9684" h="2647">
                <a:moveTo>
                  <a:pt x="0" y="0"/>
                </a:moveTo>
                <a:lnTo>
                  <a:pt x="9684" y="0"/>
                </a:lnTo>
                <a:lnTo>
                  <a:pt x="9684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51" name=""/>
          <p:cNvSpPr/>
          <p:nvPr/>
        </p:nvSpPr>
        <p:spPr>
          <a:xfrm>
            <a:off x="4238280" y="6057720"/>
            <a:ext cx="7201440" cy="952920"/>
          </a:xfrm>
          <a:custGeom>
            <a:avLst/>
            <a:gdLst/>
            <a:ahLst/>
            <a:rect l="0" t="0" r="r" b="b"/>
            <a:pathLst>
              <a:path w="20004" h="2647">
                <a:moveTo>
                  <a:pt x="0" y="0"/>
                </a:moveTo>
                <a:lnTo>
                  <a:pt x="20004" y="0"/>
                </a:lnTo>
                <a:lnTo>
                  <a:pt x="20004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552" name=""/>
          <p:cNvSpPr/>
          <p:nvPr/>
        </p:nvSpPr>
        <p:spPr>
          <a:xfrm>
            <a:off x="75240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53" name=""/>
          <p:cNvSpPr/>
          <p:nvPr/>
        </p:nvSpPr>
        <p:spPr>
          <a:xfrm>
            <a:off x="752400" y="1457280"/>
            <a:ext cx="3495960" cy="9720"/>
          </a:xfrm>
          <a:custGeom>
            <a:avLst/>
            <a:gdLst/>
            <a:ahLst/>
            <a:rect l="0" t="0" r="r" b="b"/>
            <a:pathLst>
              <a:path w="9711" h="27">
                <a:moveTo>
                  <a:pt x="0" y="0"/>
                </a:moveTo>
                <a:lnTo>
                  <a:pt x="9711" y="0"/>
                </a:lnTo>
                <a:lnTo>
                  <a:pt x="9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54" name=""/>
          <p:cNvSpPr/>
          <p:nvPr/>
        </p:nvSpPr>
        <p:spPr>
          <a:xfrm>
            <a:off x="4238280" y="1457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55" name=""/>
          <p:cNvSpPr/>
          <p:nvPr/>
        </p:nvSpPr>
        <p:spPr>
          <a:xfrm>
            <a:off x="4248000" y="1457280"/>
            <a:ext cx="7201080" cy="9720"/>
          </a:xfrm>
          <a:custGeom>
            <a:avLst/>
            <a:gdLst/>
            <a:ahLst/>
            <a:rect l="0" t="0" r="r" b="b"/>
            <a:pathLst>
              <a:path w="20003" h="27">
                <a:moveTo>
                  <a:pt x="0" y="0"/>
                </a:moveTo>
                <a:lnTo>
                  <a:pt x="20003" y="0"/>
                </a:lnTo>
                <a:lnTo>
                  <a:pt x="2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56" name=""/>
          <p:cNvSpPr/>
          <p:nvPr/>
        </p:nvSpPr>
        <p:spPr>
          <a:xfrm>
            <a:off x="11439360" y="1457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57" name=""/>
          <p:cNvSpPr/>
          <p:nvPr/>
        </p:nvSpPr>
        <p:spPr>
          <a:xfrm>
            <a:off x="752400" y="1990440"/>
            <a:ext cx="3495960" cy="10080"/>
          </a:xfrm>
          <a:custGeom>
            <a:avLst/>
            <a:gdLst/>
            <a:ahLst/>
            <a:rect l="0" t="0" r="r" b="b"/>
            <a:pathLst>
              <a:path w="9711" h="28">
                <a:moveTo>
                  <a:pt x="0" y="0"/>
                </a:moveTo>
                <a:lnTo>
                  <a:pt x="9711" y="0"/>
                </a:lnTo>
                <a:lnTo>
                  <a:pt x="9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58" name=""/>
          <p:cNvSpPr/>
          <p:nvPr/>
        </p:nvSpPr>
        <p:spPr>
          <a:xfrm>
            <a:off x="4248000" y="1990440"/>
            <a:ext cx="7201080" cy="10080"/>
          </a:xfrm>
          <a:custGeom>
            <a:avLst/>
            <a:gdLst/>
            <a:ahLst/>
            <a:rect l="0" t="0" r="r" b="b"/>
            <a:pathLst>
              <a:path w="20003" h="28">
                <a:moveTo>
                  <a:pt x="0" y="0"/>
                </a:moveTo>
                <a:lnTo>
                  <a:pt x="20003" y="0"/>
                </a:lnTo>
                <a:lnTo>
                  <a:pt x="2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59" name=""/>
          <p:cNvSpPr/>
          <p:nvPr/>
        </p:nvSpPr>
        <p:spPr>
          <a:xfrm>
            <a:off x="75240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0" name=""/>
          <p:cNvSpPr/>
          <p:nvPr/>
        </p:nvSpPr>
        <p:spPr>
          <a:xfrm>
            <a:off x="4238280" y="20001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1" name=""/>
          <p:cNvSpPr/>
          <p:nvPr/>
        </p:nvSpPr>
        <p:spPr>
          <a:xfrm>
            <a:off x="11439360" y="20001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2" name=""/>
          <p:cNvSpPr/>
          <p:nvPr/>
        </p:nvSpPr>
        <p:spPr>
          <a:xfrm>
            <a:off x="75240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3" name=""/>
          <p:cNvSpPr/>
          <p:nvPr/>
        </p:nvSpPr>
        <p:spPr>
          <a:xfrm>
            <a:off x="752400" y="2533320"/>
            <a:ext cx="3495960" cy="10080"/>
          </a:xfrm>
          <a:custGeom>
            <a:avLst/>
            <a:gdLst/>
            <a:ahLst/>
            <a:rect l="0" t="0" r="r" b="b"/>
            <a:pathLst>
              <a:path w="9711" h="28">
                <a:moveTo>
                  <a:pt x="0" y="0"/>
                </a:moveTo>
                <a:lnTo>
                  <a:pt x="9711" y="0"/>
                </a:lnTo>
                <a:lnTo>
                  <a:pt x="9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4" name=""/>
          <p:cNvSpPr/>
          <p:nvPr/>
        </p:nvSpPr>
        <p:spPr>
          <a:xfrm>
            <a:off x="4238280" y="2543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5" name=""/>
          <p:cNvSpPr/>
          <p:nvPr/>
        </p:nvSpPr>
        <p:spPr>
          <a:xfrm>
            <a:off x="4248000" y="2533320"/>
            <a:ext cx="7201080" cy="10080"/>
          </a:xfrm>
          <a:custGeom>
            <a:avLst/>
            <a:gdLst/>
            <a:ahLst/>
            <a:rect l="0" t="0" r="r" b="b"/>
            <a:pathLst>
              <a:path w="20003" h="28">
                <a:moveTo>
                  <a:pt x="0" y="0"/>
                </a:moveTo>
                <a:lnTo>
                  <a:pt x="20003" y="0"/>
                </a:lnTo>
                <a:lnTo>
                  <a:pt x="2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6" name=""/>
          <p:cNvSpPr/>
          <p:nvPr/>
        </p:nvSpPr>
        <p:spPr>
          <a:xfrm>
            <a:off x="11439360" y="2543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7" name=""/>
          <p:cNvSpPr/>
          <p:nvPr/>
        </p:nvSpPr>
        <p:spPr>
          <a:xfrm>
            <a:off x="75240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8" name=""/>
          <p:cNvSpPr/>
          <p:nvPr/>
        </p:nvSpPr>
        <p:spPr>
          <a:xfrm>
            <a:off x="752400" y="3066840"/>
            <a:ext cx="3495960" cy="10080"/>
          </a:xfrm>
          <a:custGeom>
            <a:avLst/>
            <a:gdLst/>
            <a:ahLst/>
            <a:rect l="0" t="0" r="r" b="b"/>
            <a:pathLst>
              <a:path w="9711" h="28">
                <a:moveTo>
                  <a:pt x="0" y="0"/>
                </a:moveTo>
                <a:lnTo>
                  <a:pt x="9711" y="0"/>
                </a:lnTo>
                <a:lnTo>
                  <a:pt x="9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69" name=""/>
          <p:cNvSpPr/>
          <p:nvPr/>
        </p:nvSpPr>
        <p:spPr>
          <a:xfrm>
            <a:off x="4238280" y="3076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0" name=""/>
          <p:cNvSpPr/>
          <p:nvPr/>
        </p:nvSpPr>
        <p:spPr>
          <a:xfrm>
            <a:off x="4248000" y="3066840"/>
            <a:ext cx="7201080" cy="10080"/>
          </a:xfrm>
          <a:custGeom>
            <a:avLst/>
            <a:gdLst/>
            <a:ahLst/>
            <a:rect l="0" t="0" r="r" b="b"/>
            <a:pathLst>
              <a:path w="20003" h="28">
                <a:moveTo>
                  <a:pt x="0" y="0"/>
                </a:moveTo>
                <a:lnTo>
                  <a:pt x="20003" y="0"/>
                </a:lnTo>
                <a:lnTo>
                  <a:pt x="2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1" name=""/>
          <p:cNvSpPr/>
          <p:nvPr/>
        </p:nvSpPr>
        <p:spPr>
          <a:xfrm>
            <a:off x="11439360" y="3076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2" name=""/>
          <p:cNvSpPr/>
          <p:nvPr/>
        </p:nvSpPr>
        <p:spPr>
          <a:xfrm>
            <a:off x="752400" y="361944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3" name=""/>
          <p:cNvSpPr/>
          <p:nvPr/>
        </p:nvSpPr>
        <p:spPr>
          <a:xfrm>
            <a:off x="752400" y="3609720"/>
            <a:ext cx="3495960" cy="10080"/>
          </a:xfrm>
          <a:custGeom>
            <a:avLst/>
            <a:gdLst/>
            <a:ahLst/>
            <a:rect l="0" t="0" r="r" b="b"/>
            <a:pathLst>
              <a:path w="9711" h="28">
                <a:moveTo>
                  <a:pt x="0" y="0"/>
                </a:moveTo>
                <a:lnTo>
                  <a:pt x="9711" y="0"/>
                </a:lnTo>
                <a:lnTo>
                  <a:pt x="9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4" name=""/>
          <p:cNvSpPr/>
          <p:nvPr/>
        </p:nvSpPr>
        <p:spPr>
          <a:xfrm>
            <a:off x="4238280" y="3619440"/>
            <a:ext cx="10080" cy="952560"/>
          </a:xfrm>
          <a:custGeom>
            <a:avLst/>
            <a:gdLst/>
            <a:ahLst/>
            <a:rect l="0" t="0" r="r" b="b"/>
            <a:pathLst>
              <a:path w="28" h="2646">
                <a:moveTo>
                  <a:pt x="0" y="0"/>
                </a:moveTo>
                <a:lnTo>
                  <a:pt x="28" y="0"/>
                </a:lnTo>
                <a:lnTo>
                  <a:pt x="28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5" name=""/>
          <p:cNvSpPr/>
          <p:nvPr/>
        </p:nvSpPr>
        <p:spPr>
          <a:xfrm>
            <a:off x="4248000" y="3609720"/>
            <a:ext cx="7201080" cy="10080"/>
          </a:xfrm>
          <a:custGeom>
            <a:avLst/>
            <a:gdLst/>
            <a:ahLst/>
            <a:rect l="0" t="0" r="r" b="b"/>
            <a:pathLst>
              <a:path w="20003" h="28">
                <a:moveTo>
                  <a:pt x="0" y="0"/>
                </a:moveTo>
                <a:lnTo>
                  <a:pt x="20003" y="0"/>
                </a:lnTo>
                <a:lnTo>
                  <a:pt x="2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6" name=""/>
          <p:cNvSpPr/>
          <p:nvPr/>
        </p:nvSpPr>
        <p:spPr>
          <a:xfrm>
            <a:off x="11439360" y="3619440"/>
            <a:ext cx="9720" cy="952560"/>
          </a:xfrm>
          <a:custGeom>
            <a:avLst/>
            <a:gdLst/>
            <a:ahLst/>
            <a:rect l="0" t="0" r="r" b="b"/>
            <a:pathLst>
              <a:path w="27" h="2646">
                <a:moveTo>
                  <a:pt x="0" y="0"/>
                </a:moveTo>
                <a:lnTo>
                  <a:pt x="27" y="0"/>
                </a:lnTo>
                <a:lnTo>
                  <a:pt x="27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7" name=""/>
          <p:cNvSpPr/>
          <p:nvPr/>
        </p:nvSpPr>
        <p:spPr>
          <a:xfrm>
            <a:off x="752400" y="45716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8" name=""/>
          <p:cNvSpPr/>
          <p:nvPr/>
        </p:nvSpPr>
        <p:spPr>
          <a:xfrm>
            <a:off x="752400" y="4562280"/>
            <a:ext cx="3495960" cy="9720"/>
          </a:xfrm>
          <a:custGeom>
            <a:avLst/>
            <a:gdLst/>
            <a:ahLst/>
            <a:rect l="0" t="0" r="r" b="b"/>
            <a:pathLst>
              <a:path w="9711" h="27">
                <a:moveTo>
                  <a:pt x="0" y="0"/>
                </a:moveTo>
                <a:lnTo>
                  <a:pt x="9711" y="0"/>
                </a:lnTo>
                <a:lnTo>
                  <a:pt x="9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79" name=""/>
          <p:cNvSpPr/>
          <p:nvPr/>
        </p:nvSpPr>
        <p:spPr>
          <a:xfrm>
            <a:off x="4238280" y="457164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0" name=""/>
          <p:cNvSpPr/>
          <p:nvPr/>
        </p:nvSpPr>
        <p:spPr>
          <a:xfrm>
            <a:off x="4248000" y="4562280"/>
            <a:ext cx="7201080" cy="9720"/>
          </a:xfrm>
          <a:custGeom>
            <a:avLst/>
            <a:gdLst/>
            <a:ahLst/>
            <a:rect l="0" t="0" r="r" b="b"/>
            <a:pathLst>
              <a:path w="20003" h="27">
                <a:moveTo>
                  <a:pt x="0" y="0"/>
                </a:moveTo>
                <a:lnTo>
                  <a:pt x="20003" y="0"/>
                </a:lnTo>
                <a:lnTo>
                  <a:pt x="2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1" name=""/>
          <p:cNvSpPr/>
          <p:nvPr/>
        </p:nvSpPr>
        <p:spPr>
          <a:xfrm>
            <a:off x="11439360" y="457164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2" name=""/>
          <p:cNvSpPr/>
          <p:nvPr/>
        </p:nvSpPr>
        <p:spPr>
          <a:xfrm>
            <a:off x="752400" y="55242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3" name=""/>
          <p:cNvSpPr/>
          <p:nvPr/>
        </p:nvSpPr>
        <p:spPr>
          <a:xfrm>
            <a:off x="752400" y="5514840"/>
            <a:ext cx="3495960" cy="9720"/>
          </a:xfrm>
          <a:custGeom>
            <a:avLst/>
            <a:gdLst/>
            <a:ahLst/>
            <a:rect l="0" t="0" r="r" b="b"/>
            <a:pathLst>
              <a:path w="9711" h="27">
                <a:moveTo>
                  <a:pt x="0" y="0"/>
                </a:moveTo>
                <a:lnTo>
                  <a:pt x="9711" y="0"/>
                </a:lnTo>
                <a:lnTo>
                  <a:pt x="9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4" name=""/>
          <p:cNvSpPr/>
          <p:nvPr/>
        </p:nvSpPr>
        <p:spPr>
          <a:xfrm>
            <a:off x="4238280" y="552420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5" name=""/>
          <p:cNvSpPr/>
          <p:nvPr/>
        </p:nvSpPr>
        <p:spPr>
          <a:xfrm>
            <a:off x="4248000" y="5514840"/>
            <a:ext cx="7201080" cy="9720"/>
          </a:xfrm>
          <a:custGeom>
            <a:avLst/>
            <a:gdLst/>
            <a:ahLst/>
            <a:rect l="0" t="0" r="r" b="b"/>
            <a:pathLst>
              <a:path w="20003" h="27">
                <a:moveTo>
                  <a:pt x="0" y="0"/>
                </a:moveTo>
                <a:lnTo>
                  <a:pt x="20003" y="0"/>
                </a:lnTo>
                <a:lnTo>
                  <a:pt x="2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6" name=""/>
          <p:cNvSpPr/>
          <p:nvPr/>
        </p:nvSpPr>
        <p:spPr>
          <a:xfrm>
            <a:off x="11439360" y="552420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7" name=""/>
          <p:cNvSpPr/>
          <p:nvPr/>
        </p:nvSpPr>
        <p:spPr>
          <a:xfrm>
            <a:off x="752400" y="60577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8" name=""/>
          <p:cNvSpPr/>
          <p:nvPr/>
        </p:nvSpPr>
        <p:spPr>
          <a:xfrm>
            <a:off x="752400" y="6048360"/>
            <a:ext cx="3495960" cy="9720"/>
          </a:xfrm>
          <a:custGeom>
            <a:avLst/>
            <a:gdLst/>
            <a:ahLst/>
            <a:rect l="0" t="0" r="r" b="b"/>
            <a:pathLst>
              <a:path w="9711" h="27">
                <a:moveTo>
                  <a:pt x="0" y="0"/>
                </a:moveTo>
                <a:lnTo>
                  <a:pt x="9711" y="0"/>
                </a:lnTo>
                <a:lnTo>
                  <a:pt x="9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89" name=""/>
          <p:cNvSpPr/>
          <p:nvPr/>
        </p:nvSpPr>
        <p:spPr>
          <a:xfrm>
            <a:off x="4238280" y="6057720"/>
            <a:ext cx="10080" cy="952920"/>
          </a:xfrm>
          <a:custGeom>
            <a:avLst/>
            <a:gdLst/>
            <a:ah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90" name=""/>
          <p:cNvSpPr/>
          <p:nvPr/>
        </p:nvSpPr>
        <p:spPr>
          <a:xfrm>
            <a:off x="4248000" y="6048360"/>
            <a:ext cx="7201080" cy="9720"/>
          </a:xfrm>
          <a:custGeom>
            <a:avLst/>
            <a:gdLst/>
            <a:ahLst/>
            <a:rect l="0" t="0" r="r" b="b"/>
            <a:pathLst>
              <a:path w="20003" h="27">
                <a:moveTo>
                  <a:pt x="0" y="0"/>
                </a:moveTo>
                <a:lnTo>
                  <a:pt x="20003" y="0"/>
                </a:lnTo>
                <a:lnTo>
                  <a:pt x="2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91" name=""/>
          <p:cNvSpPr/>
          <p:nvPr/>
        </p:nvSpPr>
        <p:spPr>
          <a:xfrm>
            <a:off x="11439360" y="6057720"/>
            <a:ext cx="9720" cy="952920"/>
          </a:xfrm>
          <a:custGeom>
            <a:avLst/>
            <a:gdLst/>
            <a:ah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</p:sp>
      <p:sp>
        <p:nvSpPr>
          <p:cNvPr id="1592" name=""/>
          <p:cNvSpPr txBox="1"/>
          <p:nvPr/>
        </p:nvSpPr>
        <p:spPr>
          <a:xfrm>
            <a:off x="747720" y="770400"/>
            <a:ext cx="324072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Out of scope (v1.1)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1883880" y="1569240"/>
            <a:ext cx="12304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Excluded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94" name=""/>
          <p:cNvSpPr txBox="1"/>
          <p:nvPr/>
        </p:nvSpPr>
        <p:spPr>
          <a:xfrm>
            <a:off x="7342560" y="1569240"/>
            <a:ext cx="10004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70" spc="-1" strike="noStrike">
                <a:solidFill>
                  <a:srgbClr val="1f2328"/>
                </a:solidFill>
                <a:latin typeface="Arial"/>
              </a:rPr>
              <a:t>Reason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95" name=""/>
          <p:cNvSpPr txBox="1"/>
          <p:nvPr/>
        </p:nvSpPr>
        <p:spPr>
          <a:xfrm>
            <a:off x="880920" y="2102760"/>
            <a:ext cx="25030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Real rover hardware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4371840" y="2102760"/>
            <a:ext cx="44586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Sim can't validate HW safety → v1.2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97" name=""/>
          <p:cNvSpPr txBox="1"/>
          <p:nvPr/>
        </p:nvSpPr>
        <p:spPr>
          <a:xfrm>
            <a:off x="880920" y="2645640"/>
            <a:ext cx="23965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Nav2 / ros2_control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4371840" y="2645640"/>
            <a:ext cx="52556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Goal-based pathing, wrong message types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599" name=""/>
          <p:cNvSpPr txBox="1"/>
          <p:nvPr/>
        </p:nvSpPr>
        <p:spPr>
          <a:xfrm>
            <a:off x="880920" y="3179160"/>
            <a:ext cx="20430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SLAM / mapping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00" name=""/>
          <p:cNvSpPr txBox="1"/>
          <p:nvPr/>
        </p:nvSpPr>
        <p:spPr>
          <a:xfrm>
            <a:off x="4371840" y="3179160"/>
            <a:ext cx="4743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Requires LiDAR / depth — not on BoM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01" name=""/>
          <p:cNvSpPr txBox="1"/>
          <p:nvPr/>
        </p:nvSpPr>
        <p:spPr>
          <a:xfrm>
            <a:off x="880920" y="3722040"/>
            <a:ext cx="24573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Non-Humble ROS 2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880920" y="4131360"/>
            <a:ext cx="81468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distros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4371840" y="3931560"/>
            <a:ext cx="61455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Iron EOL Dec 2024; Jazzy has no Jammy binaries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04" name=""/>
          <p:cNvSpPr txBox="1"/>
          <p:nvPr/>
        </p:nvSpPr>
        <p:spPr>
          <a:xfrm>
            <a:off x="880920" y="4674600"/>
            <a:ext cx="2228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Gazebo Harmonic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05" name=""/>
          <p:cNvSpPr txBox="1"/>
          <p:nvPr/>
        </p:nvSpPr>
        <p:spPr>
          <a:xfrm>
            <a:off x="880920" y="5083920"/>
            <a:ext cx="11361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migration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8334360" y="4886280"/>
            <a:ext cx="752760" cy="362160"/>
          </a:xfrm>
          <a:custGeom>
            <a:avLst/>
            <a:gdLst/>
            <a:ahLst/>
            <a:rect l="0" t="0" r="r" b="b"/>
            <a:pathLst>
              <a:path w="2091" h="1006">
                <a:moveTo>
                  <a:pt x="0" y="84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3"/>
                  <a:pt x="46" y="46"/>
                </a:cubicBezTo>
                <a:cubicBezTo>
                  <a:pt x="53" y="39"/>
                  <a:pt x="61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32" y="0"/>
                </a:lnTo>
                <a:cubicBezTo>
                  <a:pt x="1942" y="0"/>
                  <a:pt x="1953" y="1"/>
                  <a:pt x="1963" y="3"/>
                </a:cubicBezTo>
                <a:cubicBezTo>
                  <a:pt x="1973" y="5"/>
                  <a:pt x="1983" y="8"/>
                  <a:pt x="1993" y="12"/>
                </a:cubicBezTo>
                <a:cubicBezTo>
                  <a:pt x="2002" y="16"/>
                  <a:pt x="2012" y="21"/>
                  <a:pt x="2020" y="26"/>
                </a:cubicBezTo>
                <a:cubicBezTo>
                  <a:pt x="2029" y="32"/>
                  <a:pt x="2037" y="39"/>
                  <a:pt x="2044" y="46"/>
                </a:cubicBezTo>
                <a:cubicBezTo>
                  <a:pt x="2052" y="53"/>
                  <a:pt x="2058" y="62"/>
                  <a:pt x="2064" y="70"/>
                </a:cubicBezTo>
                <a:cubicBezTo>
                  <a:pt x="2070" y="79"/>
                  <a:pt x="2075" y="88"/>
                  <a:pt x="2079" y="98"/>
                </a:cubicBezTo>
                <a:cubicBezTo>
                  <a:pt x="2083" y="107"/>
                  <a:pt x="2086" y="117"/>
                  <a:pt x="2088" y="127"/>
                </a:cubicBezTo>
                <a:cubicBezTo>
                  <a:pt x="2090" y="138"/>
                  <a:pt x="2091" y="148"/>
                  <a:pt x="2091" y="158"/>
                </a:cubicBezTo>
                <a:lnTo>
                  <a:pt x="2091" y="846"/>
                </a:lnTo>
                <a:cubicBezTo>
                  <a:pt x="2091" y="857"/>
                  <a:pt x="2090" y="867"/>
                  <a:pt x="2088" y="877"/>
                </a:cubicBezTo>
                <a:cubicBezTo>
                  <a:pt x="2086" y="887"/>
                  <a:pt x="2083" y="897"/>
                  <a:pt x="2079" y="907"/>
                </a:cubicBezTo>
                <a:cubicBezTo>
                  <a:pt x="2075" y="917"/>
                  <a:pt x="2070" y="926"/>
                  <a:pt x="2064" y="934"/>
                </a:cubicBezTo>
                <a:cubicBezTo>
                  <a:pt x="2058" y="943"/>
                  <a:pt x="2052" y="951"/>
                  <a:pt x="2044" y="959"/>
                </a:cubicBezTo>
                <a:cubicBezTo>
                  <a:pt x="2037" y="966"/>
                  <a:pt x="2029" y="972"/>
                  <a:pt x="2020" y="978"/>
                </a:cubicBezTo>
                <a:cubicBezTo>
                  <a:pt x="2012" y="984"/>
                  <a:pt x="2002" y="989"/>
                  <a:pt x="1993" y="993"/>
                </a:cubicBezTo>
                <a:cubicBezTo>
                  <a:pt x="1983" y="997"/>
                  <a:pt x="1973" y="1001"/>
                  <a:pt x="1963" y="1003"/>
                </a:cubicBezTo>
                <a:cubicBezTo>
                  <a:pt x="1953" y="1005"/>
                  <a:pt x="1942" y="1006"/>
                  <a:pt x="1932" y="1006"/>
                </a:cubicBezTo>
                <a:lnTo>
                  <a:pt x="158" y="1006"/>
                </a:lnTo>
                <a:cubicBezTo>
                  <a:pt x="148" y="1006"/>
                  <a:pt x="138" y="1005"/>
                  <a:pt x="127" y="1003"/>
                </a:cubicBezTo>
                <a:cubicBezTo>
                  <a:pt x="117" y="1001"/>
                  <a:pt x="107" y="997"/>
                  <a:pt x="98" y="993"/>
                </a:cubicBezTo>
                <a:cubicBezTo>
                  <a:pt x="88" y="989"/>
                  <a:pt x="79" y="984"/>
                  <a:pt x="70" y="978"/>
                </a:cubicBezTo>
                <a:cubicBezTo>
                  <a:pt x="61" y="972"/>
                  <a:pt x="53" y="966"/>
                  <a:pt x="46" y="959"/>
                </a:cubicBezTo>
                <a:cubicBezTo>
                  <a:pt x="39" y="951"/>
                  <a:pt x="32" y="943"/>
                  <a:pt x="26" y="934"/>
                </a:cubicBezTo>
                <a:cubicBezTo>
                  <a:pt x="21" y="926"/>
                  <a:pt x="16" y="917"/>
                  <a:pt x="12" y="907"/>
                </a:cubicBezTo>
                <a:cubicBezTo>
                  <a:pt x="8" y="897"/>
                  <a:pt x="5" y="887"/>
                  <a:pt x="3" y="877"/>
                </a:cubicBezTo>
                <a:cubicBezTo>
                  <a:pt x="1" y="867"/>
                  <a:pt x="0" y="857"/>
                  <a:pt x="0" y="84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</p:sp>
      <p:sp>
        <p:nvSpPr>
          <p:cNvPr id="1607" name=""/>
          <p:cNvSpPr txBox="1"/>
          <p:nvPr/>
        </p:nvSpPr>
        <p:spPr>
          <a:xfrm>
            <a:off x="4371840" y="4884120"/>
            <a:ext cx="39769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Garden EOL but SDF is already 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8431920" y="4937760"/>
            <a:ext cx="5616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gz::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09" name=""/>
          <p:cNvSpPr txBox="1"/>
          <p:nvPr/>
        </p:nvSpPr>
        <p:spPr>
          <a:xfrm>
            <a:off x="9089280" y="4884120"/>
            <a:ext cx="142884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-compatible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10" name=""/>
          <p:cNvSpPr txBox="1"/>
          <p:nvPr/>
        </p:nvSpPr>
        <p:spPr>
          <a:xfrm>
            <a:off x="880920" y="5626800"/>
            <a:ext cx="28065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Multi-robot fleet control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11" name=""/>
          <p:cNvSpPr txBox="1"/>
          <p:nvPr/>
        </p:nvSpPr>
        <p:spPr>
          <a:xfrm>
            <a:off x="4371840" y="5626800"/>
            <a:ext cx="61243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Single-target controller is the validated abstraction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12" name=""/>
          <p:cNvSpPr txBox="1"/>
          <p:nvPr/>
        </p:nvSpPr>
        <p:spPr>
          <a:xfrm>
            <a:off x="880920" y="6160320"/>
            <a:ext cx="22561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Mid-run robot-type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13" name=""/>
          <p:cNvSpPr txBox="1"/>
          <p:nvPr/>
        </p:nvSpPr>
        <p:spPr>
          <a:xfrm>
            <a:off x="880920" y="6579360"/>
            <a:ext cx="113760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switching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14" name=""/>
          <p:cNvSpPr txBox="1"/>
          <p:nvPr/>
        </p:nvSpPr>
        <p:spPr>
          <a:xfrm>
            <a:off x="4371840" y="6369840"/>
            <a:ext cx="299376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Requires pipeline restart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15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36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61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6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619" name=""/>
          <p:cNvSpPr/>
          <p:nvPr/>
        </p:nvSpPr>
        <p:spPr>
          <a:xfrm>
            <a:off x="757080" y="1461960"/>
            <a:ext cx="10687320" cy="4905720"/>
          </a:xfrm>
          <a:custGeom>
            <a:avLst/>
            <a:gdLst/>
            <a:ahLst/>
            <a:rect l="0" t="0" r="r" b="b"/>
            <a:pathLst>
              <a:path w="29687" h="13627">
                <a:moveTo>
                  <a:pt x="0" y="1348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3481"/>
                </a:lnTo>
                <a:cubicBezTo>
                  <a:pt x="29687" y="13491"/>
                  <a:pt x="29686" y="13500"/>
                  <a:pt x="29684" y="13510"/>
                </a:cubicBezTo>
                <a:cubicBezTo>
                  <a:pt x="29683" y="13519"/>
                  <a:pt x="29680" y="13528"/>
                  <a:pt x="29676" y="13537"/>
                </a:cubicBezTo>
                <a:cubicBezTo>
                  <a:pt x="29672" y="13546"/>
                  <a:pt x="29668" y="13554"/>
                  <a:pt x="29663" y="13562"/>
                </a:cubicBezTo>
                <a:cubicBezTo>
                  <a:pt x="29657" y="13570"/>
                  <a:pt x="29651" y="13578"/>
                  <a:pt x="29645" y="13584"/>
                </a:cubicBezTo>
                <a:cubicBezTo>
                  <a:pt x="29638" y="13591"/>
                  <a:pt x="29630" y="13597"/>
                  <a:pt x="29623" y="13602"/>
                </a:cubicBezTo>
                <a:cubicBezTo>
                  <a:pt x="29615" y="13608"/>
                  <a:pt x="29606" y="13612"/>
                  <a:pt x="29597" y="13616"/>
                </a:cubicBezTo>
                <a:cubicBezTo>
                  <a:pt x="29589" y="13619"/>
                  <a:pt x="29579" y="13622"/>
                  <a:pt x="29570" y="13624"/>
                </a:cubicBezTo>
                <a:cubicBezTo>
                  <a:pt x="29561" y="13626"/>
                  <a:pt x="29551" y="13627"/>
                  <a:pt x="29542" y="13627"/>
                </a:cubicBezTo>
                <a:lnTo>
                  <a:pt x="145" y="13627"/>
                </a:lnTo>
                <a:cubicBezTo>
                  <a:pt x="136" y="13627"/>
                  <a:pt x="126" y="13626"/>
                  <a:pt x="117" y="13624"/>
                </a:cubicBezTo>
                <a:cubicBezTo>
                  <a:pt x="108" y="13622"/>
                  <a:pt x="99" y="13619"/>
                  <a:pt x="90" y="13616"/>
                </a:cubicBezTo>
                <a:cubicBezTo>
                  <a:pt x="81" y="13612"/>
                  <a:pt x="73" y="13608"/>
                  <a:pt x="65" y="13602"/>
                </a:cubicBezTo>
                <a:cubicBezTo>
                  <a:pt x="57" y="13597"/>
                  <a:pt x="49" y="13591"/>
                  <a:pt x="43" y="13584"/>
                </a:cubicBezTo>
                <a:cubicBezTo>
                  <a:pt x="36" y="13578"/>
                  <a:pt x="30" y="13570"/>
                  <a:pt x="24" y="13562"/>
                </a:cubicBezTo>
                <a:cubicBezTo>
                  <a:pt x="19" y="13554"/>
                  <a:pt x="15" y="13546"/>
                  <a:pt x="11" y="13537"/>
                </a:cubicBezTo>
                <a:cubicBezTo>
                  <a:pt x="7" y="13528"/>
                  <a:pt x="5" y="13519"/>
                  <a:pt x="3" y="13510"/>
                </a:cubicBezTo>
                <a:cubicBezTo>
                  <a:pt x="1" y="13500"/>
                  <a:pt x="0" y="13491"/>
                  <a:pt x="0" y="1348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</p:sp>
      <p:sp>
        <p:nvSpPr>
          <p:cNvPr id="1620" name=""/>
          <p:cNvSpPr/>
          <p:nvPr/>
        </p:nvSpPr>
        <p:spPr>
          <a:xfrm>
            <a:off x="757080" y="1461960"/>
            <a:ext cx="10687320" cy="4905720"/>
          </a:xfrm>
          <a:custGeom>
            <a:avLst/>
            <a:gdLst/>
            <a:ahLst/>
            <a:rect l="0" t="0" r="r" b="b"/>
            <a:pathLst>
              <a:path w="29687" h="13627">
                <a:moveTo>
                  <a:pt x="0" y="1348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3481"/>
                </a:lnTo>
                <a:cubicBezTo>
                  <a:pt x="29687" y="13491"/>
                  <a:pt x="29686" y="13500"/>
                  <a:pt x="29684" y="13510"/>
                </a:cubicBezTo>
                <a:cubicBezTo>
                  <a:pt x="29683" y="13519"/>
                  <a:pt x="29680" y="13528"/>
                  <a:pt x="29676" y="13537"/>
                </a:cubicBezTo>
                <a:cubicBezTo>
                  <a:pt x="29672" y="13546"/>
                  <a:pt x="29668" y="13554"/>
                  <a:pt x="29663" y="13562"/>
                </a:cubicBezTo>
                <a:cubicBezTo>
                  <a:pt x="29657" y="13570"/>
                  <a:pt x="29651" y="13578"/>
                  <a:pt x="29645" y="13584"/>
                </a:cubicBezTo>
                <a:cubicBezTo>
                  <a:pt x="29638" y="13591"/>
                  <a:pt x="29630" y="13597"/>
                  <a:pt x="29623" y="13602"/>
                </a:cubicBezTo>
                <a:cubicBezTo>
                  <a:pt x="29615" y="13608"/>
                  <a:pt x="29606" y="13612"/>
                  <a:pt x="29597" y="13616"/>
                </a:cubicBezTo>
                <a:cubicBezTo>
                  <a:pt x="29589" y="13619"/>
                  <a:pt x="29579" y="13622"/>
                  <a:pt x="29570" y="13624"/>
                </a:cubicBezTo>
                <a:cubicBezTo>
                  <a:pt x="29561" y="13626"/>
                  <a:pt x="29551" y="13627"/>
                  <a:pt x="29542" y="13627"/>
                </a:cubicBezTo>
                <a:lnTo>
                  <a:pt x="145" y="13627"/>
                </a:lnTo>
                <a:cubicBezTo>
                  <a:pt x="136" y="13627"/>
                  <a:pt x="126" y="13626"/>
                  <a:pt x="117" y="13624"/>
                </a:cubicBezTo>
                <a:cubicBezTo>
                  <a:pt x="108" y="13622"/>
                  <a:pt x="99" y="13619"/>
                  <a:pt x="90" y="13616"/>
                </a:cubicBezTo>
                <a:cubicBezTo>
                  <a:pt x="81" y="13612"/>
                  <a:pt x="73" y="13608"/>
                  <a:pt x="65" y="13602"/>
                </a:cubicBezTo>
                <a:cubicBezTo>
                  <a:pt x="57" y="13597"/>
                  <a:pt x="49" y="13591"/>
                  <a:pt x="43" y="13584"/>
                </a:cubicBezTo>
                <a:cubicBezTo>
                  <a:pt x="36" y="13578"/>
                  <a:pt x="30" y="13570"/>
                  <a:pt x="24" y="13562"/>
                </a:cubicBezTo>
                <a:cubicBezTo>
                  <a:pt x="19" y="13554"/>
                  <a:pt x="15" y="13546"/>
                  <a:pt x="11" y="13537"/>
                </a:cubicBezTo>
                <a:cubicBezTo>
                  <a:pt x="7" y="13528"/>
                  <a:pt x="5" y="13519"/>
                  <a:pt x="3" y="13510"/>
                </a:cubicBezTo>
                <a:cubicBezTo>
                  <a:pt x="1" y="13500"/>
                  <a:pt x="0" y="13491"/>
                  <a:pt x="0" y="1348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</p:sp>
      <p:sp>
        <p:nvSpPr>
          <p:cNvPr id="1621" name=""/>
          <p:cNvSpPr txBox="1"/>
          <p:nvPr/>
        </p:nvSpPr>
        <p:spPr>
          <a:xfrm>
            <a:off x="747720" y="770400"/>
            <a:ext cx="4181040" cy="40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30" spc="-1" strike="noStrike">
                <a:solidFill>
                  <a:srgbClr val="1f2328"/>
                </a:solidFill>
                <a:latin typeface="Arial"/>
              </a:rPr>
              <a:t>Where we are now / next</a:t>
            </a:r>
            <a:endParaRPr b="0" lang="en-US" sz="2830" spc="-1" strike="noStrike">
              <a:latin typeface="Times New Roman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914400" y="1623600"/>
            <a:ext cx="8553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feature/rover-support  (5 commits ahead of main, all docs)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23" name=""/>
          <p:cNvSpPr txBox="1"/>
          <p:nvPr/>
        </p:nvSpPr>
        <p:spPr>
          <a:xfrm>
            <a:off x="914400" y="1890360"/>
            <a:ext cx="8974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─────────────────────────────────────────────────────────────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24" name=""/>
          <p:cNvSpPr txBox="1"/>
          <p:nvPr/>
        </p:nvSpPr>
        <p:spPr>
          <a:xfrm>
            <a:off x="914400" y="2166480"/>
            <a:ext cx="322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.planning/PROJECT.md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25" name=""/>
          <p:cNvSpPr txBox="1"/>
          <p:nvPr/>
        </p:nvSpPr>
        <p:spPr>
          <a:xfrm>
            <a:off x="914400" y="2433240"/>
            <a:ext cx="7711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.planning/REQUIREMENTS.md           55 numbered reqs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26" name=""/>
          <p:cNvSpPr txBox="1"/>
          <p:nvPr/>
        </p:nvSpPr>
        <p:spPr>
          <a:xfrm>
            <a:off x="914400" y="2700000"/>
            <a:ext cx="6590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.planning/ROADMAP.md                6 phases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914400" y="2976120"/>
            <a:ext cx="102358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.planning/research/                 stack / features / arch / pitfalls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914400" y="3242880"/>
            <a:ext cx="96750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.planning/phases/01-rename/01-CONTEXT.md      ◄── decisions locked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914400" y="3509640"/>
            <a:ext cx="8693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.planning/presentations/v1_1_overview.md      ◄── this deck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914400" y="4052520"/>
            <a:ext cx="4627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      ▼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914400" y="4319280"/>
            <a:ext cx="6029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/gsd:plan-phase 1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2" name=""/>
          <p:cNvSpPr txBox="1"/>
          <p:nvPr/>
        </p:nvSpPr>
        <p:spPr>
          <a:xfrm>
            <a:off x="914400" y="4595400"/>
            <a:ext cx="4627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      ▼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914400" y="4862160"/>
            <a:ext cx="841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.planning/phases/01-rename/01-PLAN.md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914400" y="5128920"/>
            <a:ext cx="4627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      ▼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914400" y="5405040"/>
            <a:ext cx="6450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/gsd:execute-phase 1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914400" y="5671800"/>
            <a:ext cx="4627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      ▼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914400" y="5947920"/>
            <a:ext cx="6450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                          </a:t>
            </a:r>
            <a:r>
              <a:rPr b="0" lang="en-US" sz="1850" spc="-1" strike="noStrike">
                <a:solidFill>
                  <a:srgbClr val="1f2328"/>
                </a:solidFill>
                <a:latin typeface="Courier New"/>
              </a:rPr>
              <a:t>atomic rename commit</a:t>
            </a:r>
            <a:endParaRPr b="0" lang="en-US" sz="1850" spc="-1" strike="noStrike"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747720" y="6570000"/>
            <a:ext cx="8010720" cy="3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70" spc="-1" strike="noStrike">
                <a:solidFill>
                  <a:srgbClr val="1f2328"/>
                </a:solidFill>
                <a:latin typeface="Arial"/>
              </a:rPr>
              <a:t>Questions / pushback / "we should also…" → now is the moment.</a:t>
            </a:r>
            <a:endParaRPr b="0" lang="en-US" sz="2170" spc="-1" strike="noStrike">
              <a:latin typeface="Times New Roman"/>
            </a:endParaRPr>
          </a:p>
        </p:txBody>
      </p:sp>
      <p:sp>
        <p:nvSpPr>
          <p:cNvPr id="1639" name=""/>
          <p:cNvSpPr txBox="1"/>
          <p:nvPr/>
        </p:nvSpPr>
        <p:spPr>
          <a:xfrm>
            <a:off x="11651760" y="6355800"/>
            <a:ext cx="253800" cy="2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Arial"/>
              </a:rPr>
              <a:t>37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